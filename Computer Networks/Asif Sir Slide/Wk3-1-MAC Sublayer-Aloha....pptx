
<file path=[Content_Types].xml><?xml version="1.0" encoding="utf-8"?>
<Types xmlns="http://schemas.openxmlformats.org/package/2006/content-types">
  <Default Extension="png" ContentType="image/png"/>
  <Default Extension="wdp" ContentType="image/vnd.ms-photo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37"/>
  </p:handoutMasterIdLst>
  <p:sldIdLst>
    <p:sldId id="256" r:id="rId3"/>
    <p:sldId id="281" r:id="rId5"/>
    <p:sldId id="257" r:id="rId6"/>
    <p:sldId id="282" r:id="rId7"/>
    <p:sldId id="283" r:id="rId8"/>
    <p:sldId id="259" r:id="rId9"/>
    <p:sldId id="284" r:id="rId10"/>
    <p:sldId id="285" r:id="rId11"/>
    <p:sldId id="260" r:id="rId12"/>
    <p:sldId id="286" r:id="rId13"/>
    <p:sldId id="287" r:id="rId14"/>
    <p:sldId id="288" r:id="rId15"/>
    <p:sldId id="261" r:id="rId16"/>
    <p:sldId id="289" r:id="rId17"/>
    <p:sldId id="262" r:id="rId18"/>
    <p:sldId id="263" r:id="rId19"/>
    <p:sldId id="264" r:id="rId20"/>
    <p:sldId id="265" r:id="rId21"/>
    <p:sldId id="266" r:id="rId22"/>
    <p:sldId id="267" r:id="rId23"/>
    <p:sldId id="290" r:id="rId24"/>
    <p:sldId id="270" r:id="rId25"/>
    <p:sldId id="268" r:id="rId26"/>
    <p:sldId id="291" r:id="rId27"/>
    <p:sldId id="271" r:id="rId28"/>
    <p:sldId id="272" r:id="rId29"/>
    <p:sldId id="273" r:id="rId30"/>
    <p:sldId id="275" r:id="rId31"/>
    <p:sldId id="276" r:id="rId32"/>
    <p:sldId id="277" r:id="rId33"/>
    <p:sldId id="278" r:id="rId34"/>
    <p:sldId id="279" r:id="rId35"/>
    <p:sldId id="280" r:id="rId36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59" autoAdjust="0"/>
    <p:restoredTop sz="94072" autoAdjust="0"/>
  </p:normalViewPr>
  <p:slideViewPr>
    <p:cSldViewPr>
      <p:cViewPr varScale="1">
        <p:scale>
          <a:sx n="63" d="100"/>
          <a:sy n="63" d="100"/>
        </p:scale>
        <p:origin x="1656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664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0" d="100"/>
          <a:sy n="50" d="100"/>
        </p:scale>
        <p:origin x="2636" y="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handoutMaster" Target="handoutMasters/handoutMaster1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2"/>
            <a:ext cx="3170238" cy="479427"/>
          </a:xfrm>
          <a:prstGeom prst="rect">
            <a:avLst/>
          </a:prstGeom>
        </p:spPr>
        <p:txBody>
          <a:bodyPr vert="horz" lIns="82964" tIns="41482" rIns="82964" bIns="41482" rtlCol="0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6" y="2"/>
            <a:ext cx="3170238" cy="479427"/>
          </a:xfrm>
          <a:prstGeom prst="rect">
            <a:avLst/>
          </a:prstGeom>
        </p:spPr>
        <p:txBody>
          <a:bodyPr vert="horz" lIns="82964" tIns="41482" rIns="82964" bIns="41482" rtlCol="0"/>
          <a:lstStyle>
            <a:lvl1pPr algn="r">
              <a:defRPr sz="1100"/>
            </a:lvl1pPr>
          </a:lstStyle>
          <a:p>
            <a:fld id="{5CAE133A-4028-4E2B-B049-6F148B77E5AB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3" y="9120189"/>
            <a:ext cx="3170238" cy="479427"/>
          </a:xfrm>
          <a:prstGeom prst="rect">
            <a:avLst/>
          </a:prstGeom>
        </p:spPr>
        <p:txBody>
          <a:bodyPr vert="horz" lIns="82964" tIns="41482" rIns="82964" bIns="41482" rtlCol="0" anchor="b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6" y="9120189"/>
            <a:ext cx="3170238" cy="479427"/>
          </a:xfrm>
          <a:prstGeom prst="rect">
            <a:avLst/>
          </a:prstGeom>
        </p:spPr>
        <p:txBody>
          <a:bodyPr vert="horz" lIns="82964" tIns="41482" rIns="82964" bIns="41482" rtlCol="0" anchor="b"/>
          <a:lstStyle>
            <a:lvl1pPr algn="r">
              <a:defRPr sz="1100"/>
            </a:lvl1pPr>
          </a:lstStyle>
          <a:p>
            <a:fld id="{4825AA9F-B079-466D-A19E-A0BED09FA175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169920" cy="480060"/>
          </a:xfrm>
          <a:prstGeom prst="rect">
            <a:avLst/>
          </a:prstGeom>
        </p:spPr>
        <p:txBody>
          <a:bodyPr vert="horz" lIns="87701" tIns="43851" rIns="87701" bIns="43851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90" y="1"/>
            <a:ext cx="3169920" cy="480060"/>
          </a:xfrm>
          <a:prstGeom prst="rect">
            <a:avLst/>
          </a:prstGeom>
        </p:spPr>
        <p:txBody>
          <a:bodyPr vert="horz" lIns="87701" tIns="43851" rIns="87701" bIns="43851" rtlCol="0"/>
          <a:lstStyle>
            <a:lvl1pPr algn="r">
              <a:defRPr sz="1200"/>
            </a:lvl1pPr>
          </a:lstStyle>
          <a:p>
            <a:fld id="{A9B5FCE6-2331-4AF4-8362-9D091070A463}" type="datetime1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2313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7701" tIns="43851" rIns="87701" bIns="4385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1" y="4560570"/>
            <a:ext cx="5852160" cy="4320540"/>
          </a:xfrm>
          <a:prstGeom prst="rect">
            <a:avLst/>
          </a:prstGeom>
        </p:spPr>
        <p:txBody>
          <a:bodyPr vert="horz" lIns="87701" tIns="43851" rIns="87701" bIns="43851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87701" tIns="43851" rIns="87701" bIns="43851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90" y="9119474"/>
            <a:ext cx="3169920" cy="480060"/>
          </a:xfrm>
          <a:prstGeom prst="rect">
            <a:avLst/>
          </a:prstGeom>
        </p:spPr>
        <p:txBody>
          <a:bodyPr vert="horz" lIns="87701" tIns="43851" rIns="87701" bIns="43851" rtlCol="0" anchor="b"/>
          <a:lstStyle>
            <a:lvl1pPr algn="r">
              <a:defRPr sz="1200"/>
            </a:lvl1pPr>
          </a:lstStyle>
          <a:p>
            <a:fld id="{7106D8DA-1A55-4414-9F6D-9B871CCC3BE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06D8DA-1A55-4414-9F6D-9B871CCC3BEB}" type="slidenum">
              <a:rPr lang="en-US" smtClean="0"/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899B3EB-F4B9-4EC3-8874-9456869D1B5F}" type="datetime1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sz="1200" dirty="0" smtClean="0"/>
              <a:t>Let users transmit whenever they have data to be sent. </a:t>
            </a:r>
            <a:endParaRPr lang="en-US" sz="1200" dirty="0" smtClean="0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sz="1200" dirty="0" smtClean="0"/>
              <a:t>There will be collisions, of course, and the colliding frames will be damaged. Senders need some way to find out if this is the case. </a:t>
            </a:r>
            <a:endParaRPr lang="en-US" sz="1200" dirty="0" smtClean="0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sz="1200" dirty="0" smtClean="0"/>
              <a:t>After each station has sent its frame to the central computer, this computer rebroadcasts the frame to all of the stations. </a:t>
            </a:r>
            <a:endParaRPr lang="en-US" sz="1200" dirty="0" smtClean="0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sz="1200" dirty="0" smtClean="0"/>
              <a:t>A sending station can thus listen for the broadcast from the hub to see if its frame has gotten through. </a:t>
            </a:r>
            <a:endParaRPr lang="en-US" sz="1200" dirty="0" smtClean="0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sz="1200" dirty="0" smtClean="0"/>
              <a:t>If the frame was destroyed, the sender just waits a random amount of time and sends it again.</a:t>
            </a:r>
            <a:endParaRPr lang="en-US" sz="1200" dirty="0" smtClean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9B5FCE6-2331-4AF4-8362-9D091070A463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106D8DA-1A55-4414-9F6D-9B871CCC3BE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CE520-94D8-471E-9246-3DA957E543CE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lvl1pPr>
          </a:lstStyle>
          <a:p>
            <a:fld id="{B6F15528-21DE-4FAA-801E-634DDDAF4B2B}" type="slidenum">
              <a:rPr lang="en-US" smtClean="0"/>
            </a:fld>
            <a:r>
              <a:rPr lang="en-US" dirty="0"/>
              <a:t> </a:t>
            </a:r>
            <a:r>
              <a:rPr lang="en-US" dirty="0" smtClean="0"/>
              <a:t>of 33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0913C-A7DD-4021-AFBC-947EB765CE4C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r>
              <a:rPr lang="en-US" dirty="0"/>
              <a:t> </a:t>
            </a:r>
            <a:r>
              <a:rPr lang="en-US" dirty="0" smtClean="0"/>
              <a:t>of 33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264FA-CC1B-47DB-A93A-6B4BBC436045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lvl1pPr>
          </a:lstStyle>
          <a:p>
            <a:fld id="{B6F15528-21DE-4FAA-801E-634DDDAF4B2B}" type="slidenum">
              <a:rPr lang="en-US" smtClean="0"/>
            </a:fld>
            <a:r>
              <a:rPr lang="en-US" dirty="0"/>
              <a:t> </a:t>
            </a:r>
            <a:r>
              <a:rPr lang="en-US" dirty="0" smtClean="0"/>
              <a:t>of 33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BA4E8-8C0A-4D25-81B1-03C2082B47D6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lvl1pPr>
          </a:lstStyle>
          <a:p>
            <a:fld id="{B6F15528-21DE-4FAA-801E-634DDDAF4B2B}" type="slidenum">
              <a:rPr lang="en-US" smtClean="0"/>
            </a:fld>
            <a:r>
              <a:rPr lang="en-US" dirty="0"/>
              <a:t> </a:t>
            </a:r>
            <a:r>
              <a:rPr lang="en-US" dirty="0" smtClean="0"/>
              <a:t>of 33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1D4E8-1CCE-4EFF-A36C-E105DDD56AAD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lvl1pPr>
          </a:lstStyle>
          <a:p>
            <a:fld id="{B6F15528-21DE-4FAA-801E-634DDDAF4B2B}" type="slidenum">
              <a:rPr lang="en-US" smtClean="0"/>
            </a:fld>
            <a:r>
              <a:rPr lang="en-US" dirty="0"/>
              <a:t> </a:t>
            </a:r>
            <a:r>
              <a:rPr lang="en-US" dirty="0" smtClean="0"/>
              <a:t>of 33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C1C7D-1228-46DC-9402-5957496C3C04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/>
              <a:t> </a:t>
            </a:r>
            <a:r>
              <a:rPr lang="en-US" dirty="0" smtClean="0"/>
              <a:t>of 33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4DF6C-52F4-4529-BC53-6E2674900ED7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lvl1pPr>
          </a:lstStyle>
          <a:p>
            <a:fld id="{B6F15528-21DE-4FAA-801E-634DDDAF4B2B}" type="slidenum">
              <a:rPr lang="en-US" smtClean="0"/>
            </a:fld>
            <a:r>
              <a:rPr lang="en-US" dirty="0"/>
              <a:t> </a:t>
            </a:r>
            <a:r>
              <a:rPr lang="en-US" dirty="0" smtClean="0"/>
              <a:t>of 33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8FFD2-C90D-4BD9-95AC-D49FE82B0BB0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lvl1pPr>
          </a:lstStyle>
          <a:p>
            <a:fld id="{B6F15528-21DE-4FAA-801E-634DDDAF4B2B}" type="slidenum">
              <a:rPr lang="en-US" smtClean="0"/>
            </a:fld>
            <a:r>
              <a:rPr lang="en-US" dirty="0"/>
              <a:t> </a:t>
            </a:r>
            <a:r>
              <a:rPr lang="en-US" dirty="0" smtClean="0"/>
              <a:t>of 33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B32C9-888E-4264-AE70-E187E0827B99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lvl1pPr>
          </a:lstStyle>
          <a:p>
            <a:fld id="{B6F15528-21DE-4FAA-801E-634DDDAF4B2B}" type="slidenum">
              <a:rPr lang="en-US" smtClean="0"/>
            </a:fld>
            <a:r>
              <a:rPr lang="en-US" dirty="0"/>
              <a:t> </a:t>
            </a:r>
            <a:r>
              <a:rPr lang="en-US" dirty="0" smtClean="0"/>
              <a:t>of 33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9A059-0900-46A5-86CD-6CBACA225E83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lvl1pPr>
          </a:lstStyle>
          <a:p>
            <a:fld id="{B6F15528-21DE-4FAA-801E-634DDDAF4B2B}" type="slidenum">
              <a:rPr lang="en-US" smtClean="0"/>
            </a:fld>
            <a:r>
              <a:rPr lang="en-US" dirty="0"/>
              <a:t> </a:t>
            </a:r>
            <a:r>
              <a:rPr lang="en-US" dirty="0" smtClean="0"/>
              <a:t>of 33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F0799-E2B8-4119-BEA9-5BBF8CE2B0FA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lvl1pPr>
          </a:lstStyle>
          <a:p>
            <a:fld id="{B6F15528-21DE-4FAA-801E-634DDDAF4B2B}" type="slidenum">
              <a:rPr lang="en-US" smtClean="0"/>
            </a:fld>
            <a:r>
              <a:rPr lang="en-US" dirty="0"/>
              <a:t> </a:t>
            </a:r>
            <a:r>
              <a:rPr lang="en-US" dirty="0" smtClean="0"/>
              <a:t>of 33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CC945B-C34E-410F-BC8F-BE6BC04FBFD5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r>
              <a:rPr lang="en-US" dirty="0"/>
              <a:t> </a:t>
            </a:r>
            <a:r>
              <a:rPr lang="en-US" dirty="0" smtClean="0"/>
              <a:t>of 33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microsoft.com/office/2007/relationships/hdphoto" Target="../media/image2.wdp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microsoft.com/office/2007/relationships/hdphoto" Target="../media/image17.wdp"/><Relationship Id="rId3" Type="http://schemas.microsoft.com/office/2007/relationships/hdphoto" Target="../media/image16.wdp"/><Relationship Id="rId2" Type="http://schemas.microsoft.com/office/2007/relationships/hdphoto" Target="../media/image15.wdp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microsoft.com/office/2007/relationships/hdphoto" Target="../media/image15.wdp"/><Relationship Id="rId3" Type="http://schemas.microsoft.com/office/2007/relationships/hdphoto" Target="../media/image16.wdp"/><Relationship Id="rId2" Type="http://schemas.openxmlformats.org/officeDocument/2006/relationships/image" Target="../media/image14.png"/><Relationship Id="rId1" Type="http://schemas.openxmlformats.org/officeDocument/2006/relationships/image" Target="../media/image30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2.png"/><Relationship Id="rId3" Type="http://schemas.microsoft.com/office/2007/relationships/hdphoto" Target="../media/image15.wdp"/><Relationship Id="rId2" Type="http://schemas.microsoft.com/office/2007/relationships/hdphoto" Target="../media/image16.wdp"/><Relationship Id="rId1" Type="http://schemas.openxmlformats.org/officeDocument/2006/relationships/image" Target="../media/image14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3.png"/><Relationship Id="rId3" Type="http://schemas.microsoft.com/office/2007/relationships/hdphoto" Target="../media/image15.wdp"/><Relationship Id="rId2" Type="http://schemas.microsoft.com/office/2007/relationships/hdphoto" Target="../media/image16.wdp"/><Relationship Id="rId1" Type="http://schemas.openxmlformats.org/officeDocument/2006/relationships/image" Target="../media/image14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71549" y="4859834"/>
            <a:ext cx="7239000" cy="83099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0" algn="ctr"/>
            <a:r>
              <a:rPr lang="en-US" sz="2800" cap="small" dirty="0"/>
              <a:t>Dr. Asif Zaman</a:t>
            </a:r>
            <a:endParaRPr lang="en-US" sz="2800" cap="small" dirty="0"/>
          </a:p>
          <a:p>
            <a:pPr lvl="0" algn="ctr"/>
            <a:r>
              <a:rPr lang="en-US" cap="small" dirty="0" smtClean="0"/>
              <a:t>Professor</a:t>
            </a:r>
            <a:r>
              <a:rPr lang="en-US" cap="small" dirty="0"/>
              <a:t>, CSE, RU</a:t>
            </a:r>
            <a:endParaRPr lang="en-US" sz="1600" cap="small" dirty="0"/>
          </a:p>
        </p:txBody>
      </p:sp>
      <p:sp>
        <p:nvSpPr>
          <p:cNvPr id="6" name="TextBox 5"/>
          <p:cNvSpPr txBox="1"/>
          <p:nvPr/>
        </p:nvSpPr>
        <p:spPr>
          <a:xfrm>
            <a:off x="228598" y="363512"/>
            <a:ext cx="87249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SzPct val="50000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CSE3251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SzPct val="50000"/>
            </a:pPr>
            <a:r>
              <a:rPr lang="en-US" sz="4800" b="1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Networks</a:t>
            </a:r>
            <a:endParaRPr lang="en-US" sz="4800" b="1" cap="smal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saturation sa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18150" y="2477464"/>
            <a:ext cx="1545795" cy="144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96628" y="65049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455" y="1295400"/>
            <a:ext cx="8787545" cy="430176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38167" y="2667000"/>
            <a:ext cx="8668139" cy="381000"/>
          </a:xfrm>
          <a:prstGeom prst="roundRect">
            <a:avLst/>
          </a:prstGeom>
          <a:solidFill>
            <a:schemeClr val="accent2">
              <a:alpha val="1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/>
          <p:cNvSpPr/>
          <p:nvPr/>
        </p:nvSpPr>
        <p:spPr>
          <a:xfrm>
            <a:off x="338167" y="3255783"/>
            <a:ext cx="8668139" cy="381000"/>
          </a:xfrm>
          <a:prstGeom prst="roundRect">
            <a:avLst/>
          </a:prstGeom>
          <a:solidFill>
            <a:schemeClr val="accent2">
              <a:alpha val="10000"/>
            </a:scheme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7000" y="975177"/>
            <a:ext cx="4246538" cy="347345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/>
              <a:t> </a:t>
            </a:r>
            <a:r>
              <a:rPr lang="en-US" dirty="0" smtClean="0"/>
              <a:t>of 33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219200" y="3505200"/>
            <a:ext cx="251312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Medium Access Sublayer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cap="small" dirty="0"/>
              <a:t>The Data Link Layer</a:t>
            </a:r>
            <a:endParaRPr lang="en-US" cap="smal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029200" cy="4525963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000" dirty="0"/>
              <a:t>The main task of the data link layer is to transform a raw transmission facility into a line that appears free of </a:t>
            </a:r>
            <a:r>
              <a:rPr lang="en-US" sz="2000" b="1" dirty="0"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undetected transmission errors</a:t>
            </a:r>
            <a:r>
              <a:rPr lang="en-US" sz="2000" dirty="0"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.</a:t>
            </a:r>
            <a:endParaRPr lang="en-US" sz="2000" dirty="0">
              <a:effectLst>
                <a:glow rad="228600">
                  <a:schemeClr val="accent5">
                    <a:satMod val="175000"/>
                    <a:alpha val="40000"/>
                  </a:schemeClr>
                </a:glow>
              </a:effectLst>
            </a:endParaRPr>
          </a:p>
          <a:p>
            <a:pPr algn="just"/>
            <a:endParaRPr lang="en-US" sz="2000" dirty="0"/>
          </a:p>
          <a:p>
            <a:pPr algn="just"/>
            <a:r>
              <a:rPr lang="en-US" sz="2000" dirty="0"/>
              <a:t>It </a:t>
            </a:r>
            <a:r>
              <a:rPr lang="en-US" sz="2000" b="1" dirty="0"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accomplishes</a:t>
            </a:r>
            <a:r>
              <a:rPr lang="en-US" sz="2000" dirty="0"/>
              <a:t> this task by having the </a:t>
            </a:r>
            <a:r>
              <a:rPr lang="en-US" sz="2000" b="1" dirty="0"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sender</a:t>
            </a:r>
            <a:r>
              <a:rPr lang="en-US" sz="2000" dirty="0"/>
              <a:t> </a:t>
            </a:r>
            <a:r>
              <a:rPr lang="en-US" sz="2000" b="1" dirty="0"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break</a:t>
            </a:r>
            <a:r>
              <a:rPr lang="en-US" sz="2000" dirty="0"/>
              <a:t> </a:t>
            </a:r>
            <a:r>
              <a:rPr lang="en-US" sz="2000" b="1" dirty="0"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up</a:t>
            </a:r>
            <a:r>
              <a:rPr lang="en-US" sz="2000" dirty="0"/>
              <a:t> the input data into </a:t>
            </a:r>
            <a:r>
              <a:rPr lang="en-US" sz="2000" b="1" dirty="0"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data frames</a:t>
            </a:r>
            <a:r>
              <a:rPr lang="en-US" sz="2000" dirty="0"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 </a:t>
            </a:r>
            <a:r>
              <a:rPr lang="en-US" sz="2000" dirty="0"/>
              <a:t>(</a:t>
            </a:r>
            <a:r>
              <a:rPr lang="en-US" sz="2000" dirty="0"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typically a few hundred or a few thousand bytes</a:t>
            </a:r>
            <a:r>
              <a:rPr lang="en-US" sz="2000" dirty="0"/>
              <a:t>) and transmit the frames sequentially.</a:t>
            </a:r>
            <a:endParaRPr lang="en-US" sz="2000" dirty="0"/>
          </a:p>
          <a:p>
            <a:pPr algn="just"/>
            <a:endParaRPr lang="en-US" sz="2000" dirty="0"/>
          </a:p>
          <a:p>
            <a:pPr algn="just"/>
            <a:r>
              <a:rPr lang="en-US" sz="2000" dirty="0"/>
              <a:t>The receiver confirms correct receipt of each frame by sending back an </a:t>
            </a:r>
            <a:r>
              <a:rPr lang="en-US" sz="2000" b="1" dirty="0"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acknowledgement frame</a:t>
            </a:r>
            <a:r>
              <a:rPr lang="en-US" sz="2000" b="1" dirty="0"/>
              <a:t>.</a:t>
            </a:r>
            <a:endParaRPr lang="en-US" sz="20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/>
              <a:t> </a:t>
            </a:r>
            <a:r>
              <a:rPr lang="en-US" dirty="0" smtClean="0"/>
              <a:t>of 31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8800" y="1905000"/>
            <a:ext cx="3587750" cy="2870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209800" y="1371600"/>
            <a:ext cx="5140820" cy="3572737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/>
              <a:t> </a:t>
            </a:r>
            <a:r>
              <a:rPr lang="en-US" dirty="0" smtClean="0"/>
              <a:t>of 31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Medium Access Sublayer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/>
              <a:t>The protocols used to </a:t>
            </a:r>
            <a:r>
              <a:rPr lang="en-US" sz="2800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determine who goes next on a multi-access channel</a:t>
            </a:r>
            <a:r>
              <a:rPr lang="en-US" sz="2800" dirty="0"/>
              <a:t> </a:t>
            </a:r>
            <a:endParaRPr lang="en-US" sz="2800" dirty="0" smtClean="0"/>
          </a:p>
          <a:p>
            <a:pPr algn="just">
              <a:lnSpc>
                <a:spcPct val="150000"/>
              </a:lnSpc>
            </a:pPr>
            <a:endParaRPr lang="en-US" sz="2800" dirty="0"/>
          </a:p>
          <a:p>
            <a:pPr algn="just">
              <a:lnSpc>
                <a:spcPct val="150000"/>
              </a:lnSpc>
            </a:pPr>
            <a:r>
              <a:rPr lang="en-US" sz="2800" dirty="0" smtClean="0"/>
              <a:t>The </a:t>
            </a:r>
            <a:r>
              <a:rPr lang="en-US" sz="2800" dirty="0"/>
              <a:t>MAC sublayer is especially </a:t>
            </a:r>
            <a:r>
              <a:rPr lang="en-US" sz="2800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important in LANs, particularly wireless</a:t>
            </a:r>
            <a:r>
              <a:rPr lang="en-US" sz="2800" dirty="0"/>
              <a:t> </a:t>
            </a:r>
            <a:r>
              <a:rPr lang="en-US" sz="2800" dirty="0" smtClean="0"/>
              <a:t>….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/>
              <a:t> </a:t>
            </a:r>
            <a:r>
              <a:rPr lang="en-US" dirty="0" smtClean="0"/>
              <a:t>of 33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Topology (Layer 1)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2819399"/>
          </a:xfrm>
        </p:spPr>
        <p:txBody>
          <a:bodyPr numCol="2">
            <a:noAutofit/>
          </a:bodyPr>
          <a:lstStyle/>
          <a:p>
            <a:r>
              <a:rPr lang="en-US" sz="2800" dirty="0"/>
              <a:t>Types of Network Topology</a:t>
            </a:r>
            <a:endParaRPr lang="en-US" sz="2800" dirty="0"/>
          </a:p>
          <a:p>
            <a:pPr marL="1371600" lvl="2" indent="-457200">
              <a:buFont typeface="+mj-lt"/>
              <a:buAutoNum type="arabicPeriod"/>
            </a:pPr>
            <a:r>
              <a:rPr lang="en-US" sz="2000" dirty="0" smtClean="0"/>
              <a:t>Point </a:t>
            </a:r>
            <a:r>
              <a:rPr lang="en-US" sz="2000" dirty="0"/>
              <a:t>to Point Topology</a:t>
            </a:r>
            <a:endParaRPr lang="en-US" sz="2000" dirty="0"/>
          </a:p>
          <a:p>
            <a:pPr marL="1371600" lvl="2" indent="-457200">
              <a:buFont typeface="+mj-lt"/>
              <a:buAutoNum type="arabicPeriod"/>
            </a:pPr>
            <a:r>
              <a:rPr lang="en-US" sz="2000" dirty="0"/>
              <a:t>Mesh Topology</a:t>
            </a:r>
            <a:endParaRPr lang="en-US" sz="2000" dirty="0"/>
          </a:p>
          <a:p>
            <a:pPr marL="1371600" lvl="2" indent="-457200">
              <a:buFont typeface="+mj-lt"/>
              <a:buAutoNum type="arabicPeriod"/>
            </a:pPr>
            <a:r>
              <a:rPr lang="en-US" sz="2000" dirty="0"/>
              <a:t>Star Topology</a:t>
            </a:r>
            <a:endParaRPr lang="en-US" sz="2000" dirty="0"/>
          </a:p>
          <a:p>
            <a:pPr marL="1371600" lvl="2" indent="-457200">
              <a:buFont typeface="+mj-lt"/>
              <a:buAutoNum type="arabicPeriod"/>
            </a:pPr>
            <a:r>
              <a:rPr lang="en-US" sz="2000" dirty="0"/>
              <a:t>Bus </a:t>
            </a:r>
            <a:r>
              <a:rPr lang="en-US" sz="2000" dirty="0" smtClean="0"/>
              <a:t>Topology</a:t>
            </a:r>
            <a:endParaRPr lang="en-US" sz="2000" dirty="0" smtClean="0"/>
          </a:p>
          <a:p>
            <a:pPr marL="1371600" lvl="2" indent="-457200">
              <a:buFont typeface="+mj-lt"/>
              <a:buAutoNum type="arabicPeriod"/>
            </a:pPr>
            <a:endParaRPr lang="en-US" sz="2000" dirty="0"/>
          </a:p>
          <a:p>
            <a:pPr marL="1371600" lvl="2" indent="-457200">
              <a:buFont typeface="+mj-lt"/>
              <a:buAutoNum type="arabicPeriod"/>
            </a:pPr>
            <a:endParaRPr lang="en-US" sz="2000" dirty="0" smtClean="0"/>
          </a:p>
          <a:p>
            <a:pPr marL="1371600" lvl="2" indent="-457200">
              <a:buFont typeface="+mj-lt"/>
              <a:buAutoNum type="arabicPeriod"/>
            </a:pPr>
            <a:endParaRPr lang="en-US" sz="2000" dirty="0"/>
          </a:p>
          <a:p>
            <a:pPr marL="1371600" lvl="2" indent="-457200">
              <a:buFont typeface="+mj-lt"/>
              <a:buAutoNum type="arabicPeriod"/>
            </a:pPr>
            <a:r>
              <a:rPr lang="en-US" sz="2000" dirty="0"/>
              <a:t>Ring Topology</a:t>
            </a:r>
            <a:endParaRPr lang="en-US" sz="2000" dirty="0"/>
          </a:p>
          <a:p>
            <a:pPr marL="1371600" lvl="2" indent="-457200">
              <a:buFont typeface="+mj-lt"/>
              <a:buAutoNum type="arabicPeriod"/>
            </a:pPr>
            <a:r>
              <a:rPr lang="en-US" sz="2000" dirty="0"/>
              <a:t>Tree Topology</a:t>
            </a:r>
            <a:endParaRPr lang="en-US" sz="2000" dirty="0"/>
          </a:p>
          <a:p>
            <a:pPr marL="1371600" lvl="2" indent="-457200">
              <a:buFont typeface="+mj-lt"/>
              <a:buAutoNum type="arabicPeriod"/>
            </a:pPr>
            <a:r>
              <a:rPr lang="en-US" sz="2000" dirty="0"/>
              <a:t>Hybrid Topology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of 33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401" y="4580271"/>
            <a:ext cx="3696279" cy="177607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clrChange>
              <a:clrFrom>
                <a:srgbClr val="F5F5F5"/>
              </a:clrFrom>
              <a:clrTo>
                <a:srgbClr val="F5F5F5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57800" y="3531871"/>
            <a:ext cx="3133068" cy="25612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>
            <a:clrChange>
              <a:clrFrom>
                <a:srgbClr val="F5F5F5"/>
              </a:clrFrom>
              <a:clrTo>
                <a:srgbClr val="F5F5F5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33400" y="381000"/>
            <a:ext cx="3175366" cy="25908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of 33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533400"/>
            <a:ext cx="4629806" cy="173852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25386" y="3657600"/>
            <a:ext cx="3391394" cy="255722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648200" y="3120669"/>
            <a:ext cx="4495800" cy="232093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1083" y="991646"/>
            <a:ext cx="4769317" cy="4258046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The Channel Allocation Problem</a:t>
            </a:r>
            <a:endParaRPr lang="en-US" cap="smal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776758" y="6313559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/>
              <a:t> </a:t>
            </a:r>
            <a:r>
              <a:rPr lang="en-US" dirty="0" smtClean="0"/>
              <a:t>of 33</a:t>
            </a:r>
            <a:endParaRPr lang="en-US" dirty="0"/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1676400" y="3778766"/>
            <a:ext cx="5500565" cy="60276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artisticPencilGrayscale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5051" y="4981647"/>
            <a:ext cx="1438549" cy="1038153"/>
          </a:xfrm>
          <a:prstGeom prst="rect">
            <a:avLst/>
          </a:prstGeom>
        </p:spPr>
      </p:pic>
      <p:cxnSp>
        <p:nvCxnSpPr>
          <p:cNvPr id="13" name="Straight Arrow Connector 12"/>
          <p:cNvCxnSpPr>
            <a:stCxn id="10" idx="0"/>
          </p:cNvCxnSpPr>
          <p:nvPr/>
        </p:nvCxnSpPr>
        <p:spPr>
          <a:xfrm flipV="1">
            <a:off x="1414326" y="3839042"/>
            <a:ext cx="2929074" cy="1142605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encilGrayscale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5051" y="1814112"/>
            <a:ext cx="1438549" cy="1038153"/>
          </a:xfrm>
          <a:prstGeom prst="rect">
            <a:avLst/>
          </a:prstGeom>
        </p:spPr>
      </p:pic>
      <p:cxnSp>
        <p:nvCxnSpPr>
          <p:cNvPr id="15" name="Straight Arrow Connector 14"/>
          <p:cNvCxnSpPr>
            <a:endCxn id="14" idx="2"/>
          </p:cNvCxnSpPr>
          <p:nvPr/>
        </p:nvCxnSpPr>
        <p:spPr>
          <a:xfrm flipH="1" flipV="1">
            <a:off x="1414326" y="2852265"/>
            <a:ext cx="2929074" cy="926501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encilGrayscale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210646" y="3346522"/>
            <a:ext cx="1438549" cy="1038153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encilGrayscale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5051" y="3284610"/>
            <a:ext cx="1438549" cy="103815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286000" y="1814112"/>
            <a:ext cx="524226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Two Schemes:</a:t>
            </a:r>
            <a:endParaRPr lang="en-US" sz="2800" dirty="0"/>
          </a:p>
          <a:p>
            <a:pPr marL="971550" lvl="1" indent="-514350">
              <a:buFont typeface="+mj-lt"/>
              <a:buAutoNum type="arabicPeriod"/>
            </a:pPr>
            <a:r>
              <a:rPr lang="en-US" sz="2800" dirty="0" smtClean="0"/>
              <a:t>Static </a:t>
            </a:r>
            <a:r>
              <a:rPr lang="en-US" sz="2800" dirty="0"/>
              <a:t>Channel Allocation</a:t>
            </a:r>
            <a:endParaRPr lang="en-US" sz="2800" dirty="0"/>
          </a:p>
          <a:p>
            <a:pPr marL="971550" lvl="1" indent="-514350">
              <a:buFont typeface="+mj-lt"/>
              <a:buAutoNum type="arabicPeriod"/>
            </a:pPr>
            <a:r>
              <a:rPr lang="en-US" sz="2800" dirty="0" smtClean="0"/>
              <a:t>Dynamic Channel Allocation</a:t>
            </a:r>
            <a:endParaRPr lang="en-US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7929920" y="4384675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1981200"/>
            <a:ext cx="317716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B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196340" y="457200"/>
            <a:ext cx="6423660" cy="17526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of 20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09600" y="2743200"/>
            <a:ext cx="82296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80604020202020204" pitchFamily="34" charset="0"/>
              <a:buChar char="•"/>
            </a:pPr>
            <a:r>
              <a:rPr lang="en-US" sz="2400" b="1" dirty="0"/>
              <a:t>Frequency-Division </a:t>
            </a:r>
            <a:r>
              <a:rPr lang="en-US" sz="2400" b="1" dirty="0" smtClean="0"/>
              <a:t>Multiplexing:</a:t>
            </a:r>
            <a:endParaRPr lang="en-US" sz="2400" b="1" dirty="0" smtClean="0"/>
          </a:p>
          <a:p>
            <a:pPr marL="342900" indent="-342900">
              <a:buFont typeface="Arial" panose="02080604020202020204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FDM</a:t>
            </a:r>
            <a:r>
              <a:rPr lang="en-US" sz="2400" b="1" dirty="0" smtClean="0"/>
              <a:t> </a:t>
            </a:r>
            <a:r>
              <a:rPr lang="en-US" sz="2400" dirty="0"/>
              <a:t>is an analog technique that can be </a:t>
            </a:r>
            <a:r>
              <a:rPr lang="en-US" sz="2400" dirty="0" smtClean="0"/>
              <a:t>applied </a:t>
            </a:r>
            <a:r>
              <a:rPr lang="en-US" sz="2400" b="1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when</a:t>
            </a:r>
            <a:r>
              <a:rPr lang="en-US" sz="2400" dirty="0" smtClean="0"/>
              <a:t> </a:t>
            </a:r>
            <a:r>
              <a:rPr lang="en-US" sz="2400" dirty="0"/>
              <a:t>the </a:t>
            </a:r>
            <a:r>
              <a:rPr lang="en-US" sz="2400" b="1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bandwidth</a:t>
            </a:r>
            <a:r>
              <a:rPr lang="en-US" sz="2400" dirty="0"/>
              <a:t> of a </a:t>
            </a:r>
            <a:r>
              <a:rPr lang="en-US" sz="2400" b="1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link</a:t>
            </a:r>
            <a:r>
              <a:rPr lang="en-US" sz="2400" dirty="0"/>
              <a:t> (in hertz) is </a:t>
            </a:r>
            <a:r>
              <a:rPr lang="en-US" sz="2400" b="1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greater</a:t>
            </a:r>
            <a:r>
              <a:rPr lang="en-US" sz="2400" dirty="0"/>
              <a:t> than the </a:t>
            </a:r>
            <a:r>
              <a:rPr lang="en-US" sz="2400" b="1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combined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bandwidths</a:t>
            </a:r>
            <a:r>
              <a:rPr lang="en-US" sz="2400" dirty="0"/>
              <a:t> </a:t>
            </a:r>
            <a:r>
              <a:rPr lang="en-US" sz="2400" dirty="0" smtClean="0"/>
              <a:t>of the </a:t>
            </a:r>
            <a:r>
              <a:rPr lang="en-US" sz="2400" b="1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signals</a:t>
            </a:r>
            <a:r>
              <a:rPr lang="en-US" sz="2400" dirty="0"/>
              <a:t> to be </a:t>
            </a:r>
            <a:r>
              <a:rPr lang="en-US" sz="2400" dirty="0" smtClean="0"/>
              <a:t>transmitted.</a:t>
            </a:r>
            <a:endParaRPr lang="en-US" sz="6000" b="1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829" y="4461764"/>
            <a:ext cx="6171141" cy="1745682"/>
          </a:xfrm>
          <a:prstGeom prst="rect">
            <a:avLst/>
          </a:prstGeom>
        </p:spPr>
      </p:pic>
      <p:sp>
        <p:nvSpPr>
          <p:cNvPr id="2" name="Oval 1"/>
          <p:cNvSpPr/>
          <p:nvPr/>
        </p:nvSpPr>
        <p:spPr>
          <a:xfrm>
            <a:off x="1524000" y="1371600"/>
            <a:ext cx="2133600" cy="609600"/>
          </a:xfrm>
          <a:prstGeom prst="ellipse">
            <a:avLst/>
          </a:prstGeom>
          <a:solidFill>
            <a:srgbClr val="FFC000">
              <a:alpha val="23000"/>
            </a:srgbClr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66800" y="609600"/>
            <a:ext cx="6686411" cy="30480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of 20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762000" y="3962400"/>
            <a:ext cx="81534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80604020202020204" pitchFamily="34" charset="0"/>
              <a:buChar char="•"/>
            </a:pPr>
            <a:r>
              <a:rPr lang="en-US" sz="2400" dirty="0">
                <a:latin typeface="+mj-lt"/>
              </a:rPr>
              <a:t>Each source </a:t>
            </a:r>
            <a:r>
              <a:rPr lang="en-US" sz="2400" dirty="0" smtClean="0">
                <a:latin typeface="+mj-lt"/>
              </a:rPr>
              <a:t>generates a </a:t>
            </a:r>
            <a:r>
              <a:rPr lang="en-US" sz="2400" dirty="0">
                <a:latin typeface="+mj-lt"/>
              </a:rPr>
              <a:t>signal of a similar frequency range. </a:t>
            </a:r>
            <a:endParaRPr lang="en-US" sz="2400" dirty="0" smtClean="0">
              <a:latin typeface="+mj-lt"/>
            </a:endParaRPr>
          </a:p>
          <a:p>
            <a:pPr marL="342900" indent="-342900">
              <a:buFont typeface="Arial" panose="02080604020202020204" pitchFamily="34" charset="0"/>
              <a:buChar char="•"/>
            </a:pPr>
            <a:r>
              <a:rPr lang="en-US" sz="2400" dirty="0" smtClean="0">
                <a:latin typeface="+mj-lt"/>
              </a:rPr>
              <a:t>Inside </a:t>
            </a:r>
            <a:r>
              <a:rPr lang="en-US" sz="2400" dirty="0">
                <a:latin typeface="+mj-lt"/>
              </a:rPr>
              <a:t>the multiplexer, these similar </a:t>
            </a:r>
            <a:r>
              <a:rPr lang="en-US" sz="2400" dirty="0" smtClean="0">
                <a:latin typeface="+mj-lt"/>
              </a:rPr>
              <a:t>signals modulate </a:t>
            </a:r>
            <a:r>
              <a:rPr lang="en-US" sz="2400" dirty="0">
                <a:latin typeface="+mj-lt"/>
              </a:rPr>
              <a:t>different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carrier frequencies ( </a:t>
            </a:r>
            <a:r>
              <a:rPr lang="en-US" sz="2400" i="1" dirty="0">
                <a:solidFill>
                  <a:srgbClr val="FF0000"/>
                </a:solidFill>
                <a:latin typeface="+mj-lt"/>
              </a:rPr>
              <a:t>f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1, </a:t>
            </a:r>
            <a:r>
              <a:rPr lang="en-US" sz="2400" i="1" dirty="0">
                <a:solidFill>
                  <a:srgbClr val="FF0000"/>
                </a:solidFill>
                <a:latin typeface="+mj-lt"/>
              </a:rPr>
              <a:t>f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2, and </a:t>
            </a:r>
            <a:r>
              <a:rPr lang="en-US" sz="2400" i="1" dirty="0">
                <a:solidFill>
                  <a:srgbClr val="FF0000"/>
                </a:solidFill>
                <a:latin typeface="+mj-lt"/>
              </a:rPr>
              <a:t>f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3)</a:t>
            </a:r>
            <a:r>
              <a:rPr lang="en-US" sz="2400" dirty="0">
                <a:latin typeface="+mj-lt"/>
              </a:rPr>
              <a:t>. </a:t>
            </a:r>
            <a:endParaRPr lang="en-US" sz="2400" dirty="0" smtClean="0">
              <a:latin typeface="+mj-lt"/>
            </a:endParaRPr>
          </a:p>
          <a:p>
            <a:pPr marL="342900" indent="-342900">
              <a:buFont typeface="Arial" panose="02080604020202020204" pitchFamily="34" charset="0"/>
              <a:buChar char="•"/>
            </a:pPr>
            <a:r>
              <a:rPr lang="en-US" sz="2400" dirty="0" smtClean="0">
                <a:latin typeface="+mj-lt"/>
              </a:rPr>
              <a:t>The </a:t>
            </a:r>
            <a:r>
              <a:rPr lang="en-US" sz="2400" dirty="0">
                <a:latin typeface="+mj-lt"/>
              </a:rPr>
              <a:t>resulting modulated </a:t>
            </a:r>
            <a:r>
              <a:rPr lang="en-US" sz="2400" dirty="0" smtClean="0">
                <a:latin typeface="+mj-lt"/>
              </a:rPr>
              <a:t>signals are </a:t>
            </a:r>
            <a:r>
              <a:rPr lang="en-US" sz="2400" dirty="0">
                <a:latin typeface="+mj-lt"/>
              </a:rPr>
              <a:t>then combined into a single composite signal that is sent out over a media link </a:t>
            </a:r>
            <a:r>
              <a:rPr lang="en-US" sz="2400" dirty="0" smtClean="0">
                <a:latin typeface="+mj-lt"/>
              </a:rPr>
              <a:t>that has </a:t>
            </a:r>
            <a:r>
              <a:rPr lang="en-US" sz="2400" dirty="0">
                <a:latin typeface="+mj-lt"/>
              </a:rPr>
              <a:t>enough bandwidth to accommodate </a:t>
            </a:r>
            <a:r>
              <a:rPr lang="en-US" sz="2400" dirty="0" smtClean="0">
                <a:latin typeface="+mj-lt"/>
              </a:rPr>
              <a:t>it.</a:t>
            </a:r>
            <a:endParaRPr lang="en-US" sz="2400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371600" y="609600"/>
            <a:ext cx="6096313" cy="3086259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of 20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914400" y="4230588"/>
            <a:ext cx="7543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sz="2400" dirty="0"/>
              <a:t>The </a:t>
            </a:r>
            <a:r>
              <a:rPr lang="en-US" sz="2400" b="1" dirty="0" err="1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demultiplexer</a:t>
            </a:r>
            <a:r>
              <a:rPr lang="en-US" sz="2400" dirty="0"/>
              <a:t> uses a </a:t>
            </a:r>
            <a:r>
              <a:rPr lang="en-US" sz="2400" b="1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series</a:t>
            </a:r>
            <a:r>
              <a:rPr lang="en-US" sz="2400" dirty="0"/>
              <a:t> of </a:t>
            </a:r>
            <a:r>
              <a:rPr lang="en-US" sz="2400" b="1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filters</a:t>
            </a:r>
            <a:r>
              <a:rPr lang="en-US" sz="2400" dirty="0"/>
              <a:t> to </a:t>
            </a:r>
            <a:r>
              <a:rPr lang="en-US" sz="2400" b="1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decompose</a:t>
            </a:r>
            <a:r>
              <a:rPr lang="en-US" sz="2400" dirty="0"/>
              <a:t> the </a:t>
            </a:r>
            <a:r>
              <a:rPr lang="en-US" sz="2400" b="1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multiplexed</a:t>
            </a:r>
            <a:r>
              <a:rPr lang="en-US" sz="2400" dirty="0"/>
              <a:t> signal into </a:t>
            </a:r>
            <a:r>
              <a:rPr lang="en-US" sz="2400" dirty="0" smtClean="0"/>
              <a:t>its constituent </a:t>
            </a:r>
            <a:r>
              <a:rPr lang="en-US" sz="2400" b="1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component</a:t>
            </a:r>
            <a:r>
              <a:rPr lang="en-US" sz="2400" dirty="0"/>
              <a:t> signals. </a:t>
            </a:r>
            <a:endParaRPr lang="en-US" sz="2400" dirty="0" smtClean="0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sz="2400" dirty="0" smtClean="0"/>
              <a:t>The </a:t>
            </a:r>
            <a:r>
              <a:rPr lang="en-US" sz="2400" b="1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individual</a:t>
            </a:r>
            <a:r>
              <a:rPr lang="en-US" sz="2400" dirty="0"/>
              <a:t> signals are then passed to a </a:t>
            </a:r>
            <a:r>
              <a:rPr lang="en-US" sz="2400" b="1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demodulator</a:t>
            </a:r>
            <a:r>
              <a:rPr lang="en-US" sz="2400" dirty="0" smtClean="0"/>
              <a:t> that </a:t>
            </a:r>
            <a:r>
              <a:rPr lang="en-US" sz="2400" b="1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separates</a:t>
            </a:r>
            <a:r>
              <a:rPr lang="en-US" sz="2400" dirty="0"/>
              <a:t> them from their carriers and passes them to the output lines.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Static Channel Allocation</a:t>
            </a:r>
            <a:endParaRPr lang="en-US" cap="smal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685800"/>
          </a:xfrm>
        </p:spPr>
        <p:txBody>
          <a:bodyPr>
            <a:normAutofit/>
          </a:bodyPr>
          <a:lstStyle/>
          <a:p>
            <a:r>
              <a:rPr lang="en-US" sz="2400" dirty="0"/>
              <a:t>FDM (Frequency Division Multiplexing).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/>
              <a:t> </a:t>
            </a:r>
            <a:r>
              <a:rPr lang="en-US" dirty="0" smtClean="0"/>
              <a:t>of 33</a:t>
            </a:r>
            <a:endParaRPr lang="en-US" dirty="0"/>
          </a:p>
        </p:txBody>
      </p:sp>
      <p:sp>
        <p:nvSpPr>
          <p:cNvPr id="17" name="Can 16"/>
          <p:cNvSpPr/>
          <p:nvPr/>
        </p:nvSpPr>
        <p:spPr>
          <a:xfrm rot="16200000">
            <a:off x="4000500" y="1181100"/>
            <a:ext cx="914400" cy="3733800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/>
          <p:cNvCxnSpPr>
            <a:stCxn id="17" idx="0"/>
            <a:endCxn id="17" idx="3"/>
          </p:cNvCxnSpPr>
          <p:nvPr/>
        </p:nvCxnSpPr>
        <p:spPr>
          <a:xfrm>
            <a:off x="2819400" y="3048000"/>
            <a:ext cx="3505200" cy="0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2819400" y="3262312"/>
            <a:ext cx="3505200" cy="0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2819400" y="2805112"/>
            <a:ext cx="3505200" cy="0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524000" y="4267200"/>
            <a:ext cx="73914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dirty="0"/>
              <a:t>User needed to be constant N</a:t>
            </a:r>
            <a:endParaRPr lang="en-US" sz="20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dirty="0"/>
              <a:t>When some users are quiescent, their bandwidth is simply lost.</a:t>
            </a:r>
            <a:endParaRPr lang="en-US" sz="20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dirty="0"/>
              <a:t>A static allocation is a poor fit to most computer systems… peak traffic to mean traffic ratios of </a:t>
            </a:r>
            <a:r>
              <a:rPr lang="en-US" sz="2000" b="1" dirty="0"/>
              <a:t>1000:1</a:t>
            </a:r>
            <a:endParaRPr lang="en-US" sz="2000" b="1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dirty="0"/>
              <a:t>Most of the channels will be idle most of the time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small" dirty="0"/>
              <a:t>Time-Division </a:t>
            </a:r>
            <a:r>
              <a:rPr lang="en-US" b="1" cap="small" dirty="0" smtClean="0"/>
              <a:t>Multiplexing (TDM)</a:t>
            </a:r>
            <a:endParaRPr lang="en-US" cap="small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720753" y="1417638"/>
            <a:ext cx="5702491" cy="2982617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of 20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4654365"/>
            <a:ext cx="4413477" cy="7239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Dynamic Channel Allocation</a:t>
            </a:r>
            <a:endParaRPr lang="en-US" cap="smal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cap="small" dirty="0" smtClean="0">
                    <a:solidFill>
                      <a:srgbClr val="FF0000"/>
                    </a:solidFill>
                  </a:rPr>
                  <a:t>5 Assumptions</a:t>
                </a:r>
                <a:r>
                  <a:rPr lang="en-US" sz="2400" cap="small" dirty="0">
                    <a:solidFill>
                      <a:srgbClr val="FF0000"/>
                    </a:solidFill>
                  </a:rPr>
                  <a:t>:</a:t>
                </a:r>
                <a:endParaRPr lang="en-US" sz="2400" cap="small" dirty="0">
                  <a:solidFill>
                    <a:srgbClr val="FF0000"/>
                  </a:solidFill>
                </a:endParaRP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sz="2400" b="1" cap="small" dirty="0">
                    <a:effectLst>
                      <a:glow rad="228600">
                        <a:schemeClr val="accent6">
                          <a:satMod val="175000"/>
                          <a:alpha val="40000"/>
                        </a:schemeClr>
                      </a:glow>
                    </a:effectLst>
                  </a:rPr>
                  <a:t>Independent Traffic.:</a:t>
                </a:r>
                <a:endParaRPr lang="en-US" sz="2400" cap="small" dirty="0">
                  <a:effectLst>
                    <a:glow rad="228600">
                      <a:schemeClr val="accent6">
                        <a:satMod val="175000"/>
                        <a:alpha val="40000"/>
                      </a:schemeClr>
                    </a:glow>
                  </a:effectLst>
                </a:endParaRPr>
              </a:p>
              <a:p>
                <a:pPr lvl="2"/>
                <a:r>
                  <a:rPr lang="en-US" dirty="0"/>
                  <a:t>The model consists of </a:t>
                </a:r>
                <a14:m>
                  <m:oMath xmlns:m="http://schemas.openxmlformats.org/officeDocument/2006/math">
                    <m:r>
                      <a:rPr lang="en-US" b="1" cap="small" dirty="0">
                        <a:effectLst>
                          <a:glow rad="228600">
                            <a:schemeClr val="accent6">
                              <a:satMod val="175000"/>
                              <a:alpha val="40000"/>
                            </a:schemeClr>
                          </a:glow>
                        </a:effectLst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b="1" cap="small" dirty="0">
                    <a:effectLst>
                      <a:glow rad="228600">
                        <a:schemeClr val="accent6">
                          <a:satMod val="175000"/>
                          <a:alpha val="40000"/>
                        </a:schemeClr>
                      </a:glow>
                    </a:effectLst>
                  </a:rPr>
                  <a:t> independent </a:t>
                </a:r>
                <a:r>
                  <a:rPr lang="en-US" dirty="0"/>
                  <a:t>stations …. </a:t>
                </a:r>
                <a:endParaRPr lang="en-US" dirty="0"/>
              </a:p>
              <a:p>
                <a:pPr lvl="2"/>
                <a:r>
                  <a:rPr lang="en-US" dirty="0"/>
                  <a:t>The </a:t>
                </a:r>
                <a:r>
                  <a:rPr lang="en-US" b="1" cap="small" dirty="0">
                    <a:effectLst>
                      <a:glow rad="228600">
                        <a:schemeClr val="accent6">
                          <a:satMod val="175000"/>
                          <a:alpha val="40000"/>
                        </a:schemeClr>
                      </a:glow>
                    </a:effectLst>
                  </a:rPr>
                  <a:t>expected number of frames generated </a:t>
                </a:r>
                <a:r>
                  <a:rPr lang="en-US" dirty="0"/>
                  <a:t>in an interval of length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0" dirty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l-GR" i="1" dirty="0" err="1">
                        <a:latin typeface="Cambria Math" panose="02040503050406030204" pitchFamily="18" charset="0"/>
                      </a:rPr>
                      <m:t>𝜆</m:t>
                    </m:r>
                    <m:r>
                      <m:rPr>
                        <m:sty m:val="p"/>
                      </m:rPr>
                      <a:rPr lang="el-GR" i="0" dirty="0" err="1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, where </a:t>
                </a:r>
                <a:r>
                  <a:rPr lang="el-GR" dirty="0"/>
                  <a:t>λ </a:t>
                </a:r>
                <a:r>
                  <a:rPr lang="en-US" dirty="0"/>
                  <a:t>is a constant (the arrival rate of new frames).</a:t>
                </a:r>
                <a:endParaRPr lang="en-US" dirty="0"/>
              </a:p>
              <a:p>
                <a:pPr lvl="2"/>
                <a:r>
                  <a:rPr lang="en-US" dirty="0"/>
                  <a:t> </a:t>
                </a:r>
                <a:r>
                  <a:rPr lang="en-US" b="1" cap="small" dirty="0">
                    <a:effectLst>
                      <a:glow rad="228600">
                        <a:schemeClr val="accent6">
                          <a:satMod val="175000"/>
                          <a:alpha val="40000"/>
                        </a:schemeClr>
                      </a:glow>
                    </a:effectLst>
                  </a:rPr>
                  <a:t>Once a frame has been generated</a:t>
                </a:r>
                <a:r>
                  <a:rPr lang="en-US" dirty="0"/>
                  <a:t>, the station is blocked and does nothing until the frame has been successfully transmitted</a:t>
                </a:r>
                <a:endParaRPr lang="en-US" dirty="0"/>
              </a:p>
              <a:p>
                <a:endParaRPr lang="en-US" sz="2400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/>
              <a:t> </a:t>
            </a:r>
            <a:r>
              <a:rPr lang="en-US" dirty="0" smtClean="0"/>
              <a:t>of 33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Channel Allocation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914400" lvl="1" indent="-457200">
              <a:buFont typeface="+mj-lt"/>
              <a:buAutoNum type="arabicPeriod" startAt="2"/>
            </a:pPr>
            <a:r>
              <a:rPr lang="en-US" sz="2400" b="1" cap="small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Single Channel. </a:t>
            </a:r>
            <a:endParaRPr lang="en-US" sz="2400" b="1" cap="small" dirty="0">
              <a:effectLst>
                <a:glow rad="228600">
                  <a:schemeClr val="accent6">
                    <a:satMod val="175000"/>
                    <a:alpha val="40000"/>
                  </a:schemeClr>
                </a:glow>
              </a:effectLst>
            </a:endParaRPr>
          </a:p>
          <a:p>
            <a:pPr marL="1314450" lvl="2" indent="-457200"/>
            <a:r>
              <a:rPr lang="en-US" dirty="0"/>
              <a:t>A single channel is available for all communication. </a:t>
            </a:r>
            <a:endParaRPr lang="en-US" dirty="0"/>
          </a:p>
          <a:p>
            <a:pPr marL="1314450" lvl="2" indent="-457200"/>
            <a:r>
              <a:rPr lang="en-US" dirty="0"/>
              <a:t>All stations can transmit on it and all can receive from it. </a:t>
            </a:r>
            <a:endParaRPr lang="en-US" dirty="0"/>
          </a:p>
          <a:p>
            <a:pPr marL="914400" lvl="1" indent="-457200">
              <a:buFont typeface="+mj-lt"/>
              <a:buAutoNum type="arabicPeriod" startAt="2"/>
            </a:pPr>
            <a:r>
              <a:rPr lang="en-US" sz="2400" b="1" cap="small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Observable Collisions</a:t>
            </a:r>
            <a:r>
              <a:rPr lang="en-US" sz="2400" b="1" cap="small" dirty="0"/>
              <a:t>. </a:t>
            </a:r>
            <a:endParaRPr lang="en-US" sz="2400" b="1" cap="small" dirty="0"/>
          </a:p>
          <a:p>
            <a:pPr marL="1314450" lvl="2" indent="-457200"/>
            <a:r>
              <a:rPr lang="en-US" sz="2000" dirty="0"/>
              <a:t>If two frames are transmitted simultaneously, they </a:t>
            </a:r>
            <a:r>
              <a:rPr lang="en-US" sz="2000" b="1" dirty="0"/>
              <a:t>overlap</a:t>
            </a:r>
            <a:r>
              <a:rPr lang="en-US" sz="2000" dirty="0"/>
              <a:t> in time and the resulting signal is garbled. </a:t>
            </a:r>
            <a:endParaRPr lang="en-US" sz="2000" dirty="0"/>
          </a:p>
          <a:p>
            <a:pPr marL="1314450" lvl="2" indent="-457200"/>
            <a:r>
              <a:rPr lang="en-US" sz="2000" dirty="0"/>
              <a:t>This event is called a </a:t>
            </a:r>
            <a:r>
              <a:rPr lang="en-US" sz="2000" b="1" dirty="0"/>
              <a:t>collision</a:t>
            </a:r>
            <a:r>
              <a:rPr lang="en-US" sz="2000" dirty="0"/>
              <a:t>. </a:t>
            </a:r>
            <a:endParaRPr lang="en-US" sz="2000" dirty="0"/>
          </a:p>
          <a:p>
            <a:pPr marL="1314450" lvl="2" indent="-457200"/>
            <a:r>
              <a:rPr lang="en-US" sz="2000" dirty="0"/>
              <a:t>All stations can detect that a collision has occurred. </a:t>
            </a:r>
            <a:endParaRPr lang="en-US" sz="2000" dirty="0"/>
          </a:p>
          <a:p>
            <a:pPr marL="1314450" lvl="2" indent="-457200"/>
            <a:r>
              <a:rPr lang="en-US" sz="2000" dirty="0"/>
              <a:t>A collided frame must be transmitted again later. No errors other than those generated by collisions occur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/>
              <a:t> </a:t>
            </a:r>
            <a:r>
              <a:rPr lang="en-US" dirty="0" smtClean="0"/>
              <a:t>of 33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Channel Allocation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914400" lvl="1" indent="-514350">
              <a:buFont typeface="+mj-lt"/>
              <a:buAutoNum type="arabicPeriod" startAt="4"/>
            </a:pPr>
            <a:r>
              <a:rPr lang="en-US" sz="2400" b="1" cap="small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Continuous or Slotted Time</a:t>
            </a:r>
            <a:r>
              <a:rPr lang="en-US" sz="2400" b="1" cap="small" dirty="0"/>
              <a:t>.</a:t>
            </a:r>
            <a:r>
              <a:rPr lang="en-US" sz="2400" dirty="0"/>
              <a:t> </a:t>
            </a:r>
            <a:endParaRPr lang="en-US" sz="2400" dirty="0"/>
          </a:p>
          <a:p>
            <a:pPr marL="1314450" lvl="2" indent="-514350"/>
            <a:r>
              <a:rPr lang="en-US" dirty="0"/>
              <a:t>Time may be assumed continuous, in which case frame transmission can begin at any instant. </a:t>
            </a:r>
            <a:endParaRPr lang="en-US" dirty="0"/>
          </a:p>
          <a:p>
            <a:pPr marL="1314450" lvl="2" indent="-514350"/>
            <a:r>
              <a:rPr lang="en-US" dirty="0"/>
              <a:t>Alternatively, time may be slotted or divided into discrete intervals (called slots). </a:t>
            </a:r>
            <a:endParaRPr lang="en-US" dirty="0"/>
          </a:p>
          <a:p>
            <a:pPr marL="1314450" lvl="2" indent="-514350"/>
            <a:r>
              <a:rPr lang="en-US" dirty="0"/>
              <a:t>Frame transmissions must then begin at the start of a slot. </a:t>
            </a:r>
            <a:endParaRPr lang="en-US" dirty="0"/>
          </a:p>
          <a:p>
            <a:pPr marL="1314450" lvl="2" indent="-514350"/>
            <a:r>
              <a:rPr lang="en-US" dirty="0"/>
              <a:t>A slot may contain 0, 1, or more frames, corresponding to an idle slot, a successful transmission, or a collision, respectively.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/>
              <a:t> </a:t>
            </a:r>
            <a:r>
              <a:rPr lang="en-US" dirty="0" smtClean="0"/>
              <a:t>of 33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Channel Allocation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57250" lvl="1" indent="-457200">
              <a:buFont typeface="+mj-lt"/>
              <a:buAutoNum type="arabicPeriod" startAt="5"/>
            </a:pPr>
            <a:r>
              <a:rPr lang="en-US" sz="2400" b="1" cap="small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Carrier Sense or No Carrier Sense</a:t>
            </a:r>
            <a:r>
              <a:rPr lang="en-US" sz="2400" b="1" cap="small" dirty="0"/>
              <a:t>. </a:t>
            </a:r>
            <a:endParaRPr lang="en-US" sz="2400" b="1" cap="small" dirty="0"/>
          </a:p>
          <a:p>
            <a:pPr lvl="2"/>
            <a:r>
              <a:rPr lang="en-US" dirty="0"/>
              <a:t>With the carrier sense assumption, stations can tell if the channel is in use before trying to use it. </a:t>
            </a:r>
            <a:endParaRPr lang="en-US" dirty="0"/>
          </a:p>
          <a:p>
            <a:pPr lvl="2"/>
            <a:r>
              <a:rPr lang="en-US" dirty="0"/>
              <a:t>No station will attempt to use the channel while it is sensed as busy. </a:t>
            </a:r>
            <a:endParaRPr lang="en-US" dirty="0"/>
          </a:p>
          <a:p>
            <a:pPr lvl="2"/>
            <a:r>
              <a:rPr lang="en-US" dirty="0"/>
              <a:t>If there is no carrier sense, stations cannot sense the channel before trying to use it. </a:t>
            </a:r>
            <a:endParaRPr lang="en-US" dirty="0"/>
          </a:p>
          <a:p>
            <a:pPr lvl="2"/>
            <a:r>
              <a:rPr lang="en-US" dirty="0"/>
              <a:t>They just go ahead and transmit. </a:t>
            </a:r>
            <a:endParaRPr lang="en-US" dirty="0"/>
          </a:p>
          <a:p>
            <a:pPr lvl="2"/>
            <a:r>
              <a:rPr lang="en-US" dirty="0"/>
              <a:t>Only later can they determine whether the transmission was successful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/>
              <a:t> </a:t>
            </a:r>
            <a:r>
              <a:rPr lang="en-US" dirty="0" smtClean="0"/>
              <a:t>of 33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Multiple Access Protocols</a:t>
            </a:r>
            <a:endParaRPr lang="en-US" cap="smal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Popular Dynamic Channel Allocation Protocol:</a:t>
            </a:r>
            <a:endParaRPr lang="en-US" sz="2400" dirty="0"/>
          </a:p>
          <a:p>
            <a:pPr lvl="1"/>
            <a:endParaRPr lang="en-US" sz="2400" dirty="0"/>
          </a:p>
          <a:p>
            <a:pPr marL="914400" lvl="1" indent="-457200">
              <a:buFont typeface="+mj-lt"/>
              <a:buAutoNum type="arabicPeriod"/>
            </a:pPr>
            <a:r>
              <a:rPr lang="en-US" sz="2400" b="1" cap="small" dirty="0" smtClean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ALOHA </a:t>
            </a:r>
            <a:r>
              <a:rPr lang="en-US" sz="2000" dirty="0"/>
              <a:t>(Advocates of Linux Open-source Hawaii Association)</a:t>
            </a:r>
            <a:endParaRPr lang="en-US" sz="1800" b="1" cap="small" dirty="0">
              <a:effectLst>
                <a:glow rad="228600">
                  <a:schemeClr val="accent6">
                    <a:satMod val="175000"/>
                    <a:alpha val="40000"/>
                  </a:schemeClr>
                </a:glow>
              </a:effectLst>
            </a:endParaRPr>
          </a:p>
          <a:p>
            <a:pPr lvl="2"/>
            <a:r>
              <a:rPr lang="en-US" b="1" cap="small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Pure ALOHA </a:t>
            </a:r>
            <a:r>
              <a:rPr lang="en-US" dirty="0" smtClean="0"/>
              <a:t>protocol </a:t>
            </a:r>
            <a:br>
              <a:rPr lang="en-US" dirty="0" smtClean="0"/>
            </a:br>
            <a:r>
              <a:rPr lang="en-US" dirty="0" smtClean="0"/>
              <a:t>(</a:t>
            </a:r>
            <a:r>
              <a:rPr lang="en-US" dirty="0"/>
              <a:t>created at the University of Hawaii in the early 1970s.</a:t>
            </a:r>
            <a:r>
              <a:rPr lang="en-US" dirty="0" smtClean="0"/>
              <a:t>)</a:t>
            </a:r>
            <a:endParaRPr lang="en-US" dirty="0"/>
          </a:p>
          <a:p>
            <a:pPr lvl="2"/>
            <a:r>
              <a:rPr lang="en-US" b="1" cap="small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Slotted ALOHA </a:t>
            </a:r>
            <a:r>
              <a:rPr lang="en-US" dirty="0"/>
              <a:t>protocol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/>
              <a:t> </a:t>
            </a:r>
            <a:r>
              <a:rPr lang="en-US" dirty="0" smtClean="0"/>
              <a:t>of 33</a:t>
            </a:r>
            <a:endParaRPr lang="en-US" dirty="0"/>
          </a:p>
        </p:txBody>
      </p:sp>
      <p:pic>
        <p:nvPicPr>
          <p:cNvPr id="1028" name="Picture 4" descr="Types of ALOHA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0212" y="4064916"/>
            <a:ext cx="3203575" cy="1450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Pure ALOHA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14400" y="2057400"/>
            <a:ext cx="7018477" cy="35052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/>
              <a:t> </a:t>
            </a:r>
            <a:r>
              <a:rPr lang="en-US" dirty="0" smtClean="0"/>
              <a:t>of 33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609600" y="342440"/>
            <a:ext cx="5410200" cy="92333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285750" indent="-285750" algn="just">
              <a:buFont typeface="Arial" panose="02080604020202020204" pitchFamily="34" charset="0"/>
              <a:buChar char="•"/>
            </a:pPr>
            <a:r>
              <a:rPr lang="en-US" dirty="0"/>
              <a:t>Systems in which multiple users share a common channel in a way that can lead to conflicts are known as </a:t>
            </a:r>
            <a:r>
              <a:rPr lang="en-US" b="1" cap="small" dirty="0"/>
              <a:t>contention systems</a:t>
            </a:r>
            <a:endParaRPr lang="en-US" b="1" cap="small" dirty="0"/>
          </a:p>
        </p:txBody>
      </p:sp>
      <p:sp>
        <p:nvSpPr>
          <p:cNvPr id="8" name="Rectangle 7"/>
          <p:cNvSpPr/>
          <p:nvPr/>
        </p:nvSpPr>
        <p:spPr>
          <a:xfrm rot="5400000">
            <a:off x="4511040" y="218265"/>
            <a:ext cx="365760" cy="603504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 rot="5400000">
            <a:off x="4511040" y="615140"/>
            <a:ext cx="365760" cy="603504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 rot="5400000">
            <a:off x="4511040" y="1094565"/>
            <a:ext cx="365760" cy="603504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 rot="5400000">
            <a:off x="4511040" y="1532715"/>
            <a:ext cx="365760" cy="603504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5400000">
            <a:off x="4265568" y="2192928"/>
            <a:ext cx="856703" cy="603504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 build="allAtOnce"/>
      <p:bldP spid="8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of 33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438400" y="914400"/>
            <a:ext cx="4606262" cy="45259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371600" y="1524000"/>
            <a:ext cx="6362700" cy="30988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/>
              <a:t> </a:t>
            </a:r>
            <a:r>
              <a:rPr lang="en-US" dirty="0" smtClean="0"/>
              <a:t>of 33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3505200" y="1143000"/>
            <a:ext cx="457200" cy="3886200"/>
          </a:xfrm>
          <a:prstGeom prst="rect">
            <a:avLst/>
          </a:prstGeom>
          <a:solidFill>
            <a:srgbClr val="FF0000">
              <a:alpha val="22000"/>
            </a:srgb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995512" y="1131771"/>
            <a:ext cx="457200" cy="3886200"/>
          </a:xfrm>
          <a:prstGeom prst="rect">
            <a:avLst/>
          </a:prstGeom>
          <a:solidFill>
            <a:srgbClr val="FF0000">
              <a:alpha val="22000"/>
            </a:srgb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143000" y="533400"/>
            <a:ext cx="18321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cap="small" dirty="0" smtClean="0"/>
              <a:t>Collision?</a:t>
            </a:r>
            <a:endParaRPr lang="en-US" sz="3200" cap="small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Slotted ALOHA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276600"/>
            <a:ext cx="8229600" cy="2849563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…  proposal was to divide time into discrete intervals called slots, each interval corresponding to one frame</a:t>
            </a:r>
            <a:endParaRPr lang="en-US" sz="2400" dirty="0"/>
          </a:p>
          <a:p>
            <a:r>
              <a:rPr lang="en-US" sz="2400" dirty="0"/>
              <a:t>This approach requires the users to agree on slot boundaries.</a:t>
            </a:r>
            <a:endParaRPr lang="en-US" sz="2400" dirty="0"/>
          </a:p>
          <a:p>
            <a:r>
              <a:rPr lang="en-US" sz="2400" dirty="0"/>
              <a:t> One way to achieve synchronization would be to have one special station emit a </a:t>
            </a:r>
            <a:r>
              <a:rPr lang="en-US" sz="2400" b="1" dirty="0"/>
              <a:t>pip</a:t>
            </a:r>
            <a:r>
              <a:rPr lang="en-US" sz="2400" dirty="0"/>
              <a:t> at the start of each interval, like a clock.</a:t>
            </a:r>
            <a:endParaRPr lang="en-US" sz="2400" dirty="0"/>
          </a:p>
          <a:p>
            <a:r>
              <a:rPr lang="en-US" sz="2400" dirty="0"/>
              <a:t>it is required to wait for the beginning of the next slot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/>
              <a:t> </a:t>
            </a:r>
            <a:r>
              <a:rPr lang="en-US" dirty="0" smtClean="0"/>
              <a:t>of 33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5400" y="0"/>
            <a:ext cx="5943600" cy="332998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cap="small" dirty="0"/>
              <a:t>Assumption of Slotted ALOHA</a:t>
            </a:r>
            <a:endParaRPr lang="en-US" b="1" cap="smal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 fontAlgn="base">
              <a:buFont typeface="+mj-lt"/>
              <a:buAutoNum type="arabicPeriod"/>
            </a:pPr>
            <a:r>
              <a:rPr lang="en-US" dirty="0" smtClean="0"/>
              <a:t>All</a:t>
            </a:r>
            <a:r>
              <a:rPr lang="en-US" dirty="0"/>
              <a:t> </a:t>
            </a:r>
            <a:r>
              <a:rPr lang="en-US" b="1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frames</a:t>
            </a:r>
            <a:r>
              <a:rPr lang="en-US" dirty="0"/>
              <a:t> are of the same size.</a:t>
            </a:r>
            <a:endParaRPr lang="en-US" dirty="0"/>
          </a:p>
          <a:p>
            <a:pPr marL="514350" indent="-514350" fontAlgn="base">
              <a:buFont typeface="+mj-lt"/>
              <a:buAutoNum type="arabicPeriod"/>
            </a:pPr>
            <a:r>
              <a:rPr lang="en-US" dirty="0"/>
              <a:t>Time is </a:t>
            </a:r>
            <a:r>
              <a:rPr lang="en-US" b="1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divided</a:t>
            </a:r>
            <a:r>
              <a:rPr lang="en-US" dirty="0"/>
              <a:t> into </a:t>
            </a:r>
            <a:r>
              <a:rPr lang="en-US" b="1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equal-sized</a:t>
            </a:r>
            <a:r>
              <a:rPr lang="en-US" dirty="0"/>
              <a:t> slots, a slot equals the time to </a:t>
            </a:r>
            <a:r>
              <a:rPr lang="en-US" b="1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transmit</a:t>
            </a:r>
            <a:r>
              <a:rPr lang="en-US" dirty="0"/>
              <a:t> one </a:t>
            </a:r>
            <a:r>
              <a:rPr lang="en-US" b="1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frame</a:t>
            </a:r>
            <a:endParaRPr lang="en-US" b="1" dirty="0"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  <a:p>
            <a:pPr marL="514350" indent="-514350" fontAlgn="base">
              <a:buFont typeface="+mj-lt"/>
              <a:buAutoNum type="arabicPeriod"/>
            </a:pPr>
            <a:r>
              <a:rPr lang="en-US" dirty="0"/>
              <a:t>Nodes start to transmit frames only at </a:t>
            </a:r>
            <a:r>
              <a:rPr lang="en-US" b="1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beginning</a:t>
            </a:r>
            <a:r>
              <a:rPr lang="en-US" dirty="0"/>
              <a:t> of slots.</a:t>
            </a:r>
            <a:endParaRPr lang="en-US" dirty="0"/>
          </a:p>
          <a:p>
            <a:pPr marL="514350" indent="-514350" fontAlgn="base">
              <a:buFont typeface="+mj-lt"/>
              <a:buAutoNum type="arabicPeriod"/>
            </a:pPr>
            <a:r>
              <a:rPr lang="en-US" dirty="0"/>
              <a:t>Nodes are </a:t>
            </a:r>
            <a:r>
              <a:rPr lang="en-US" b="1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synchronized</a:t>
            </a:r>
            <a:r>
              <a:rPr lang="en-US" dirty="0"/>
              <a:t>.</a:t>
            </a:r>
            <a:endParaRPr lang="en-US" dirty="0"/>
          </a:p>
          <a:p>
            <a:pPr marL="514350" indent="-514350" fontAlgn="base">
              <a:buFont typeface="+mj-lt"/>
              <a:buAutoNum type="arabicPeriod"/>
            </a:pPr>
            <a:r>
              <a:rPr lang="en-US" dirty="0"/>
              <a:t>If two or more nodes transmit in a slot, </a:t>
            </a:r>
            <a:r>
              <a:rPr lang="en-US" b="1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all</a:t>
            </a:r>
            <a:r>
              <a:rPr lang="en-US" dirty="0"/>
              <a:t> nodes </a:t>
            </a:r>
            <a:r>
              <a:rPr lang="en-US" b="1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detect</a:t>
            </a:r>
            <a:r>
              <a:rPr lang="en-US" dirty="0"/>
              <a:t> </a:t>
            </a:r>
            <a:r>
              <a:rPr lang="en-US" b="1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collision</a:t>
            </a:r>
            <a:r>
              <a:rPr lang="en-US" dirty="0"/>
              <a:t> before the slot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of 33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cap="small" dirty="0"/>
              <a:t>Carrier Sense Multiple Access Protocols</a:t>
            </a:r>
            <a:endParaRPr lang="en-US" sz="3600" cap="smal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86680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C</a:t>
            </a:r>
            <a:r>
              <a:rPr lang="en-US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arrier </a:t>
            </a:r>
            <a:r>
              <a:rPr lang="en-US" b="1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S</a:t>
            </a:r>
            <a:r>
              <a:rPr lang="en-US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ense </a:t>
            </a:r>
            <a:r>
              <a:rPr lang="en-US" b="1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M</a:t>
            </a:r>
            <a:r>
              <a:rPr lang="en-US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ultiple </a:t>
            </a:r>
            <a:r>
              <a:rPr lang="en-US" b="1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A</a:t>
            </a:r>
            <a:r>
              <a:rPr lang="en-US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ccess Protocols – CSMA</a:t>
            </a:r>
            <a:endParaRPr lang="en-US" dirty="0"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  <a:p>
            <a:r>
              <a:rPr lang="en-US" dirty="0"/>
              <a:t>Protocols in which stations listen for a carrier (i.e., a transmission) and act accordingly are called carrier sense protocols</a:t>
            </a:r>
            <a:endParaRPr lang="en-US" dirty="0"/>
          </a:p>
          <a:p>
            <a:r>
              <a:rPr lang="en-US" b="1" cap="small" dirty="0"/>
              <a:t>Persistent</a:t>
            </a:r>
            <a:r>
              <a:rPr lang="en-US" dirty="0"/>
              <a:t> and </a:t>
            </a:r>
            <a:r>
              <a:rPr lang="en-US" b="1" cap="small" dirty="0" err="1"/>
              <a:t>Nonpersistent</a:t>
            </a:r>
            <a:r>
              <a:rPr lang="en-US" dirty="0"/>
              <a:t> CSMA</a:t>
            </a:r>
            <a:endParaRPr lang="en-US" dirty="0"/>
          </a:p>
          <a:p>
            <a:r>
              <a:rPr lang="en-US" dirty="0"/>
              <a:t>Persistent </a:t>
            </a:r>
            <a:r>
              <a:rPr lang="en-US" dirty="0" smtClean="0"/>
              <a:t>– Non-Stop</a:t>
            </a:r>
            <a:endParaRPr lang="en-US" dirty="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/>
              <a:t> </a:t>
            </a:r>
            <a:r>
              <a:rPr lang="en-US" dirty="0" smtClean="0"/>
              <a:t>of 33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1- Persistent CSMA Protocol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/>
              <a:t> </a:t>
            </a:r>
            <a:r>
              <a:rPr lang="en-US" dirty="0" smtClean="0"/>
              <a:t>of 33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3200" y="2866052"/>
            <a:ext cx="2331755" cy="1682750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>
          <a:xfrm>
            <a:off x="1327185" y="3723351"/>
            <a:ext cx="5057249" cy="0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encilGrayscale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58082" y="1363691"/>
            <a:ext cx="1438549" cy="103815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encilGrayscale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38807" y="5102014"/>
            <a:ext cx="1438549" cy="1038153"/>
          </a:xfrm>
          <a:prstGeom prst="rect">
            <a:avLst/>
          </a:prstGeom>
        </p:spPr>
      </p:pic>
      <p:cxnSp>
        <p:nvCxnSpPr>
          <p:cNvPr id="11" name="Straight Arrow Connector 10"/>
          <p:cNvCxnSpPr>
            <a:endCxn id="8" idx="2"/>
          </p:cNvCxnSpPr>
          <p:nvPr/>
        </p:nvCxnSpPr>
        <p:spPr>
          <a:xfrm flipV="1">
            <a:off x="2977356" y="2401844"/>
            <a:ext cx="1" cy="1289662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encilGrayscale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86200" y="1311085"/>
            <a:ext cx="1438549" cy="1038153"/>
          </a:xfrm>
          <a:prstGeom prst="rect">
            <a:avLst/>
          </a:prstGeom>
        </p:spPr>
      </p:pic>
      <p:cxnSp>
        <p:nvCxnSpPr>
          <p:cNvPr id="16" name="Straight Arrow Connector 15"/>
          <p:cNvCxnSpPr>
            <a:endCxn id="14" idx="2"/>
          </p:cNvCxnSpPr>
          <p:nvPr/>
        </p:nvCxnSpPr>
        <p:spPr>
          <a:xfrm flipH="1" flipV="1">
            <a:off x="4605475" y="2349238"/>
            <a:ext cx="424" cy="1374113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2198714" y="3723351"/>
            <a:ext cx="0" cy="1305665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ight Arrow 25"/>
          <p:cNvSpPr/>
          <p:nvPr/>
        </p:nvSpPr>
        <p:spPr>
          <a:xfrm rot="5400000">
            <a:off x="2055588" y="2856175"/>
            <a:ext cx="1124262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3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5" presetClass="emph" presetSubtype="0" repeatCount="3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1- Persistent CSMA Protocol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b="1" dirty="0"/>
              <a:t>When a station has data to send:</a:t>
            </a:r>
            <a:endParaRPr lang="en-US" sz="2400" b="1" dirty="0"/>
          </a:p>
          <a:p>
            <a:pPr lvl="1"/>
            <a:r>
              <a:rPr lang="en-US" sz="2400" dirty="0"/>
              <a:t> It first listens to the channel to see if anyone else is transmitting at that moment. </a:t>
            </a:r>
            <a:endParaRPr lang="en-US" sz="2400" dirty="0"/>
          </a:p>
          <a:p>
            <a:pPr lvl="1"/>
            <a:r>
              <a:rPr lang="en-US" sz="2400" dirty="0"/>
              <a:t>If the channel is idle, the stations sends its data. </a:t>
            </a:r>
            <a:endParaRPr lang="en-US" sz="2400" dirty="0"/>
          </a:p>
          <a:p>
            <a:pPr lvl="1"/>
            <a:r>
              <a:rPr lang="en-US" sz="2400" dirty="0"/>
              <a:t>if the channel is busy, …  waits until it becomes idle.  Then the station transmits a frame</a:t>
            </a:r>
            <a:endParaRPr lang="en-US" sz="2400" dirty="0"/>
          </a:p>
          <a:p>
            <a:pPr lvl="1"/>
            <a:r>
              <a:rPr lang="en-US" sz="2400" dirty="0"/>
              <a:t>if a </a:t>
            </a:r>
            <a:r>
              <a:rPr lang="en-US" sz="2400" b="1" u="sng" dirty="0"/>
              <a:t>collision</a:t>
            </a:r>
            <a:r>
              <a:rPr lang="en-US" sz="2400" dirty="0"/>
              <a:t> … waits a random amount of time and starts all over again. </a:t>
            </a:r>
            <a:endParaRPr lang="en-US" sz="2400" dirty="0"/>
          </a:p>
          <a:p>
            <a:pPr lvl="1"/>
            <a:r>
              <a:rPr lang="en-US" sz="2400" dirty="0">
                <a:solidFill>
                  <a:srgbClr val="FF0000"/>
                </a:solidFill>
              </a:rPr>
              <a:t>The protocol is called </a:t>
            </a:r>
            <a:r>
              <a:rPr lang="en-US" sz="2400" b="1" dirty="0">
                <a:solidFill>
                  <a:srgbClr val="FF0000"/>
                </a:solidFill>
              </a:rPr>
              <a:t>1-persistent</a:t>
            </a:r>
            <a:r>
              <a:rPr lang="en-US" sz="2400" dirty="0">
                <a:solidFill>
                  <a:srgbClr val="FF0000"/>
                </a:solidFill>
              </a:rPr>
              <a:t> because the station transmits with a </a:t>
            </a:r>
            <a:r>
              <a:rPr lang="en-US" sz="2400" b="1" dirty="0">
                <a:solidFill>
                  <a:srgbClr val="FF0000"/>
                </a:solidFill>
              </a:rPr>
              <a:t>probability of 1</a:t>
            </a:r>
            <a:r>
              <a:rPr lang="en-US" sz="2400" dirty="0">
                <a:solidFill>
                  <a:srgbClr val="FF0000"/>
                </a:solidFill>
              </a:rPr>
              <a:t> when it finds the channel idle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/>
              <a:t> </a:t>
            </a:r>
            <a:r>
              <a:rPr lang="en-US" dirty="0" smtClean="0"/>
              <a:t>of 33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0852" y="2038995"/>
            <a:ext cx="8335628" cy="364837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Nonpersistent</a:t>
            </a:r>
            <a:r>
              <a:rPr lang="en-US" dirty="0"/>
              <a:t> CSMA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/>
              <a:t> </a:t>
            </a:r>
            <a:r>
              <a:rPr lang="en-US" dirty="0" smtClean="0"/>
              <a:t>of 33</a:t>
            </a:r>
            <a:endParaRPr lang="en-US" dirty="0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3352800" y="3723351"/>
            <a:ext cx="1066801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artisticPencilGrayscale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7911" y="1419913"/>
            <a:ext cx="1438549" cy="103815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encilGrayscale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7911" y="4956789"/>
            <a:ext cx="1438549" cy="1038153"/>
          </a:xfrm>
          <a:prstGeom prst="rect">
            <a:avLst/>
          </a:prstGeom>
        </p:spPr>
      </p:pic>
      <p:cxnSp>
        <p:nvCxnSpPr>
          <p:cNvPr id="10" name="Straight Arrow Connector 9"/>
          <p:cNvCxnSpPr/>
          <p:nvPr/>
        </p:nvCxnSpPr>
        <p:spPr>
          <a:xfrm flipH="1" flipV="1">
            <a:off x="2046460" y="2445354"/>
            <a:ext cx="1306340" cy="1246152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encilGrayscale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7911" y="3188351"/>
            <a:ext cx="1438549" cy="1038153"/>
          </a:xfrm>
          <a:prstGeom prst="rect">
            <a:avLst/>
          </a:prstGeom>
        </p:spPr>
      </p:pic>
      <p:cxnSp>
        <p:nvCxnSpPr>
          <p:cNvPr id="12" name="Straight Arrow Connector 11"/>
          <p:cNvCxnSpPr/>
          <p:nvPr/>
        </p:nvCxnSpPr>
        <p:spPr>
          <a:xfrm flipH="1">
            <a:off x="2046460" y="3707428"/>
            <a:ext cx="1306340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endCxn id="14" idx="3"/>
          </p:cNvCxnSpPr>
          <p:nvPr/>
        </p:nvCxnSpPr>
        <p:spPr>
          <a:xfrm flipH="1">
            <a:off x="2046460" y="3723351"/>
            <a:ext cx="1306340" cy="1752515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ight Arrow 13"/>
          <p:cNvSpPr/>
          <p:nvPr/>
        </p:nvSpPr>
        <p:spPr>
          <a:xfrm rot="2749457">
            <a:off x="2384959" y="2675552"/>
            <a:ext cx="1371600" cy="381000"/>
          </a:xfrm>
          <a:prstGeom prst="rightArrow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419601" y="1752066"/>
            <a:ext cx="4426268" cy="313932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dirty="0"/>
              <a:t>A station senses the channel when it wants to send a frame, and if no one else is sending, the station begins doing so itself. </a:t>
            </a:r>
            <a:endParaRPr lang="en-US" dirty="0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dirty="0"/>
              <a:t>However, if the </a:t>
            </a:r>
            <a:r>
              <a:rPr lang="en-US" b="1" u="sng" dirty="0"/>
              <a:t>channel is already in use, the station does not continually sense i</a:t>
            </a:r>
            <a:r>
              <a:rPr lang="en-US" dirty="0"/>
              <a:t>t for the purpose of seizing it immediately upon detecting the end of the previous transmission. </a:t>
            </a:r>
            <a:endParaRPr lang="en-US" dirty="0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dirty="0"/>
              <a:t>Instead, it </a:t>
            </a:r>
            <a:r>
              <a:rPr lang="en-US" b="1" u="sng" dirty="0"/>
              <a:t>waits a random period </a:t>
            </a:r>
            <a:r>
              <a:rPr lang="en-US" dirty="0"/>
              <a:t>of time and then repeats the algorithm.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2040439"/>
            <a:ext cx="7454214" cy="2850948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3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5" presetClass="emph" presetSubtype="0" repeatCount="3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P-persistent CSMA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400" dirty="0"/>
              <a:t>It applies to </a:t>
            </a:r>
            <a:r>
              <a:rPr lang="en-US" sz="2400" b="1" u="sng" dirty="0"/>
              <a:t>slotted</a:t>
            </a:r>
            <a:r>
              <a:rPr lang="en-US" sz="2400" dirty="0"/>
              <a:t> channels and works as follows. </a:t>
            </a:r>
            <a:endParaRPr lang="en-US" sz="2400" dirty="0"/>
          </a:p>
          <a:p>
            <a:pPr lvl="1"/>
            <a:r>
              <a:rPr lang="en-US" sz="2400" dirty="0"/>
              <a:t>When a station becomes </a:t>
            </a:r>
            <a:r>
              <a:rPr lang="en-US" sz="2400" b="1" dirty="0"/>
              <a:t>ready to send</a:t>
            </a:r>
            <a:r>
              <a:rPr lang="en-US" sz="2400" dirty="0"/>
              <a:t>, it </a:t>
            </a:r>
            <a:r>
              <a:rPr lang="en-US" sz="2400" b="1" dirty="0"/>
              <a:t>senses the channel</a:t>
            </a:r>
            <a:r>
              <a:rPr lang="en-US" sz="2400" dirty="0"/>
              <a:t>. </a:t>
            </a:r>
            <a:endParaRPr lang="en-US" sz="2400" dirty="0"/>
          </a:p>
          <a:p>
            <a:pPr lvl="1"/>
            <a:r>
              <a:rPr lang="en-US" sz="2400" b="1" dirty="0"/>
              <a:t>If it is idle</a:t>
            </a:r>
            <a:r>
              <a:rPr lang="en-US" sz="2400" dirty="0"/>
              <a:t>, it transmits with a probability </a:t>
            </a:r>
            <a:r>
              <a:rPr lang="en-US" sz="2400" b="1" u="sng" dirty="0"/>
              <a:t>p</a:t>
            </a:r>
            <a:r>
              <a:rPr lang="en-US" sz="2400" dirty="0"/>
              <a:t>. </a:t>
            </a:r>
            <a:endParaRPr lang="en-US" sz="2400" dirty="0"/>
          </a:p>
          <a:p>
            <a:pPr lvl="1"/>
            <a:r>
              <a:rPr lang="en-US" sz="2400" dirty="0"/>
              <a:t>With a probability </a:t>
            </a:r>
            <a:r>
              <a:rPr lang="en-US" sz="2400" b="1" dirty="0"/>
              <a:t>q = 1 − p</a:t>
            </a:r>
            <a:r>
              <a:rPr lang="en-US" sz="2400" dirty="0"/>
              <a:t>, it defers until the next slot. </a:t>
            </a:r>
            <a:endParaRPr lang="en-US" sz="2400" dirty="0"/>
          </a:p>
          <a:p>
            <a:pPr lvl="1"/>
            <a:r>
              <a:rPr lang="en-US" sz="2400" dirty="0"/>
              <a:t>If that slot is also idle, it either transmits or defers again, with probabilities p and q. </a:t>
            </a:r>
            <a:endParaRPr lang="en-US" sz="2400" dirty="0"/>
          </a:p>
          <a:p>
            <a:pPr lvl="1"/>
            <a:r>
              <a:rPr lang="en-US" sz="2400" dirty="0"/>
              <a:t>This process is repeated until either the frame has been transmitted or another station has begun transmitting. </a:t>
            </a:r>
            <a:endParaRPr lang="en-US" sz="2400" dirty="0"/>
          </a:p>
          <a:p>
            <a:pPr lvl="1"/>
            <a:r>
              <a:rPr lang="en-US" sz="2400" dirty="0"/>
              <a:t>if there had been a collision - it waits a random time and starts again. </a:t>
            </a:r>
            <a:endParaRPr lang="en-US" sz="2400" dirty="0"/>
          </a:p>
          <a:p>
            <a:pPr lvl="1"/>
            <a:r>
              <a:rPr lang="en-US" sz="2400" dirty="0"/>
              <a:t>If the station initially senses that the channel is busy, it waits until the next slot and applies the above algorithm.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/>
              <a:t> </a:t>
            </a:r>
            <a:r>
              <a:rPr lang="en-US" dirty="0" smtClean="0"/>
              <a:t>of 33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CSMA with Collision Detection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629677"/>
          </a:xfrm>
        </p:spPr>
        <p:txBody>
          <a:bodyPr/>
          <a:lstStyle/>
          <a:p>
            <a:r>
              <a:rPr lang="en-US" sz="2400" dirty="0"/>
              <a:t>CSMA with Collision Detection – CSMA/CD</a:t>
            </a:r>
            <a:endParaRPr lang="en-US" sz="24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/>
              <a:t> </a:t>
            </a:r>
            <a:r>
              <a:rPr lang="en-US" dirty="0" smtClean="0"/>
              <a:t>of 33</a:t>
            </a:r>
            <a:endParaRPr lang="en-US" dirty="0"/>
          </a:p>
        </p:txBody>
      </p:sp>
      <p:grpSp>
        <p:nvGrpSpPr>
          <p:cNvPr id="21" name="Group 20"/>
          <p:cNvGrpSpPr/>
          <p:nvPr/>
        </p:nvGrpSpPr>
        <p:grpSpPr>
          <a:xfrm>
            <a:off x="304800" y="2772376"/>
            <a:ext cx="6620149" cy="3324217"/>
            <a:chOff x="304800" y="2772376"/>
            <a:chExt cx="6620149" cy="3324217"/>
          </a:xfrm>
        </p:grpSpPr>
        <p:cxnSp>
          <p:nvCxnSpPr>
            <p:cNvPr id="7" name="Straight Arrow Connector 6"/>
            <p:cNvCxnSpPr/>
            <p:nvPr/>
          </p:nvCxnSpPr>
          <p:spPr>
            <a:xfrm>
              <a:off x="304800" y="4404964"/>
              <a:ext cx="6126848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1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artisticPencilGrayscale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828800" y="2772376"/>
              <a:ext cx="1438549" cy="1038153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1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encilGrayscale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928925" y="2824312"/>
              <a:ext cx="1438549" cy="1038153"/>
            </a:xfrm>
            <a:prstGeom prst="rect">
              <a:avLst/>
            </a:prstGeom>
          </p:spPr>
        </p:pic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1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encilGrayscale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486400" y="4994683"/>
              <a:ext cx="1438549" cy="1038153"/>
            </a:xfrm>
            <a:prstGeom prst="rect">
              <a:avLst/>
            </a:prstGeom>
          </p:spPr>
        </p:pic>
        <p:cxnSp>
          <p:nvCxnSpPr>
            <p:cNvPr id="15" name="Straight Arrow Connector 14"/>
            <p:cNvCxnSpPr>
              <a:stCxn id="8" idx="2"/>
            </p:cNvCxnSpPr>
            <p:nvPr/>
          </p:nvCxnSpPr>
          <p:spPr>
            <a:xfrm flipH="1">
              <a:off x="2548074" y="3810529"/>
              <a:ext cx="1" cy="594435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 flipH="1">
              <a:off x="4632276" y="3805813"/>
              <a:ext cx="1" cy="594435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 flipH="1">
              <a:off x="1295400" y="4400248"/>
              <a:ext cx="1" cy="594435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1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encilGrayscale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85800" y="5058440"/>
              <a:ext cx="1438549" cy="1038153"/>
            </a:xfrm>
            <a:prstGeom prst="rect">
              <a:avLst/>
            </a:prstGeom>
          </p:spPr>
        </p:pic>
        <p:cxnSp>
          <p:nvCxnSpPr>
            <p:cNvPr id="19" name="Straight Arrow Connector 18"/>
            <p:cNvCxnSpPr/>
            <p:nvPr/>
          </p:nvCxnSpPr>
          <p:spPr>
            <a:xfrm flipH="1">
              <a:off x="5797952" y="4400247"/>
              <a:ext cx="1" cy="594435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Box 21"/>
          <p:cNvSpPr txBox="1"/>
          <p:nvPr/>
        </p:nvSpPr>
        <p:spPr>
          <a:xfrm>
            <a:off x="1295400" y="6096593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6096000" y="6126163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2239976" y="247285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4304942" y="2514600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</a:t>
            </a:r>
            <a:endParaRPr lang="en-US" dirty="0"/>
          </a:p>
        </p:txBody>
      </p:sp>
      <p:sp>
        <p:nvSpPr>
          <p:cNvPr id="26" name="Rectangle 25"/>
          <p:cNvSpPr/>
          <p:nvPr/>
        </p:nvSpPr>
        <p:spPr>
          <a:xfrm>
            <a:off x="1391420" y="4493458"/>
            <a:ext cx="934958" cy="2972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/>
              <p:cNvSpPr txBox="1"/>
              <p:nvPr/>
            </p:nvSpPr>
            <p:spPr>
              <a:xfrm>
                <a:off x="3492053" y="4642067"/>
                <a:ext cx="3617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2053" y="4642067"/>
                <a:ext cx="361766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52" t="-59" r="1" b="16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1.85185E-6 L 0.39688 -0.0023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844" y="-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CSMA with Collision Detection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04800" y="1905000"/>
            <a:ext cx="8229600" cy="221601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/>
              <a:t> </a:t>
            </a:r>
            <a:r>
              <a:rPr lang="en-US" dirty="0" smtClean="0"/>
              <a:t>of 33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Collison Free Protocol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A Bit-Map Protocol</a:t>
            </a:r>
            <a:endParaRPr lang="en-US" sz="24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/>
              <a:t> </a:t>
            </a:r>
            <a:r>
              <a:rPr lang="en-US" dirty="0" smtClean="0"/>
              <a:t>of 33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10" y="2895600"/>
            <a:ext cx="9144000" cy="23637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Collison Free Protocol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Token Passing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/>
              <a:t> </a:t>
            </a:r>
            <a:r>
              <a:rPr lang="en-US" dirty="0" smtClean="0"/>
              <a:t>of 33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7500" y="2627312"/>
            <a:ext cx="5969000" cy="3911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6978</Words>
  <Application>WPS Presentation</Application>
  <PresentationFormat>On-screen Show (4:3)</PresentationFormat>
  <Paragraphs>271</Paragraphs>
  <Slides>33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6" baseType="lpstr">
      <vt:lpstr>Arial</vt:lpstr>
      <vt:lpstr>SimSun</vt:lpstr>
      <vt:lpstr>Wingdings</vt:lpstr>
      <vt:lpstr>DejaVu Sans</vt:lpstr>
      <vt:lpstr>Times New Roman</vt:lpstr>
      <vt:lpstr>Calibri</vt:lpstr>
      <vt:lpstr>Microsoft YaHei</vt:lpstr>
      <vt:lpstr>Droid Sans Fallback</vt:lpstr>
      <vt:lpstr>Arial Unicode MS</vt:lpstr>
      <vt:lpstr>Courier New</vt:lpstr>
      <vt:lpstr>Cambria Math</vt:lpstr>
      <vt:lpstr>DejaVu Math TeX Gyre</vt:lpstr>
      <vt:lpstr>Office Theme</vt:lpstr>
      <vt:lpstr>PowerPoint 演示文稿</vt:lpstr>
      <vt:lpstr>PowerPoint 演示文稿</vt:lpstr>
      <vt:lpstr>PowerPoint 演示文稿</vt:lpstr>
      <vt:lpstr>The Data Link Layer</vt:lpstr>
      <vt:lpstr>PowerPoint 演示文稿</vt:lpstr>
      <vt:lpstr>Medium Access Sublayer</vt:lpstr>
      <vt:lpstr>Topology (Layer 1)</vt:lpstr>
      <vt:lpstr>PowerPoint 演示文稿</vt:lpstr>
      <vt:lpstr>The Channel Allocation Problem</vt:lpstr>
      <vt:lpstr>PowerPoint 演示文稿</vt:lpstr>
      <vt:lpstr>PowerPoint 演示文稿</vt:lpstr>
      <vt:lpstr>PowerPoint 演示文稿</vt:lpstr>
      <vt:lpstr>Static Channel Allocation</vt:lpstr>
      <vt:lpstr>Time-Division Multiplexing (TDM)</vt:lpstr>
      <vt:lpstr>Dynamic Channel Allocation</vt:lpstr>
      <vt:lpstr>Dynamic Channel Allocation</vt:lpstr>
      <vt:lpstr>Dynamic Channel Allocation</vt:lpstr>
      <vt:lpstr>Dynamic Channel Allocation</vt:lpstr>
      <vt:lpstr>Multiple Access Protocols</vt:lpstr>
      <vt:lpstr>Pure ALOHA</vt:lpstr>
      <vt:lpstr>PowerPoint 演示文稿</vt:lpstr>
      <vt:lpstr>PowerPoint 演示文稿</vt:lpstr>
      <vt:lpstr>Slotted ALOHA</vt:lpstr>
      <vt:lpstr>Assumption of Slotted ALOHA</vt:lpstr>
      <vt:lpstr>Carrier Sense Multiple Access Protocols</vt:lpstr>
      <vt:lpstr>1- Persistent CSMA Protocol</vt:lpstr>
      <vt:lpstr>1- Persistent CSMA Protocol</vt:lpstr>
      <vt:lpstr>Nonpersistent CSMA</vt:lpstr>
      <vt:lpstr>P-persistent CSMA</vt:lpstr>
      <vt:lpstr>CSMA with Collision Detection</vt:lpstr>
      <vt:lpstr>CSMA with Collision Detection</vt:lpstr>
      <vt:lpstr>Collison Free Protocol</vt:lpstr>
      <vt:lpstr>Collison Free Protocol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Processing all k-nearest neighbor queries in Hadoop</dc:title>
  <dc:creator>Administrator</dc:creator>
  <cp:lastModifiedBy>masud-rana-mushfiq</cp:lastModifiedBy>
  <cp:revision>883</cp:revision>
  <cp:lastPrinted>2026-01-19T11:42:22Z</cp:lastPrinted>
  <dcterms:created xsi:type="dcterms:W3CDTF">2026-01-19T11:42:22Z</dcterms:created>
  <dcterms:modified xsi:type="dcterms:W3CDTF">2026-01-19T11:42:22Z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