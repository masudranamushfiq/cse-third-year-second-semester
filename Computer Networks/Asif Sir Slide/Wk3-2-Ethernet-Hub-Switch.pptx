
<file path=[Content_Types].xml><?xml version="1.0" encoding="utf-8"?>
<Types xmlns="http://schemas.openxmlformats.org/package/2006/content-types">
  <Default Extension="png" ContentType="image/png"/>
  <Default Extension="jpeg" ContentType="image/jpeg"/>
  <Default Extension="JPG" ContentType="image/.jp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5"/>
  </p:handoutMasterIdLst>
  <p:sldIdLst>
    <p:sldId id="256" r:id="rId3"/>
    <p:sldId id="277" r:id="rId5"/>
    <p:sldId id="257" r:id="rId6"/>
    <p:sldId id="258" r:id="rId7"/>
    <p:sldId id="273" r:id="rId8"/>
    <p:sldId id="283" r:id="rId9"/>
    <p:sldId id="284" r:id="rId10"/>
    <p:sldId id="279" r:id="rId11"/>
    <p:sldId id="274" r:id="rId12"/>
    <p:sldId id="280" r:id="rId13"/>
    <p:sldId id="275" r:id="rId14"/>
    <p:sldId id="281" r:id="rId15"/>
    <p:sldId id="278" r:id="rId16"/>
    <p:sldId id="276" r:id="rId17"/>
    <p:sldId id="259" r:id="rId18"/>
    <p:sldId id="260" r:id="rId19"/>
    <p:sldId id="261" r:id="rId20"/>
    <p:sldId id="262" r:id="rId21"/>
    <p:sldId id="263" r:id="rId22"/>
    <p:sldId id="264" r:id="rId23"/>
    <p:sldId id="285" r:id="rId24"/>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36" autoAdjust="0"/>
    <p:restoredTop sz="61265" autoAdjust="0"/>
  </p:normalViewPr>
  <p:slideViewPr>
    <p:cSldViewPr>
      <p:cViewPr varScale="1">
        <p:scale>
          <a:sx n="68" d="100"/>
          <a:sy n="68" d="100"/>
        </p:scale>
        <p:origin x="1448" y="48"/>
      </p:cViewPr>
      <p:guideLst>
        <p:guide orient="horz" pos="2160"/>
        <p:guide pos="2880"/>
      </p:guideLst>
    </p:cSldViewPr>
  </p:slideViewPr>
  <p:outlineViewPr>
    <p:cViewPr>
      <p:scale>
        <a:sx n="33" d="100"/>
        <a:sy n="33" d="100"/>
      </p:scale>
      <p:origin x="0" y="-5778"/>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2"/>
            <a:ext cx="3170238" cy="479427"/>
          </a:xfrm>
          <a:prstGeom prst="rect">
            <a:avLst/>
          </a:prstGeom>
        </p:spPr>
        <p:txBody>
          <a:bodyPr vert="horz" lIns="82964" tIns="41482" rIns="82964" bIns="41482" rtlCol="0"/>
          <a:lstStyle>
            <a:lvl1pPr algn="l">
              <a:defRPr sz="1100"/>
            </a:lvl1pPr>
          </a:lstStyle>
          <a:p>
            <a:endParaRPr lang="en-US"/>
          </a:p>
        </p:txBody>
      </p:sp>
      <p:sp>
        <p:nvSpPr>
          <p:cNvPr id="3" name="Date Placeholder 2"/>
          <p:cNvSpPr>
            <a:spLocks noGrp="1"/>
          </p:cNvSpPr>
          <p:nvPr>
            <p:ph type="dt" sz="quarter" idx="1"/>
          </p:nvPr>
        </p:nvSpPr>
        <p:spPr>
          <a:xfrm>
            <a:off x="4143376" y="2"/>
            <a:ext cx="3170238" cy="479427"/>
          </a:xfrm>
          <a:prstGeom prst="rect">
            <a:avLst/>
          </a:prstGeom>
        </p:spPr>
        <p:txBody>
          <a:bodyPr vert="horz" lIns="82964" tIns="41482" rIns="82964" bIns="41482" rtlCol="0"/>
          <a:lstStyle>
            <a:lvl1pPr algn="r">
              <a:defRPr sz="1100"/>
            </a:lvl1pPr>
          </a:lstStyle>
          <a:p>
            <a:fld id="{5CAE133A-4028-4E2B-B049-6F148B77E5AB}" type="datetime1">
              <a:rPr lang="en-US" smtClean="0"/>
            </a:fld>
            <a:endParaRPr lang="en-US"/>
          </a:p>
        </p:txBody>
      </p:sp>
      <p:sp>
        <p:nvSpPr>
          <p:cNvPr id="4" name="Footer Placeholder 3"/>
          <p:cNvSpPr>
            <a:spLocks noGrp="1"/>
          </p:cNvSpPr>
          <p:nvPr>
            <p:ph type="ftr" sz="quarter" idx="2"/>
          </p:nvPr>
        </p:nvSpPr>
        <p:spPr>
          <a:xfrm>
            <a:off x="3" y="9120189"/>
            <a:ext cx="3170238" cy="479427"/>
          </a:xfrm>
          <a:prstGeom prst="rect">
            <a:avLst/>
          </a:prstGeom>
        </p:spPr>
        <p:txBody>
          <a:bodyPr vert="horz" lIns="82964" tIns="41482" rIns="82964" bIns="41482" rtlCol="0" anchor="b"/>
          <a:lstStyle>
            <a:lvl1pPr algn="l">
              <a:defRPr sz="1100"/>
            </a:lvl1pPr>
          </a:lstStyle>
          <a:p>
            <a:endParaRPr lang="en-US"/>
          </a:p>
        </p:txBody>
      </p:sp>
      <p:sp>
        <p:nvSpPr>
          <p:cNvPr id="5" name="Slide Number Placeholder 4"/>
          <p:cNvSpPr>
            <a:spLocks noGrp="1"/>
          </p:cNvSpPr>
          <p:nvPr>
            <p:ph type="sldNum" sz="quarter" idx="3"/>
          </p:nvPr>
        </p:nvSpPr>
        <p:spPr>
          <a:xfrm>
            <a:off x="4143376" y="9120189"/>
            <a:ext cx="3170238" cy="479427"/>
          </a:xfrm>
          <a:prstGeom prst="rect">
            <a:avLst/>
          </a:prstGeom>
        </p:spPr>
        <p:txBody>
          <a:bodyPr vert="horz" lIns="82964" tIns="41482" rIns="82964" bIns="41482" rtlCol="0" anchor="b"/>
          <a:lstStyle>
            <a:lvl1pPr algn="r">
              <a:defRPr sz="1100"/>
            </a:lvl1pPr>
          </a:lstStyle>
          <a:p>
            <a:fld id="{4825AA9F-B079-466D-A19E-A0BED09FA175}" type="slidenum">
              <a:rPr lang="en-US" smtClean="0"/>
            </a:fld>
            <a:endParaRPr lang="en-US"/>
          </a:p>
        </p:txBody>
      </p:sp>
    </p:spTree>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87701" tIns="43851" rIns="87701" bIns="43851" rtlCol="0"/>
          <a:lstStyle>
            <a:lvl1pPr algn="l">
              <a:defRPr sz="1200"/>
            </a:lvl1pPr>
          </a:lstStyle>
          <a:p>
            <a:endParaRPr lang="en-US"/>
          </a:p>
        </p:txBody>
      </p:sp>
      <p:sp>
        <p:nvSpPr>
          <p:cNvPr id="3" name="Date Placeholder 2"/>
          <p:cNvSpPr>
            <a:spLocks noGrp="1"/>
          </p:cNvSpPr>
          <p:nvPr>
            <p:ph type="dt" idx="1"/>
          </p:nvPr>
        </p:nvSpPr>
        <p:spPr>
          <a:xfrm>
            <a:off x="4143590" y="1"/>
            <a:ext cx="3169920" cy="480060"/>
          </a:xfrm>
          <a:prstGeom prst="rect">
            <a:avLst/>
          </a:prstGeom>
        </p:spPr>
        <p:txBody>
          <a:bodyPr vert="horz" lIns="87701" tIns="43851" rIns="87701" bIns="43851" rtlCol="0"/>
          <a:lstStyle>
            <a:lvl1pPr algn="r">
              <a:defRPr sz="1200"/>
            </a:lvl1pPr>
          </a:lstStyle>
          <a:p>
            <a:fld id="{A9B5FCE6-2331-4AF4-8362-9D091070A463}" type="datetime1">
              <a:rPr lang="en-US" smtClean="0"/>
            </a:fld>
            <a:endParaRPr lang="en-US"/>
          </a:p>
        </p:txBody>
      </p:sp>
      <p:sp>
        <p:nvSpPr>
          <p:cNvPr id="4" name="Slide Image Placeholder 3"/>
          <p:cNvSpPr>
            <a:spLocks noGrp="1" noRot="1" noChangeAspect="1"/>
          </p:cNvSpPr>
          <p:nvPr>
            <p:ph type="sldImg" idx="2"/>
          </p:nvPr>
        </p:nvSpPr>
        <p:spPr>
          <a:xfrm>
            <a:off x="1257300" y="722313"/>
            <a:ext cx="4800600" cy="3600450"/>
          </a:xfrm>
          <a:prstGeom prst="rect">
            <a:avLst/>
          </a:prstGeom>
          <a:noFill/>
          <a:ln w="12700">
            <a:solidFill>
              <a:prstClr val="black"/>
            </a:solidFill>
          </a:ln>
        </p:spPr>
        <p:txBody>
          <a:bodyPr vert="horz" lIns="87701" tIns="43851" rIns="87701" bIns="43851" rtlCol="0" anchor="ctr"/>
          <a:lstStyle/>
          <a:p>
            <a:endParaRPr lang="en-US"/>
          </a:p>
        </p:txBody>
      </p:sp>
      <p:sp>
        <p:nvSpPr>
          <p:cNvPr id="5" name="Notes Placeholder 4"/>
          <p:cNvSpPr>
            <a:spLocks noGrp="1"/>
          </p:cNvSpPr>
          <p:nvPr>
            <p:ph type="body" sz="quarter" idx="3"/>
          </p:nvPr>
        </p:nvSpPr>
        <p:spPr>
          <a:xfrm>
            <a:off x="731521" y="4560570"/>
            <a:ext cx="5852160" cy="4320540"/>
          </a:xfrm>
          <a:prstGeom prst="rect">
            <a:avLst/>
          </a:prstGeom>
        </p:spPr>
        <p:txBody>
          <a:bodyPr vert="horz" lIns="87701" tIns="43851" rIns="87701" bIns="43851"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87701" tIns="43851" rIns="87701" bIns="43851" rtlCol="0" anchor="b"/>
          <a:lstStyle>
            <a:lvl1pPr algn="l">
              <a:defRPr sz="1200"/>
            </a:lvl1pPr>
          </a:lstStyle>
          <a:p>
            <a:endParaRPr lang="en-US"/>
          </a:p>
        </p:txBody>
      </p:sp>
      <p:sp>
        <p:nvSpPr>
          <p:cNvPr id="7" name="Slide Number Placeholder 6"/>
          <p:cNvSpPr>
            <a:spLocks noGrp="1"/>
          </p:cNvSpPr>
          <p:nvPr>
            <p:ph type="sldNum" sz="quarter" idx="5"/>
          </p:nvPr>
        </p:nvSpPr>
        <p:spPr>
          <a:xfrm>
            <a:off x="4143590" y="9119474"/>
            <a:ext cx="3169920" cy="480060"/>
          </a:xfrm>
          <a:prstGeom prst="rect">
            <a:avLst/>
          </a:prstGeom>
        </p:spPr>
        <p:txBody>
          <a:bodyPr vert="horz" lIns="87701" tIns="43851" rIns="87701" bIns="43851" rtlCol="0" anchor="b"/>
          <a:lstStyle>
            <a:lvl1pPr algn="r">
              <a:defRPr sz="1200"/>
            </a:lvl1pPr>
          </a:lstStyle>
          <a:p>
            <a:fld id="{7106D8DA-1A55-4414-9F6D-9B871CCC3BEB}" type="slidenum">
              <a:rPr lang="en-US" smtClean="0"/>
            </a:fld>
            <a:endParaRPr lang="en-US"/>
          </a:p>
        </p:txBody>
      </p:sp>
    </p:spTree>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06D8DA-1A55-4414-9F6D-9B871CCC3BEB}" type="slidenum">
              <a:rPr lang="en-US" smtClean="0"/>
            </a:fld>
            <a:endParaRPr lang="en-US"/>
          </a:p>
        </p:txBody>
      </p:sp>
      <p:sp>
        <p:nvSpPr>
          <p:cNvPr id="5" name="Date Placeholder 4"/>
          <p:cNvSpPr>
            <a:spLocks noGrp="1"/>
          </p:cNvSpPr>
          <p:nvPr>
            <p:ph type="dt" idx="11"/>
          </p:nvPr>
        </p:nvSpPr>
        <p:spPr/>
        <p:txBody>
          <a:bodyPr/>
          <a:lstStyle/>
          <a:p>
            <a:fld id="{5899B3EB-F4B9-4EC3-8874-9456869D1B5F}" type="datetime1">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A7DCE520-94D8-471E-9246-3DA957E543CE}"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lvl1pPr>
          </a:lstStyle>
          <a:p>
            <a:fld id="{B6F15528-21DE-4FAA-801E-634DDDAF4B2B}" type="slidenum">
              <a:rPr lang="en-US" smtClean="0"/>
            </a:fld>
            <a:r>
              <a:rPr lang="en-US" dirty="0"/>
              <a:t> </a:t>
            </a:r>
            <a:r>
              <a:rPr lang="en-US" dirty="0" smtClean="0"/>
              <a:t>of 21</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320913C-A7DD-4021-AFBC-947EB765CE4C}"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solidFill>
                  <a:schemeClr val="tx1"/>
                </a:solidFill>
              </a:defRPr>
            </a:lvl1pPr>
          </a:lstStyle>
          <a:p>
            <a:fld id="{B6F15528-21DE-4FAA-801E-634DDDAF4B2B}" type="slidenum">
              <a:rPr lang="en-US" smtClean="0"/>
            </a:fld>
            <a:r>
              <a:rPr lang="en-US" dirty="0"/>
              <a:t> </a:t>
            </a:r>
            <a:r>
              <a:rPr lang="en-US" dirty="0" smtClean="0"/>
              <a:t>of 21</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AD264FA-CC1B-47DB-A93A-6B4BBC436045}"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lvl1pPr>
          </a:lstStyle>
          <a:p>
            <a:fld id="{B6F15528-21DE-4FAA-801E-634DDDAF4B2B}" type="slidenum">
              <a:rPr lang="en-US" smtClean="0"/>
            </a:fld>
            <a:r>
              <a:rPr lang="en-US" dirty="0"/>
              <a:t> </a:t>
            </a:r>
            <a:r>
              <a:rPr lang="en-US" dirty="0" smtClean="0"/>
              <a:t>of 21</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D99BA4E8-8C0A-4D25-81B1-03C2082B47D6}"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lvl1pPr>
          </a:lstStyle>
          <a:p>
            <a:fld id="{B6F15528-21DE-4FAA-801E-634DDDAF4B2B}" type="slidenum">
              <a:rPr lang="en-US" smtClean="0"/>
            </a:fld>
            <a:r>
              <a:rPr lang="en-US" dirty="0"/>
              <a:t> </a:t>
            </a:r>
            <a:r>
              <a:rPr lang="en-US" dirty="0" smtClean="0"/>
              <a:t>of 21</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F081D4E8-1CCE-4EFF-A36C-E105DDD56AAD}"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lvl1pPr>
          </a:lstStyle>
          <a:p>
            <a:fld id="{B6F15528-21DE-4FAA-801E-634DDDAF4B2B}" type="slidenum">
              <a:rPr lang="en-US" smtClean="0"/>
            </a:fld>
            <a:r>
              <a:rPr lang="en-US" dirty="0"/>
              <a:t> </a:t>
            </a:r>
            <a:r>
              <a:rPr lang="en-US" dirty="0" smtClean="0"/>
              <a:t>of 21</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83C1C7D-1228-46DC-9402-5957496C3C04}" type="datetime1">
              <a:rPr lang="en-US" smtClean="0"/>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r>
              <a:rPr lang="en-US" dirty="0"/>
              <a:t> </a:t>
            </a:r>
            <a:r>
              <a:rPr lang="en-US" dirty="0" smtClean="0"/>
              <a:t>of 21</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04DF6C-52F4-4529-BC53-6E2674900ED7}"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lvl1pPr>
          </a:lstStyle>
          <a:p>
            <a:fld id="{B6F15528-21DE-4FAA-801E-634DDDAF4B2B}" type="slidenum">
              <a:rPr lang="en-US" smtClean="0"/>
            </a:fld>
            <a:r>
              <a:rPr lang="en-US" dirty="0"/>
              <a:t> </a:t>
            </a:r>
            <a:r>
              <a:rPr lang="en-US" dirty="0" smtClean="0"/>
              <a:t>of 21</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448FFD2-C90D-4BD9-95AC-D49FE82B0BB0}"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lvl1pPr>
          </a:lstStyle>
          <a:p>
            <a:fld id="{B6F15528-21DE-4FAA-801E-634DDDAF4B2B}" type="slidenum">
              <a:rPr lang="en-US" smtClean="0"/>
            </a:fld>
            <a:r>
              <a:rPr lang="en-US" dirty="0"/>
              <a:t> </a:t>
            </a:r>
            <a:r>
              <a:rPr lang="en-US" dirty="0" smtClean="0"/>
              <a:t>of 21</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AAB32C9-888E-4264-AE70-E187E0827B99}"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lvl1pPr>
          </a:lstStyle>
          <a:p>
            <a:fld id="{B6F15528-21DE-4FAA-801E-634DDDAF4B2B}" type="slidenum">
              <a:rPr lang="en-US" smtClean="0"/>
            </a:fld>
            <a:r>
              <a:rPr lang="en-US" dirty="0"/>
              <a:t> </a:t>
            </a:r>
            <a:r>
              <a:rPr lang="en-US" dirty="0" smtClean="0"/>
              <a:t>of 21</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109A059-0900-46A5-86CD-6CBACA225E83}"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lvl1pPr>
          </a:lstStyle>
          <a:p>
            <a:fld id="{B6F15528-21DE-4FAA-801E-634DDDAF4B2B}" type="slidenum">
              <a:rPr lang="en-US" smtClean="0"/>
            </a:fld>
            <a:r>
              <a:rPr lang="en-US" dirty="0"/>
              <a:t> </a:t>
            </a:r>
            <a:r>
              <a:rPr lang="en-US" dirty="0" smtClean="0"/>
              <a:t>of 21</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E5F0799-E2B8-4119-BEA9-5BBF8CE2B0FA}"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marL="0" marR="0" indent="0" algn="r" defTabSz="914400" rtl="0" eaLnBrk="1" fontAlgn="auto" latinLnBrk="0" hangingPunct="1">
              <a:lnSpc>
                <a:spcPct val="100000"/>
              </a:lnSpc>
              <a:spcBef>
                <a:spcPts val="0"/>
              </a:spcBef>
              <a:spcAft>
                <a:spcPts val="0"/>
              </a:spcAft>
              <a:buClrTx/>
              <a:buSzTx/>
              <a:buFontTx/>
              <a:buNone/>
              <a:defRPr/>
            </a:lvl1pPr>
          </a:lstStyle>
          <a:p>
            <a:fld id="{B6F15528-21DE-4FAA-801E-634DDDAF4B2B}" type="slidenum">
              <a:rPr lang="en-US" smtClean="0"/>
            </a:fld>
            <a:r>
              <a:rPr lang="en-US" dirty="0"/>
              <a:t> </a:t>
            </a:r>
            <a:r>
              <a:rPr lang="en-US" dirty="0" smtClean="0"/>
              <a:t>of 21</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CC945B-C34E-410F-BC8F-BE6BC04FBFD5}" type="datetime1">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r>
              <a:rPr lang="en-US" dirty="0"/>
              <a:t> </a:t>
            </a:r>
            <a:r>
              <a:rPr lang="en-US" dirty="0" smtClean="0"/>
              <a:t>of 21</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8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8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8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1549" y="4859834"/>
            <a:ext cx="7239000" cy="830997"/>
          </a:xfrm>
          <a:prstGeom prst="rect">
            <a:avLst/>
          </a:prstGeom>
          <a:noFill/>
          <a:ln w="3175">
            <a:solidFill>
              <a:schemeClr val="tx1"/>
            </a:solidFill>
          </a:ln>
        </p:spPr>
        <p:txBody>
          <a:bodyPr wrap="square" rtlCol="0">
            <a:spAutoFit/>
          </a:bodyPr>
          <a:lstStyle/>
          <a:p>
            <a:pPr lvl="0" algn="ctr"/>
            <a:r>
              <a:rPr lang="en-US" sz="2800" cap="small" dirty="0"/>
              <a:t>Dr. Asif Zaman</a:t>
            </a:r>
            <a:endParaRPr lang="en-US" sz="2800" cap="small" dirty="0"/>
          </a:p>
          <a:p>
            <a:pPr lvl="0" algn="ctr"/>
            <a:r>
              <a:rPr lang="en-US" cap="small" dirty="0" smtClean="0"/>
              <a:t>Professor</a:t>
            </a:r>
            <a:r>
              <a:rPr lang="en-US" cap="small" dirty="0"/>
              <a:t>, CSE, RU</a:t>
            </a:r>
            <a:endParaRPr lang="en-US" sz="1600" cap="small" dirty="0"/>
          </a:p>
        </p:txBody>
      </p:sp>
      <p:sp>
        <p:nvSpPr>
          <p:cNvPr id="6" name="TextBox 5"/>
          <p:cNvSpPr txBox="1"/>
          <p:nvPr/>
        </p:nvSpPr>
        <p:spPr>
          <a:xfrm>
            <a:off x="228598" y="363512"/>
            <a:ext cx="8724900" cy="1384995"/>
          </a:xfrm>
          <a:prstGeom prst="rect">
            <a:avLst/>
          </a:prstGeom>
          <a:noFill/>
        </p:spPr>
        <p:txBody>
          <a:bodyPr wrap="square" rtlCol="0">
            <a:spAutoFit/>
          </a:bodyPr>
          <a:lstStyle/>
          <a:p>
            <a:pPr algn="ctr">
              <a:buSzPct val="50000"/>
            </a:pPr>
            <a:r>
              <a:rPr lang="en-US" sz="2400" b="1" dirty="0" smtClean="0">
                <a:latin typeface="Times New Roman" panose="02020603050405020304" pitchFamily="18" charset="0"/>
                <a:cs typeface="Times New Roman" panose="02020603050405020304" pitchFamily="18" charset="0"/>
              </a:rPr>
              <a:t>CSE3251</a:t>
            </a:r>
            <a:r>
              <a:rPr lang="en-US" sz="3600" b="1" dirty="0" smtClean="0">
                <a:latin typeface="Times New Roman" panose="02020603050405020304" pitchFamily="18" charset="0"/>
                <a:cs typeface="Times New Roman" panose="02020603050405020304" pitchFamily="18" charset="0"/>
              </a:rPr>
              <a:t> </a:t>
            </a:r>
            <a:endParaRPr lang="en-US" sz="3600" b="1" dirty="0">
              <a:latin typeface="Times New Roman" panose="02020603050405020304" pitchFamily="18" charset="0"/>
              <a:cs typeface="Times New Roman" panose="02020603050405020304" pitchFamily="18" charset="0"/>
            </a:endParaRPr>
          </a:p>
          <a:p>
            <a:pPr algn="ctr">
              <a:buSzPct val="50000"/>
            </a:pPr>
            <a:r>
              <a:rPr lang="en-US" sz="4800" b="1" cap="small" dirty="0">
                <a:latin typeface="Times New Roman" panose="02020603050405020304" pitchFamily="18" charset="0"/>
                <a:cs typeface="Times New Roman" panose="02020603050405020304" pitchFamily="18" charset="0"/>
              </a:rPr>
              <a:t>Computer Networks</a:t>
            </a:r>
            <a:endParaRPr lang="en-US" sz="4800" b="1" cap="small"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cstate="print">
            <a:extLst>
              <a:ext uri="{BEBA8EAE-BF5A-486C-A8C5-ECC9F3942E4B}">
                <a14:imgProps xmlns:a14="http://schemas.microsoft.com/office/drawing/2010/main">
                  <a14:imgLayer r:embed="rId2">
                    <a14:imgEffect>
                      <a14:saturation sat="66000"/>
                    </a14:imgEffect>
                  </a14:imgLayer>
                </a14:imgProps>
              </a:ext>
              <a:ext uri="{28A0092B-C50C-407E-A947-70E740481C1C}">
                <a14:useLocalDpi xmlns:a14="http://schemas.microsoft.com/office/drawing/2010/main" val="0"/>
              </a:ext>
            </a:extLst>
          </a:blip>
          <a:stretch>
            <a:fillRect/>
          </a:stretch>
        </p:blipFill>
        <p:spPr>
          <a:xfrm>
            <a:off x="3818150" y="2477464"/>
            <a:ext cx="1545795" cy="1440000"/>
          </a:xfrm>
          <a:prstGeom prst="rect">
            <a:avLst/>
          </a:prstGeom>
        </p:spPr>
      </p:pic>
      <p:sp>
        <p:nvSpPr>
          <p:cNvPr id="4" name="TextBox 3"/>
          <p:cNvSpPr txBox="1"/>
          <p:nvPr/>
        </p:nvSpPr>
        <p:spPr>
          <a:xfrm>
            <a:off x="6296628" y="6504972"/>
            <a:ext cx="184731" cy="369332"/>
          </a:xfrm>
          <a:prstGeom prst="rect">
            <a:avLst/>
          </a:prstGeom>
          <a:noFill/>
        </p:spPr>
        <p:txBody>
          <a:bodyPr wrap="none" rtlCol="0">
            <a:spAutoFit/>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6455" y="1295400"/>
            <a:ext cx="8787545" cy="4301767"/>
          </a:xfrm>
          <a:prstGeom prst="rect">
            <a:avLst/>
          </a:prstGeom>
        </p:spPr>
      </p:pic>
      <p:sp>
        <p:nvSpPr>
          <p:cNvPr id="4" name="Rounded Rectangle 3"/>
          <p:cNvSpPr/>
          <p:nvPr/>
        </p:nvSpPr>
        <p:spPr>
          <a:xfrm>
            <a:off x="338167" y="3255783"/>
            <a:ext cx="8668139" cy="381000"/>
          </a:xfrm>
          <a:prstGeom prst="roundRect">
            <a:avLst/>
          </a:prstGeom>
          <a:solidFill>
            <a:schemeClr val="accent2">
              <a:alpha val="10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21</a:t>
            </a:r>
            <a:endParaRPr lang="en-US" dirty="0"/>
          </a:p>
        </p:txBody>
      </p:sp>
      <p:sp>
        <p:nvSpPr>
          <p:cNvPr id="9" name="TextBox 8"/>
          <p:cNvSpPr txBox="1"/>
          <p:nvPr/>
        </p:nvSpPr>
        <p:spPr>
          <a:xfrm>
            <a:off x="1600200" y="3581400"/>
            <a:ext cx="2513124" cy="369332"/>
          </a:xfrm>
          <a:prstGeom prst="rect">
            <a:avLst/>
          </a:prstGeom>
          <a:solidFill>
            <a:schemeClr val="bg1">
              <a:lumMod val="95000"/>
            </a:schemeClr>
          </a:solidFill>
          <a:ln>
            <a:solidFill>
              <a:schemeClr val="tx1"/>
            </a:solidFill>
          </a:ln>
        </p:spPr>
        <p:txBody>
          <a:bodyPr wrap="none" rtlCol="0">
            <a:spAutoFit/>
          </a:bodyPr>
          <a:lstStyle/>
          <a:p>
            <a:r>
              <a:rPr lang="en-US" dirty="0"/>
              <a:t>Medium Access Sublayer</a:t>
            </a:r>
            <a:endParaRPr lang="en-US" dirty="0"/>
          </a:p>
        </p:txBody>
      </p:sp>
      <p:pic>
        <p:nvPicPr>
          <p:cNvPr id="6" name="Picture 5"/>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971800" y="1037228"/>
            <a:ext cx="4246538" cy="34734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dirty="0"/>
              <a:t>Ethernet</a:t>
            </a:r>
            <a:endParaRPr lang="en-US" cap="small" dirty="0"/>
          </a:p>
        </p:txBody>
      </p:sp>
      <p:sp>
        <p:nvSpPr>
          <p:cNvPr id="3" name="Content Placeholder 2"/>
          <p:cNvSpPr>
            <a:spLocks noGrp="1"/>
          </p:cNvSpPr>
          <p:nvPr>
            <p:ph idx="1"/>
          </p:nvPr>
        </p:nvSpPr>
        <p:spPr/>
        <p:txBody>
          <a:bodyPr>
            <a:normAutofit/>
          </a:bodyPr>
          <a:lstStyle/>
          <a:p>
            <a:r>
              <a:rPr lang="en-US" sz="2400" dirty="0"/>
              <a:t> Many of the designs for </a:t>
            </a:r>
            <a:r>
              <a:rPr lang="en-US" sz="2400" b="1" dirty="0">
                <a:effectLst>
                  <a:glow rad="228600">
                    <a:schemeClr val="accent6">
                      <a:satMod val="175000"/>
                      <a:alpha val="40000"/>
                    </a:schemeClr>
                  </a:glow>
                </a:effectLst>
              </a:rPr>
              <a:t>PAN, LAN, and MAN</a:t>
            </a:r>
            <a:r>
              <a:rPr lang="en-US" sz="2400" dirty="0" smtClean="0"/>
              <a:t>…  </a:t>
            </a:r>
            <a:r>
              <a:rPr lang="en-US" sz="2400" dirty="0"/>
              <a:t>standardized under the name of </a:t>
            </a:r>
            <a:r>
              <a:rPr lang="en-US" sz="2400" b="1" dirty="0">
                <a:effectLst>
                  <a:glow rad="228600">
                    <a:schemeClr val="accent6">
                      <a:satMod val="175000"/>
                      <a:alpha val="40000"/>
                    </a:schemeClr>
                  </a:glow>
                </a:effectLst>
              </a:rPr>
              <a:t>IEEE 802</a:t>
            </a:r>
            <a:r>
              <a:rPr lang="en-US" sz="2400" dirty="0"/>
              <a:t>.</a:t>
            </a:r>
            <a:endParaRPr lang="en-US" sz="2400" dirty="0"/>
          </a:p>
          <a:p>
            <a:r>
              <a:rPr lang="en-US" sz="2400" dirty="0"/>
              <a:t>A </a:t>
            </a:r>
            <a:r>
              <a:rPr lang="en-US" sz="2400" b="1" dirty="0">
                <a:effectLst>
                  <a:glow rad="228600">
                    <a:schemeClr val="accent6">
                      <a:satMod val="175000"/>
                      <a:alpha val="40000"/>
                    </a:schemeClr>
                  </a:glow>
                </a:effectLst>
              </a:rPr>
              <a:t>few have survived</a:t>
            </a:r>
            <a:r>
              <a:rPr lang="en-US" sz="2400" dirty="0"/>
              <a:t> but many have not.</a:t>
            </a:r>
            <a:endParaRPr lang="en-US" sz="2400" dirty="0"/>
          </a:p>
          <a:p>
            <a:r>
              <a:rPr lang="en-US" sz="2400" dirty="0"/>
              <a:t>The most important of the survivors are:</a:t>
            </a:r>
            <a:endParaRPr lang="en-US" sz="2400" dirty="0"/>
          </a:p>
          <a:p>
            <a:pPr lvl="1"/>
            <a:r>
              <a:rPr lang="en-US" sz="2400" b="1" dirty="0"/>
              <a:t> </a:t>
            </a:r>
            <a:r>
              <a:rPr lang="en-US" sz="2400" b="1" dirty="0">
                <a:effectLst>
                  <a:glow rad="228600">
                    <a:schemeClr val="accent6">
                      <a:satMod val="175000"/>
                      <a:alpha val="40000"/>
                    </a:schemeClr>
                  </a:glow>
                </a:effectLst>
              </a:rPr>
              <a:t>802.3 (Ethernet) </a:t>
            </a:r>
            <a:r>
              <a:rPr lang="en-US" sz="2400" dirty="0"/>
              <a:t>and</a:t>
            </a:r>
            <a:endParaRPr lang="en-US" sz="2400" dirty="0"/>
          </a:p>
          <a:p>
            <a:pPr lvl="1"/>
            <a:r>
              <a:rPr lang="en-US" sz="2400" b="1" dirty="0"/>
              <a:t>802.11 (wireless LAN)</a:t>
            </a:r>
            <a:endParaRPr lang="en-US" sz="2400" b="1" dirty="0"/>
          </a:p>
          <a:p>
            <a:pPr lvl="1"/>
            <a:r>
              <a:rPr lang="en-US" sz="2400" b="1" dirty="0"/>
              <a:t>Bluetooth (wireless PAN) </a:t>
            </a:r>
            <a:r>
              <a:rPr lang="en-US" sz="2400" dirty="0"/>
              <a:t>is widely deployed but has now</a:t>
            </a:r>
            <a:endParaRPr lang="en-US" sz="2400" dirty="0"/>
          </a:p>
          <a:p>
            <a:pPr marL="457200" lvl="1" indent="0">
              <a:buNone/>
            </a:pPr>
            <a:r>
              <a:rPr lang="en-US" sz="2400" dirty="0"/>
              <a:t>been standardized </a:t>
            </a:r>
            <a:r>
              <a:rPr lang="en-US" sz="2400" b="1" dirty="0" smtClean="0"/>
              <a:t>802.15</a:t>
            </a:r>
            <a:r>
              <a:rPr lang="en-US" sz="2400" b="1" dirty="0"/>
              <a:t>.</a:t>
            </a:r>
            <a:r>
              <a:rPr lang="en-US" sz="2400" dirty="0"/>
              <a:t> </a:t>
            </a:r>
            <a:endParaRPr lang="en-US" sz="2400" dirty="0" smtClean="0"/>
          </a:p>
          <a:p>
            <a:pPr lvl="1"/>
            <a:r>
              <a:rPr lang="en-US" sz="2400" dirty="0" smtClean="0"/>
              <a:t>With </a:t>
            </a:r>
            <a:r>
              <a:rPr lang="en-US" sz="2400" b="1" dirty="0"/>
              <a:t>802.16 (wireless MAN)</a:t>
            </a:r>
            <a:endParaRPr lang="en-US" sz="2400" b="1" dirty="0"/>
          </a:p>
          <a:p>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21</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smtClean="0"/>
              <a:t> of 21</a:t>
            </a:r>
            <a:endParaRPr lang="en-US" dirty="0"/>
          </a:p>
        </p:txBody>
      </p:sp>
      <p:pic>
        <p:nvPicPr>
          <p:cNvPr id="1026" name="Picture 2" descr="IEEE 802.11.x wireless standards"/>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702468" y="304800"/>
            <a:ext cx="6917532" cy="230584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04800" y="3657600"/>
            <a:ext cx="8153400" cy="2308324"/>
          </a:xfrm>
          <a:prstGeom prst="rect">
            <a:avLst/>
          </a:prstGeom>
        </p:spPr>
        <p:txBody>
          <a:bodyPr wrap="square">
            <a:spAutoFit/>
          </a:bodyPr>
          <a:lstStyle/>
          <a:p>
            <a:pPr marL="285750" indent="-285750" algn="just">
              <a:buFont typeface="Arial" panose="02080604020202020204" pitchFamily="34" charset="0"/>
              <a:buChar char="•"/>
            </a:pPr>
            <a:r>
              <a:rPr lang="en-US" sz="2400" dirty="0">
                <a:solidFill>
                  <a:schemeClr val="tx2">
                    <a:lumMod val="50000"/>
                  </a:schemeClr>
                </a:solidFill>
                <a:latin typeface="+mj-lt"/>
              </a:rPr>
              <a:t>The 802.11 standard, approved in </a:t>
            </a:r>
            <a:r>
              <a:rPr lang="en-US" sz="2400" dirty="0">
                <a:solidFill>
                  <a:schemeClr val="tx2">
                    <a:lumMod val="50000"/>
                  </a:schemeClr>
                </a:solidFill>
                <a:effectLst>
                  <a:glow rad="228600">
                    <a:schemeClr val="accent6">
                      <a:satMod val="175000"/>
                      <a:alpha val="40000"/>
                    </a:schemeClr>
                  </a:glow>
                  <a:outerShdw blurRad="38100" dist="38100" dir="2700000" algn="tl">
                    <a:srgbClr val="000000">
                      <a:alpha val="43137"/>
                    </a:srgbClr>
                  </a:outerShdw>
                </a:effectLst>
                <a:latin typeface="+mj-lt"/>
              </a:rPr>
              <a:t>1997</a:t>
            </a:r>
            <a:r>
              <a:rPr lang="en-US" sz="2400" dirty="0">
                <a:solidFill>
                  <a:schemeClr val="tx2">
                    <a:lumMod val="50000"/>
                  </a:schemeClr>
                </a:solidFill>
                <a:latin typeface="+mj-lt"/>
              </a:rPr>
              <a:t>, applies to wireless LANs with a 1 or </a:t>
            </a:r>
            <a:r>
              <a:rPr lang="en-US" sz="2400" dirty="0">
                <a:solidFill>
                  <a:schemeClr val="tx2">
                    <a:lumMod val="50000"/>
                  </a:schemeClr>
                </a:solidFill>
                <a:effectLst>
                  <a:glow rad="228600">
                    <a:schemeClr val="accent6">
                      <a:satMod val="175000"/>
                      <a:alpha val="40000"/>
                    </a:schemeClr>
                  </a:glow>
                </a:effectLst>
                <a:latin typeface="+mj-lt"/>
              </a:rPr>
              <a:t>2 Mbps</a:t>
            </a:r>
            <a:r>
              <a:rPr lang="en-US" sz="2400" dirty="0">
                <a:solidFill>
                  <a:schemeClr val="tx2">
                    <a:lumMod val="50000"/>
                  </a:schemeClr>
                </a:solidFill>
                <a:latin typeface="+mj-lt"/>
              </a:rPr>
              <a:t> transmission rate in the </a:t>
            </a:r>
            <a:r>
              <a:rPr lang="en-US" sz="2400" dirty="0">
                <a:solidFill>
                  <a:schemeClr val="tx2">
                    <a:lumMod val="50000"/>
                  </a:schemeClr>
                </a:solidFill>
                <a:effectLst>
                  <a:glow rad="228600">
                    <a:schemeClr val="accent6">
                      <a:satMod val="175000"/>
                      <a:alpha val="40000"/>
                    </a:schemeClr>
                  </a:glow>
                </a:effectLst>
                <a:latin typeface="+mj-lt"/>
              </a:rPr>
              <a:t>2.4 GHz </a:t>
            </a:r>
            <a:r>
              <a:rPr lang="en-US" sz="2400" dirty="0" smtClean="0">
                <a:solidFill>
                  <a:schemeClr val="tx2">
                    <a:lumMod val="50000"/>
                  </a:schemeClr>
                </a:solidFill>
                <a:effectLst>
                  <a:glow rad="228600">
                    <a:schemeClr val="accent6">
                      <a:satMod val="175000"/>
                      <a:alpha val="40000"/>
                    </a:schemeClr>
                  </a:glow>
                </a:effectLst>
                <a:latin typeface="+mj-lt"/>
              </a:rPr>
              <a:t>band</a:t>
            </a:r>
            <a:r>
              <a:rPr lang="en-US" sz="2400" dirty="0" smtClean="0">
                <a:solidFill>
                  <a:schemeClr val="tx2">
                    <a:lumMod val="50000"/>
                  </a:schemeClr>
                </a:solidFill>
                <a:latin typeface="+mj-lt"/>
              </a:rPr>
              <a:t>.</a:t>
            </a:r>
            <a:endParaRPr lang="en-US" sz="2400" dirty="0" smtClean="0">
              <a:solidFill>
                <a:schemeClr val="tx2">
                  <a:lumMod val="50000"/>
                </a:schemeClr>
              </a:solidFill>
              <a:latin typeface="+mj-lt"/>
            </a:endParaRPr>
          </a:p>
          <a:p>
            <a:pPr marL="285750" indent="-285750" algn="just">
              <a:buFont typeface="Arial" panose="02080604020202020204" pitchFamily="34" charset="0"/>
              <a:buChar char="•"/>
            </a:pPr>
            <a:endParaRPr lang="en-US" sz="2400" dirty="0" smtClean="0">
              <a:solidFill>
                <a:schemeClr val="tx2">
                  <a:lumMod val="50000"/>
                </a:schemeClr>
              </a:solidFill>
              <a:latin typeface="+mj-lt"/>
            </a:endParaRPr>
          </a:p>
          <a:p>
            <a:pPr marL="285750" indent="-285750" algn="just">
              <a:buFont typeface="Arial" panose="02080604020202020204" pitchFamily="34" charset="0"/>
              <a:buChar char="•"/>
            </a:pPr>
            <a:r>
              <a:rPr lang="en-US" sz="2400" dirty="0" smtClean="0">
                <a:solidFill>
                  <a:schemeClr val="tx2">
                    <a:lumMod val="50000"/>
                  </a:schemeClr>
                </a:solidFill>
                <a:latin typeface="+mj-lt"/>
              </a:rPr>
              <a:t>Sometimes </a:t>
            </a:r>
            <a:r>
              <a:rPr lang="en-US" sz="2400" dirty="0">
                <a:solidFill>
                  <a:schemeClr val="tx2">
                    <a:lumMod val="50000"/>
                  </a:schemeClr>
                </a:solidFill>
                <a:latin typeface="+mj-lt"/>
              </a:rPr>
              <a:t>the term 802.11 is used to refer to the 802.11x family of specifications</a:t>
            </a:r>
            <a:r>
              <a:rPr lang="en-US" sz="2400" dirty="0" smtClean="0">
                <a:solidFill>
                  <a:schemeClr val="tx2">
                    <a:lumMod val="50000"/>
                  </a:schemeClr>
                </a:solidFill>
                <a:latin typeface="+mj-lt"/>
              </a:rPr>
              <a:t>.</a:t>
            </a:r>
            <a:endParaRPr lang="en-US" sz="2400" dirty="0">
              <a:solidFill>
                <a:schemeClr val="tx2">
                  <a:lumMod val="50000"/>
                </a:schemeClr>
              </a:solidFill>
              <a:latin typeface="+mj-lt"/>
            </a:endParaRPr>
          </a:p>
        </p:txBody>
      </p:sp>
      <p:sp>
        <p:nvSpPr>
          <p:cNvPr id="2" name="Rectangle 1"/>
          <p:cNvSpPr/>
          <p:nvPr/>
        </p:nvSpPr>
        <p:spPr>
          <a:xfrm>
            <a:off x="2286000" y="2672457"/>
            <a:ext cx="5644687" cy="923330"/>
          </a:xfrm>
          <a:prstGeom prst="rect">
            <a:avLst/>
          </a:prstGeom>
          <a:solidFill>
            <a:schemeClr val="bg1"/>
          </a:solidFill>
        </p:spPr>
        <p:txBody>
          <a:bodyPr wrap="none">
            <a:spAutoFit/>
          </a:bodyPr>
          <a:lstStyle/>
          <a:p>
            <a:pPr marL="285750" indent="-285750">
              <a:buFont typeface="Arial" panose="02080604020202020204" pitchFamily="34" charset="0"/>
              <a:buChar char="•"/>
            </a:pPr>
            <a:r>
              <a:rPr lang="en-US" dirty="0" smtClean="0"/>
              <a:t>FHSS (Frequency-hopping Spread Spectrum)</a:t>
            </a:r>
            <a:endParaRPr lang="en-US" dirty="0" smtClean="0"/>
          </a:p>
          <a:p>
            <a:pPr marL="285750" indent="-285750" fontAlgn="base">
              <a:buFont typeface="Arial" panose="02080604020202020204" pitchFamily="34" charset="0"/>
              <a:buChar char="•"/>
            </a:pPr>
            <a:r>
              <a:rPr lang="en-US" dirty="0" smtClean="0"/>
              <a:t>DSSS (Direct-sequence Spread Spectrum)</a:t>
            </a:r>
            <a:endParaRPr lang="en-US" dirty="0" smtClean="0"/>
          </a:p>
          <a:p>
            <a:pPr marL="285750" indent="-285750" fontAlgn="base">
              <a:buFont typeface="Arial" panose="02080604020202020204" pitchFamily="34" charset="0"/>
              <a:buChar char="•"/>
            </a:pPr>
            <a:r>
              <a:rPr lang="en-US" dirty="0" smtClean="0"/>
              <a:t>OFDM (Orthogonal Frequency Division Multiple-Access)</a:t>
            </a:r>
            <a:endParaRPr lang="en-US" dirty="0"/>
          </a:p>
        </p:txBody>
      </p:sp>
      <p:sp>
        <p:nvSpPr>
          <p:cNvPr id="3" name="Rectangle 2"/>
          <p:cNvSpPr/>
          <p:nvPr/>
        </p:nvSpPr>
        <p:spPr>
          <a:xfrm>
            <a:off x="702468" y="609600"/>
            <a:ext cx="6917532" cy="304800"/>
          </a:xfrm>
          <a:prstGeom prst="rect">
            <a:avLst/>
          </a:prstGeom>
          <a:solidFill>
            <a:schemeClr val="accent3">
              <a:lumMod val="75000"/>
              <a:alpha val="33000"/>
            </a:schemeClr>
          </a:solid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1" cstate="print">
            <a:extLst>
              <a:ext uri="{28A0092B-C50C-407E-A947-70E740481C1C}">
                <a14:useLocalDpi xmlns:a14="http://schemas.microsoft.com/office/drawing/2010/main" val="0"/>
              </a:ext>
            </a:extLst>
          </a:blip>
          <a:srcRect t="-1" b="-3821"/>
          <a:stretch>
            <a:fillRect/>
          </a:stretch>
        </p:blipFill>
        <p:spPr>
          <a:xfrm>
            <a:off x="1860550" y="152400"/>
            <a:ext cx="5359675" cy="3962400"/>
          </a:xfrm>
          <a:prstGeom prst="rect">
            <a:avLst/>
          </a:prstGeom>
        </p:spPr>
      </p:pic>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smtClean="0"/>
              <a:t> of 20</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4023015"/>
            <a:ext cx="5315223" cy="2419474"/>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384312" y="246888"/>
            <a:ext cx="6401129" cy="2521080"/>
          </a:xfrm>
          <a:prstGeom prst="rect">
            <a:avLst/>
          </a:prstGeom>
        </p:spPr>
      </p:pic>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smtClean="0"/>
              <a:t> of 20</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2999" y="3214999"/>
            <a:ext cx="6883754" cy="2736991"/>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smtClean="0"/>
              <a:t> of 21</a:t>
            </a:r>
            <a:endParaRPr lang="en-US" dirty="0"/>
          </a:p>
        </p:txBody>
      </p:sp>
      <p:pic>
        <p:nvPicPr>
          <p:cNvPr id="1026" name="Picture 2" descr="IEEE 802.11.x wireless standards"/>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702468" y="304800"/>
            <a:ext cx="6917532" cy="230584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33400" y="2940030"/>
            <a:ext cx="7813460" cy="3416320"/>
          </a:xfrm>
          <a:prstGeom prst="rect">
            <a:avLst/>
          </a:prstGeom>
        </p:spPr>
        <p:txBody>
          <a:bodyPr wrap="square">
            <a:spAutoFit/>
          </a:bodyPr>
          <a:lstStyle/>
          <a:p>
            <a:r>
              <a:rPr lang="en-US" sz="2400" b="1" dirty="0">
                <a:solidFill>
                  <a:srgbClr val="000000"/>
                </a:solidFill>
                <a:latin typeface="+mj-lt"/>
              </a:rPr>
              <a:t>802.11b</a:t>
            </a:r>
            <a:endParaRPr lang="en-US" sz="2400" dirty="0">
              <a:solidFill>
                <a:srgbClr val="000000"/>
              </a:solidFill>
              <a:latin typeface="+mj-lt"/>
            </a:endParaRPr>
          </a:p>
          <a:p>
            <a:pPr marL="285750" indent="-285750" algn="just">
              <a:buFont typeface="Arial" panose="02080604020202020204" pitchFamily="34" charset="0"/>
              <a:buChar char="•"/>
            </a:pPr>
            <a:r>
              <a:rPr lang="en-US" sz="2400" dirty="0">
                <a:solidFill>
                  <a:srgbClr val="000000"/>
                </a:solidFill>
                <a:effectLst>
                  <a:glow rad="228600">
                    <a:schemeClr val="accent6">
                      <a:satMod val="175000"/>
                      <a:alpha val="40000"/>
                    </a:schemeClr>
                  </a:glow>
                </a:effectLst>
                <a:latin typeface="+mj-lt"/>
              </a:rPr>
              <a:t>In September of 1999,</a:t>
            </a:r>
            <a:r>
              <a:rPr lang="en-US" sz="2400" dirty="0">
                <a:solidFill>
                  <a:srgbClr val="000000"/>
                </a:solidFill>
                <a:latin typeface="+mj-lt"/>
              </a:rPr>
              <a:t> </a:t>
            </a:r>
            <a:endParaRPr lang="en-US" sz="2400" dirty="0" smtClean="0">
              <a:solidFill>
                <a:srgbClr val="000000"/>
              </a:solidFill>
              <a:latin typeface="+mj-lt"/>
            </a:endParaRPr>
          </a:p>
          <a:p>
            <a:pPr marL="285750" indent="-285750" algn="just">
              <a:buFont typeface="Arial" panose="02080604020202020204" pitchFamily="34" charset="0"/>
              <a:buChar char="•"/>
            </a:pPr>
            <a:r>
              <a:rPr lang="en-US" sz="2400" dirty="0" smtClean="0">
                <a:solidFill>
                  <a:srgbClr val="000000"/>
                </a:solidFill>
                <a:latin typeface="+mj-lt"/>
              </a:rPr>
              <a:t>It </a:t>
            </a:r>
            <a:r>
              <a:rPr lang="en-US" sz="2400" dirty="0">
                <a:solidFill>
                  <a:srgbClr val="000000"/>
                </a:solidFill>
                <a:latin typeface="+mj-lt"/>
              </a:rPr>
              <a:t>supports a maximum bandwidth up to </a:t>
            </a:r>
            <a:r>
              <a:rPr lang="en-US" sz="2400" dirty="0">
                <a:solidFill>
                  <a:srgbClr val="000000"/>
                </a:solidFill>
                <a:effectLst>
                  <a:glow rad="228600">
                    <a:schemeClr val="accent6">
                      <a:satMod val="175000"/>
                      <a:alpha val="40000"/>
                    </a:schemeClr>
                  </a:glow>
                </a:effectLst>
                <a:latin typeface="+mj-lt"/>
              </a:rPr>
              <a:t>11Mbps</a:t>
            </a:r>
            <a:r>
              <a:rPr lang="en-US" sz="2400" dirty="0">
                <a:solidFill>
                  <a:srgbClr val="000000"/>
                </a:solidFill>
                <a:latin typeface="+mj-lt"/>
              </a:rPr>
              <a:t> in the </a:t>
            </a:r>
            <a:r>
              <a:rPr lang="en-US" sz="2400" dirty="0">
                <a:solidFill>
                  <a:srgbClr val="000000"/>
                </a:solidFill>
                <a:effectLst>
                  <a:glow rad="228600">
                    <a:schemeClr val="accent6">
                      <a:satMod val="175000"/>
                      <a:alpha val="40000"/>
                    </a:schemeClr>
                  </a:glow>
                </a:effectLst>
                <a:latin typeface="+mj-lt"/>
              </a:rPr>
              <a:t>2.4GHz</a:t>
            </a:r>
            <a:r>
              <a:rPr lang="en-US" sz="2400" dirty="0">
                <a:solidFill>
                  <a:srgbClr val="000000"/>
                </a:solidFill>
                <a:latin typeface="+mj-lt"/>
              </a:rPr>
              <a:t> S-Band Industrial, Scientific, and Medical (ISM) frequency range. </a:t>
            </a:r>
            <a:endParaRPr lang="en-US" sz="2400" dirty="0" smtClean="0">
              <a:solidFill>
                <a:srgbClr val="000000"/>
              </a:solidFill>
              <a:latin typeface="+mj-lt"/>
            </a:endParaRPr>
          </a:p>
          <a:p>
            <a:pPr marL="285750" indent="-285750" algn="just">
              <a:buFont typeface="Arial" panose="02080604020202020204" pitchFamily="34" charset="0"/>
              <a:buChar char="•"/>
            </a:pPr>
            <a:r>
              <a:rPr lang="en-US" sz="2400" dirty="0" smtClean="0">
                <a:solidFill>
                  <a:srgbClr val="000000"/>
                </a:solidFill>
                <a:latin typeface="+mj-lt"/>
              </a:rPr>
              <a:t>Being </a:t>
            </a:r>
            <a:r>
              <a:rPr lang="en-US" sz="2400" dirty="0">
                <a:solidFill>
                  <a:srgbClr val="000000"/>
                </a:solidFill>
                <a:latin typeface="+mj-lt"/>
              </a:rPr>
              <a:t>an unregulated frequency, 802.11b device can suffer from </a:t>
            </a:r>
            <a:r>
              <a:rPr lang="en-US" sz="2400" dirty="0">
                <a:solidFill>
                  <a:srgbClr val="000000"/>
                </a:solidFill>
                <a:effectLst>
                  <a:glow rad="228600">
                    <a:schemeClr val="accent6">
                      <a:satMod val="175000"/>
                      <a:alpha val="40000"/>
                    </a:schemeClr>
                  </a:glow>
                </a:effectLst>
                <a:latin typeface="+mj-lt"/>
              </a:rPr>
              <a:t>interference</a:t>
            </a:r>
            <a:r>
              <a:rPr lang="en-US" sz="2400" dirty="0">
                <a:solidFill>
                  <a:srgbClr val="000000"/>
                </a:solidFill>
                <a:latin typeface="+mj-lt"/>
              </a:rPr>
              <a:t> from other wireless users, cordless phones, microwave ovens and other devices using the same 2.4 GHz band.</a:t>
            </a:r>
            <a:endParaRPr lang="en-US" sz="2400" b="0" i="0" dirty="0">
              <a:solidFill>
                <a:srgbClr val="000000"/>
              </a:solidFill>
              <a:effectLst/>
              <a:latin typeface="+mj-lt"/>
            </a:endParaRPr>
          </a:p>
        </p:txBody>
      </p:sp>
      <p:sp>
        <p:nvSpPr>
          <p:cNvPr id="7" name="Rectangle 6"/>
          <p:cNvSpPr/>
          <p:nvPr/>
        </p:nvSpPr>
        <p:spPr>
          <a:xfrm>
            <a:off x="702468" y="888999"/>
            <a:ext cx="6917532" cy="304800"/>
          </a:xfrm>
          <a:prstGeom prst="rect">
            <a:avLst/>
          </a:prstGeom>
          <a:solidFill>
            <a:schemeClr val="accent3">
              <a:lumMod val="75000"/>
              <a:alpha val="33000"/>
            </a:schemeClr>
          </a:solid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smtClean="0"/>
              <a:t> of 21</a:t>
            </a:r>
            <a:endParaRPr lang="en-US" dirty="0"/>
          </a:p>
        </p:txBody>
      </p:sp>
      <p:pic>
        <p:nvPicPr>
          <p:cNvPr id="1026" name="Picture 2" descr="IEEE 802.11.x wireless standards"/>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702468" y="304800"/>
            <a:ext cx="6917532" cy="230584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33400" y="2751157"/>
            <a:ext cx="8153400" cy="3476625"/>
          </a:xfrm>
          <a:prstGeom prst="rect">
            <a:avLst/>
          </a:prstGeom>
        </p:spPr>
        <p:txBody>
          <a:bodyPr wrap="square">
            <a:spAutoFit/>
          </a:bodyPr>
          <a:lstStyle/>
          <a:p>
            <a:r>
              <a:rPr lang="en-US" sz="2000" b="1" dirty="0">
                <a:solidFill>
                  <a:srgbClr val="000000"/>
                </a:solidFill>
                <a:latin typeface="+mj-lt"/>
              </a:rPr>
              <a:t>802.11a</a:t>
            </a:r>
            <a:endParaRPr lang="en-US" sz="2000" dirty="0">
              <a:solidFill>
                <a:srgbClr val="000000"/>
              </a:solidFill>
              <a:latin typeface="+mj-lt"/>
            </a:endParaRPr>
          </a:p>
          <a:p>
            <a:pPr marL="285750" indent="-285750" algn="just">
              <a:buFont typeface="Arial" panose="02080604020202020204" pitchFamily="34" charset="0"/>
              <a:buChar char="•"/>
            </a:pPr>
            <a:r>
              <a:rPr lang="en-US" sz="2000" dirty="0">
                <a:solidFill>
                  <a:srgbClr val="000000"/>
                </a:solidFill>
                <a:latin typeface="+mj-lt"/>
              </a:rPr>
              <a:t>About the same time </a:t>
            </a:r>
            <a:r>
              <a:rPr lang="en-US" sz="2000" dirty="0">
                <a:solidFill>
                  <a:srgbClr val="000000"/>
                </a:solidFill>
                <a:effectLst>
                  <a:glow rad="228600">
                    <a:schemeClr val="accent6">
                      <a:satMod val="175000"/>
                      <a:alpha val="40000"/>
                    </a:schemeClr>
                  </a:glow>
                </a:effectLst>
                <a:latin typeface="+mj-lt"/>
              </a:rPr>
              <a:t>802.11b was created, 802.11a was created.</a:t>
            </a:r>
            <a:r>
              <a:rPr lang="en-US" sz="2000" dirty="0">
                <a:solidFill>
                  <a:srgbClr val="000000"/>
                </a:solidFill>
                <a:latin typeface="+mj-lt"/>
              </a:rPr>
              <a:t> </a:t>
            </a:r>
            <a:endParaRPr lang="en-US" sz="2000" dirty="0" smtClean="0">
              <a:solidFill>
                <a:srgbClr val="000000"/>
              </a:solidFill>
              <a:latin typeface="+mj-lt"/>
            </a:endParaRPr>
          </a:p>
          <a:p>
            <a:pPr marL="285750" indent="-285750" algn="just">
              <a:buFont typeface="Arial" panose="02080604020202020204" pitchFamily="34" charset="0"/>
              <a:buChar char="•"/>
            </a:pPr>
            <a:r>
              <a:rPr lang="en-US" sz="2000" dirty="0" smtClean="0">
                <a:solidFill>
                  <a:srgbClr val="000000"/>
                </a:solidFill>
                <a:latin typeface="+mj-lt"/>
              </a:rPr>
              <a:t>802.11a </a:t>
            </a:r>
            <a:r>
              <a:rPr lang="en-US" sz="2000" dirty="0">
                <a:solidFill>
                  <a:srgbClr val="000000"/>
                </a:solidFill>
                <a:latin typeface="+mj-lt"/>
              </a:rPr>
              <a:t>supports a maximum bandwidth up to </a:t>
            </a:r>
            <a:r>
              <a:rPr lang="en-US" sz="2000" dirty="0">
                <a:solidFill>
                  <a:srgbClr val="000000"/>
                </a:solidFill>
                <a:effectLst>
                  <a:glow rad="228600">
                    <a:schemeClr val="accent6">
                      <a:satMod val="175000"/>
                      <a:alpha val="40000"/>
                    </a:schemeClr>
                  </a:glow>
                </a:effectLst>
                <a:latin typeface="+mj-lt"/>
              </a:rPr>
              <a:t>55Mbps</a:t>
            </a:r>
            <a:r>
              <a:rPr lang="en-US" sz="2000" dirty="0">
                <a:solidFill>
                  <a:srgbClr val="000000"/>
                </a:solidFill>
                <a:latin typeface="+mj-lt"/>
              </a:rPr>
              <a:t> in the </a:t>
            </a:r>
            <a:r>
              <a:rPr lang="en-US" sz="2000" dirty="0">
                <a:solidFill>
                  <a:srgbClr val="000000"/>
                </a:solidFill>
                <a:effectLst>
                  <a:glow rad="228600">
                    <a:schemeClr val="accent6">
                      <a:satMod val="175000"/>
                      <a:alpha val="40000"/>
                    </a:schemeClr>
                  </a:glow>
                </a:effectLst>
                <a:latin typeface="+mj-lt"/>
              </a:rPr>
              <a:t>5GHz</a:t>
            </a:r>
            <a:r>
              <a:rPr lang="en-US" sz="2000" dirty="0">
                <a:solidFill>
                  <a:srgbClr val="000000"/>
                </a:solidFill>
                <a:latin typeface="+mj-lt"/>
              </a:rPr>
              <a:t> band. </a:t>
            </a:r>
            <a:endParaRPr lang="en-US" sz="2000" dirty="0" smtClean="0">
              <a:solidFill>
                <a:srgbClr val="000000"/>
              </a:solidFill>
              <a:latin typeface="+mj-lt"/>
            </a:endParaRPr>
          </a:p>
          <a:p>
            <a:pPr marL="285750" indent="-285750" algn="just">
              <a:buFont typeface="Arial" panose="02080604020202020204" pitchFamily="34" charset="0"/>
              <a:buChar char="•"/>
            </a:pPr>
            <a:r>
              <a:rPr lang="en-US" sz="2000" dirty="0" smtClean="0">
                <a:solidFill>
                  <a:srgbClr val="000000"/>
                </a:solidFill>
                <a:latin typeface="+mj-lt"/>
              </a:rPr>
              <a:t>An </a:t>
            </a:r>
            <a:r>
              <a:rPr lang="en-US" sz="2000" dirty="0">
                <a:solidFill>
                  <a:srgbClr val="000000"/>
                </a:solidFill>
                <a:latin typeface="+mj-lt"/>
              </a:rPr>
              <a:t>advantage of 802.11a is that it operates at a radio frequency that's less clogged by competing signals from other wireless users, cordless phones and microwave ovens</a:t>
            </a:r>
            <a:r>
              <a:rPr lang="en-US" sz="2000" dirty="0" smtClean="0">
                <a:solidFill>
                  <a:srgbClr val="000000"/>
                </a:solidFill>
                <a:latin typeface="+mj-lt"/>
              </a:rPr>
              <a:t>.</a:t>
            </a:r>
            <a:endParaRPr lang="en-US" sz="2000" dirty="0" smtClean="0">
              <a:solidFill>
                <a:srgbClr val="000000"/>
              </a:solidFill>
              <a:latin typeface="+mj-lt"/>
            </a:endParaRPr>
          </a:p>
          <a:p>
            <a:pPr marL="285750" indent="-285750" algn="just">
              <a:buFont typeface="Arial" panose="02080604020202020204" pitchFamily="34" charset="0"/>
              <a:buChar char="•"/>
            </a:pPr>
            <a:r>
              <a:rPr lang="en-US" sz="2000" dirty="0" smtClean="0">
                <a:solidFill>
                  <a:srgbClr val="000000"/>
                </a:solidFill>
                <a:latin typeface="+mj-lt"/>
              </a:rPr>
              <a:t> </a:t>
            </a:r>
            <a:r>
              <a:rPr lang="en-US" sz="2000" dirty="0">
                <a:solidFill>
                  <a:srgbClr val="000000"/>
                </a:solidFill>
                <a:latin typeface="+mj-lt"/>
              </a:rPr>
              <a:t>But </a:t>
            </a:r>
            <a:r>
              <a:rPr lang="en-US" sz="2000" dirty="0">
                <a:solidFill>
                  <a:srgbClr val="000000"/>
                </a:solidFill>
                <a:effectLst>
                  <a:glow rad="228600">
                    <a:schemeClr val="accent6">
                      <a:satMod val="175000"/>
                      <a:alpha val="40000"/>
                    </a:schemeClr>
                  </a:glow>
                </a:effectLst>
                <a:latin typeface="+mj-lt"/>
              </a:rPr>
              <a:t>802.11a was not popular</a:t>
            </a:r>
            <a:r>
              <a:rPr lang="en-US" sz="2000" dirty="0">
                <a:solidFill>
                  <a:srgbClr val="000000"/>
                </a:solidFill>
                <a:latin typeface="+mj-lt"/>
              </a:rPr>
              <a:t> due to the more </a:t>
            </a:r>
            <a:r>
              <a:rPr lang="en-US" sz="2000" dirty="0">
                <a:solidFill>
                  <a:srgbClr val="000000"/>
                </a:solidFill>
                <a:effectLst>
                  <a:glow rad="228600">
                    <a:schemeClr val="accent6">
                      <a:satMod val="175000"/>
                      <a:alpha val="40000"/>
                    </a:schemeClr>
                  </a:glow>
                </a:effectLst>
                <a:latin typeface="+mj-lt"/>
              </a:rPr>
              <a:t>expensive cost of 5GHz </a:t>
            </a:r>
            <a:r>
              <a:rPr lang="en-US" sz="2000" dirty="0">
                <a:solidFill>
                  <a:srgbClr val="000000"/>
                </a:solidFill>
                <a:latin typeface="+mj-lt"/>
              </a:rPr>
              <a:t>components and not being compatible with 802.11b.</a:t>
            </a:r>
            <a:endParaRPr lang="en-US" sz="2000" b="0" i="0" dirty="0">
              <a:solidFill>
                <a:srgbClr val="000000"/>
              </a:solidFill>
              <a:effectLst/>
              <a:latin typeface="+mj-lt"/>
            </a:endParaRPr>
          </a:p>
        </p:txBody>
      </p:sp>
      <p:sp>
        <p:nvSpPr>
          <p:cNvPr id="6" name="Rectangle 5"/>
          <p:cNvSpPr/>
          <p:nvPr/>
        </p:nvSpPr>
        <p:spPr>
          <a:xfrm>
            <a:off x="702468" y="1143000"/>
            <a:ext cx="6917532" cy="304800"/>
          </a:xfrm>
          <a:prstGeom prst="rect">
            <a:avLst/>
          </a:prstGeom>
          <a:solidFill>
            <a:schemeClr val="accent3">
              <a:lumMod val="75000"/>
              <a:alpha val="33000"/>
            </a:schemeClr>
          </a:solid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smtClean="0"/>
              <a:t> of 21</a:t>
            </a:r>
            <a:endParaRPr lang="en-US" dirty="0"/>
          </a:p>
        </p:txBody>
      </p:sp>
      <p:pic>
        <p:nvPicPr>
          <p:cNvPr id="1026" name="Picture 2" descr="IEEE 802.11.x wireless standards"/>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702468" y="304800"/>
            <a:ext cx="6917532" cy="230584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57200" y="2971800"/>
            <a:ext cx="8096452" cy="3169285"/>
          </a:xfrm>
          <a:prstGeom prst="rect">
            <a:avLst/>
          </a:prstGeom>
        </p:spPr>
        <p:txBody>
          <a:bodyPr wrap="square">
            <a:spAutoFit/>
          </a:bodyPr>
          <a:lstStyle/>
          <a:p>
            <a:r>
              <a:rPr lang="en-US" sz="2000" b="1" dirty="0">
                <a:solidFill>
                  <a:srgbClr val="000000"/>
                </a:solidFill>
                <a:latin typeface="+mj-lt"/>
              </a:rPr>
              <a:t>802.11g</a:t>
            </a:r>
            <a:endParaRPr lang="en-US" sz="2000" dirty="0">
              <a:solidFill>
                <a:srgbClr val="000000"/>
              </a:solidFill>
              <a:latin typeface="+mj-lt"/>
            </a:endParaRPr>
          </a:p>
          <a:p>
            <a:pPr marL="285750" indent="-285750" algn="just">
              <a:buFont typeface="Arial" panose="02080604020202020204" pitchFamily="34" charset="0"/>
              <a:buChar char="•"/>
            </a:pPr>
            <a:r>
              <a:rPr lang="en-US" sz="2000" dirty="0" smtClean="0">
                <a:solidFill>
                  <a:srgbClr val="000000"/>
                </a:solidFill>
                <a:latin typeface="+mj-lt"/>
              </a:rPr>
              <a:t>In </a:t>
            </a:r>
            <a:r>
              <a:rPr lang="en-US" sz="2000" dirty="0">
                <a:solidFill>
                  <a:srgbClr val="000000"/>
                </a:solidFill>
                <a:latin typeface="+mj-lt"/>
              </a:rPr>
              <a:t>June </a:t>
            </a:r>
            <a:r>
              <a:rPr lang="en-US" sz="2000" dirty="0">
                <a:solidFill>
                  <a:srgbClr val="000000"/>
                </a:solidFill>
                <a:effectLst>
                  <a:glow rad="228600">
                    <a:schemeClr val="accent6">
                      <a:satMod val="175000"/>
                      <a:alpha val="40000"/>
                    </a:schemeClr>
                  </a:glow>
                </a:effectLst>
                <a:latin typeface="+mj-lt"/>
              </a:rPr>
              <a:t>2003, 802.11g </a:t>
            </a:r>
            <a:r>
              <a:rPr lang="en-US" sz="2000" dirty="0">
                <a:solidFill>
                  <a:srgbClr val="000000"/>
                </a:solidFill>
                <a:latin typeface="+mj-lt"/>
              </a:rPr>
              <a:t>was released to provide maximum bandwidth up to </a:t>
            </a:r>
            <a:r>
              <a:rPr lang="en-US" sz="2000" dirty="0">
                <a:solidFill>
                  <a:srgbClr val="000000"/>
                </a:solidFill>
                <a:effectLst>
                  <a:glow rad="228600">
                    <a:schemeClr val="accent6">
                      <a:satMod val="175000"/>
                      <a:alpha val="40000"/>
                    </a:schemeClr>
                  </a:glow>
                </a:effectLst>
                <a:latin typeface="+mj-lt"/>
              </a:rPr>
              <a:t>55Mbps</a:t>
            </a:r>
            <a:r>
              <a:rPr lang="en-US" sz="2000" dirty="0">
                <a:solidFill>
                  <a:srgbClr val="000000"/>
                </a:solidFill>
                <a:latin typeface="+mj-lt"/>
              </a:rPr>
              <a:t> in the 2.4GHz band. </a:t>
            </a:r>
            <a:endParaRPr lang="en-US" sz="2000" dirty="0" smtClean="0">
              <a:solidFill>
                <a:srgbClr val="000000"/>
              </a:solidFill>
              <a:latin typeface="+mj-lt"/>
            </a:endParaRPr>
          </a:p>
          <a:p>
            <a:pPr marL="285750" indent="-285750" algn="just">
              <a:buFont typeface="Arial" panose="02080604020202020204" pitchFamily="34" charset="0"/>
              <a:buChar char="•"/>
            </a:pPr>
            <a:r>
              <a:rPr lang="en-US" sz="2000" dirty="0" smtClean="0">
                <a:solidFill>
                  <a:srgbClr val="000000"/>
                </a:solidFill>
                <a:latin typeface="+mj-lt"/>
              </a:rPr>
              <a:t>802.11g </a:t>
            </a:r>
            <a:r>
              <a:rPr lang="en-US" sz="2000" dirty="0">
                <a:solidFill>
                  <a:srgbClr val="000000"/>
                </a:solidFill>
                <a:latin typeface="+mj-lt"/>
              </a:rPr>
              <a:t>is </a:t>
            </a:r>
            <a:r>
              <a:rPr lang="en-US" sz="2000" dirty="0">
                <a:solidFill>
                  <a:srgbClr val="000000"/>
                </a:solidFill>
                <a:effectLst>
                  <a:glow rad="228600">
                    <a:schemeClr val="accent6">
                      <a:satMod val="175000"/>
                      <a:alpha val="40000"/>
                    </a:schemeClr>
                  </a:glow>
                </a:effectLst>
                <a:latin typeface="+mj-lt"/>
              </a:rPr>
              <a:t>backward compatible</a:t>
            </a:r>
            <a:r>
              <a:rPr lang="en-US" sz="2000" dirty="0">
                <a:solidFill>
                  <a:srgbClr val="000000"/>
                </a:solidFill>
                <a:latin typeface="+mj-lt"/>
              </a:rPr>
              <a:t> with 802.11b because they both use the same </a:t>
            </a:r>
            <a:r>
              <a:rPr lang="en-US" sz="2000" dirty="0">
                <a:solidFill>
                  <a:srgbClr val="000000"/>
                </a:solidFill>
                <a:effectLst>
                  <a:glow rad="228600">
                    <a:schemeClr val="accent6">
                      <a:satMod val="175000"/>
                      <a:alpha val="40000"/>
                    </a:schemeClr>
                  </a:glow>
                </a:effectLst>
                <a:latin typeface="+mj-lt"/>
              </a:rPr>
              <a:t>2.4GHz</a:t>
            </a:r>
            <a:r>
              <a:rPr lang="en-US" sz="2000" dirty="0">
                <a:solidFill>
                  <a:srgbClr val="000000"/>
                </a:solidFill>
                <a:latin typeface="+mj-lt"/>
              </a:rPr>
              <a:t> radio frequency. </a:t>
            </a:r>
            <a:endParaRPr lang="en-US" sz="2000" dirty="0" smtClean="0">
              <a:solidFill>
                <a:srgbClr val="000000"/>
              </a:solidFill>
              <a:latin typeface="+mj-lt"/>
            </a:endParaRPr>
          </a:p>
          <a:p>
            <a:pPr marL="285750" indent="-285750" algn="just">
              <a:buFont typeface="Arial" panose="02080604020202020204" pitchFamily="34" charset="0"/>
              <a:buChar char="•"/>
            </a:pPr>
            <a:r>
              <a:rPr lang="en-US" sz="2000" dirty="0" smtClean="0">
                <a:solidFill>
                  <a:srgbClr val="000000"/>
                </a:solidFill>
                <a:latin typeface="+mj-lt"/>
              </a:rPr>
              <a:t>However </a:t>
            </a:r>
            <a:r>
              <a:rPr lang="en-US" sz="2000" dirty="0">
                <a:solidFill>
                  <a:srgbClr val="000000"/>
                </a:solidFill>
                <a:latin typeface="+mj-lt"/>
              </a:rPr>
              <a:t>802.11g again suffers from the same interference as 802.11b in the crowded 2.4 GHz range, But 802.11g provides better security features, such as</a:t>
            </a:r>
            <a:r>
              <a:rPr lang="en-US" sz="2000" dirty="0">
                <a:solidFill>
                  <a:srgbClr val="000000"/>
                </a:solidFill>
                <a:effectLst>
                  <a:glow rad="228600">
                    <a:schemeClr val="accent6">
                      <a:satMod val="175000"/>
                      <a:alpha val="40000"/>
                    </a:schemeClr>
                  </a:glow>
                </a:effectLst>
                <a:latin typeface="+mj-lt"/>
              </a:rPr>
              <a:t> </a:t>
            </a:r>
            <a:r>
              <a:rPr lang="en-US" sz="2000" dirty="0" err="1">
                <a:solidFill>
                  <a:srgbClr val="000000"/>
                </a:solidFill>
                <a:effectLst>
                  <a:glow rad="228600">
                    <a:schemeClr val="accent6">
                      <a:satMod val="175000"/>
                      <a:alpha val="40000"/>
                    </a:schemeClr>
                  </a:glow>
                </a:effectLst>
                <a:latin typeface="+mj-lt"/>
              </a:rPr>
              <a:t>WiFi</a:t>
            </a:r>
            <a:r>
              <a:rPr lang="en-US" sz="2000" dirty="0">
                <a:solidFill>
                  <a:srgbClr val="000000"/>
                </a:solidFill>
                <a:effectLst>
                  <a:glow rad="228600">
                    <a:schemeClr val="accent6">
                      <a:satMod val="175000"/>
                      <a:alpha val="40000"/>
                    </a:schemeClr>
                  </a:glow>
                </a:effectLst>
                <a:latin typeface="+mj-lt"/>
              </a:rPr>
              <a:t> Protected Access (WAP) and WPA2 authentication with pre-shared key or RADIUS server</a:t>
            </a:r>
            <a:r>
              <a:rPr lang="en-US" sz="2000" dirty="0">
                <a:solidFill>
                  <a:srgbClr val="000000"/>
                </a:solidFill>
                <a:latin typeface="+mj-lt"/>
              </a:rPr>
              <a:t>.</a:t>
            </a:r>
            <a:endParaRPr lang="en-US" sz="2000" b="0" i="0" dirty="0">
              <a:solidFill>
                <a:srgbClr val="000000"/>
              </a:solidFill>
              <a:effectLst/>
              <a:latin typeface="+mj-lt"/>
            </a:endParaRPr>
          </a:p>
        </p:txBody>
      </p:sp>
      <p:sp>
        <p:nvSpPr>
          <p:cNvPr id="6" name="Rectangle 5"/>
          <p:cNvSpPr/>
          <p:nvPr/>
        </p:nvSpPr>
        <p:spPr>
          <a:xfrm>
            <a:off x="702468" y="1447800"/>
            <a:ext cx="6917532" cy="304800"/>
          </a:xfrm>
          <a:prstGeom prst="rect">
            <a:avLst/>
          </a:prstGeom>
          <a:solidFill>
            <a:schemeClr val="accent3">
              <a:lumMod val="75000"/>
              <a:alpha val="33000"/>
            </a:schemeClr>
          </a:solid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smtClean="0"/>
              <a:t> of 21</a:t>
            </a:r>
            <a:endParaRPr lang="en-US" dirty="0"/>
          </a:p>
        </p:txBody>
      </p:sp>
      <p:pic>
        <p:nvPicPr>
          <p:cNvPr id="1026" name="Picture 2" descr="IEEE 802.11.x wireless standards"/>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702468" y="304800"/>
            <a:ext cx="6917532" cy="230584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81000" y="2935823"/>
            <a:ext cx="8441532" cy="3476625"/>
          </a:xfrm>
          <a:prstGeom prst="rect">
            <a:avLst/>
          </a:prstGeom>
        </p:spPr>
        <p:txBody>
          <a:bodyPr wrap="square">
            <a:spAutoFit/>
          </a:bodyPr>
          <a:lstStyle/>
          <a:p>
            <a:pPr marL="342900" indent="-342900" algn="just">
              <a:buFont typeface="Arial" panose="02080604020202020204" pitchFamily="34" charset="0"/>
              <a:buChar char="•"/>
            </a:pPr>
            <a:r>
              <a:rPr lang="en-US" sz="2000" b="1" dirty="0">
                <a:solidFill>
                  <a:srgbClr val="000000"/>
                </a:solidFill>
              </a:rPr>
              <a:t>802.11n</a:t>
            </a:r>
            <a:endParaRPr lang="en-US" sz="2000" dirty="0">
              <a:solidFill>
                <a:srgbClr val="000000"/>
              </a:solidFill>
            </a:endParaRPr>
          </a:p>
          <a:p>
            <a:pPr marL="342900" indent="-342900" algn="just">
              <a:buFont typeface="Arial" panose="02080604020202020204" pitchFamily="34" charset="0"/>
              <a:buChar char="•"/>
            </a:pPr>
            <a:r>
              <a:rPr lang="en-US" sz="2000" dirty="0">
                <a:solidFill>
                  <a:srgbClr val="000000"/>
                </a:solidFill>
              </a:rPr>
              <a:t>In </a:t>
            </a:r>
            <a:r>
              <a:rPr lang="en-US" sz="2000" dirty="0">
                <a:solidFill>
                  <a:srgbClr val="000000"/>
                </a:solidFill>
                <a:effectLst>
                  <a:glow rad="228600">
                    <a:schemeClr val="accent6">
                      <a:satMod val="175000"/>
                      <a:alpha val="40000"/>
                    </a:schemeClr>
                  </a:glow>
                </a:effectLst>
              </a:rPr>
              <a:t>October</a:t>
            </a:r>
            <a:r>
              <a:rPr lang="en-US" sz="2000" dirty="0">
                <a:solidFill>
                  <a:srgbClr val="000000"/>
                </a:solidFill>
              </a:rPr>
              <a:t> </a:t>
            </a:r>
            <a:r>
              <a:rPr lang="en-US" sz="2000" dirty="0">
                <a:solidFill>
                  <a:srgbClr val="000000"/>
                </a:solidFill>
                <a:effectLst>
                  <a:glow rad="228600">
                    <a:schemeClr val="accent6">
                      <a:satMod val="175000"/>
                      <a:alpha val="40000"/>
                    </a:schemeClr>
                  </a:glow>
                </a:effectLst>
              </a:rPr>
              <a:t>2009</a:t>
            </a:r>
            <a:r>
              <a:rPr lang="en-US" sz="2000" dirty="0">
                <a:solidFill>
                  <a:srgbClr val="000000"/>
                </a:solidFill>
              </a:rPr>
              <a:t> the IEEE approved </a:t>
            </a:r>
            <a:r>
              <a:rPr lang="en-US" sz="2000" dirty="0">
                <a:solidFill>
                  <a:srgbClr val="000000"/>
                </a:solidFill>
                <a:effectLst>
                  <a:glow rad="228600">
                    <a:schemeClr val="accent6">
                      <a:satMod val="175000"/>
                      <a:alpha val="40000"/>
                    </a:schemeClr>
                  </a:glow>
                </a:effectLst>
              </a:rPr>
              <a:t>802.11n</a:t>
            </a:r>
            <a:r>
              <a:rPr lang="en-US" sz="2000" dirty="0">
                <a:solidFill>
                  <a:srgbClr val="000000"/>
                </a:solidFill>
              </a:rPr>
              <a:t> wireless communication standard to provide a maximum bandwidth up to </a:t>
            </a:r>
            <a:r>
              <a:rPr lang="en-US" sz="2000" b="1" dirty="0">
                <a:solidFill>
                  <a:srgbClr val="000000"/>
                </a:solidFill>
                <a:effectLst>
                  <a:glow rad="228600">
                    <a:schemeClr val="accent6">
                      <a:satMod val="175000"/>
                      <a:alpha val="40000"/>
                    </a:schemeClr>
                  </a:glow>
                </a:effectLst>
              </a:rPr>
              <a:t>300Mbps</a:t>
            </a:r>
            <a:r>
              <a:rPr lang="en-US" sz="2000" dirty="0">
                <a:solidFill>
                  <a:srgbClr val="000000"/>
                </a:solidFill>
              </a:rPr>
              <a:t>. 802.11n can operate in the </a:t>
            </a:r>
            <a:r>
              <a:rPr lang="en-US" sz="2000" dirty="0">
                <a:solidFill>
                  <a:srgbClr val="000000"/>
                </a:solidFill>
                <a:effectLst>
                  <a:glow rad="228600">
                    <a:schemeClr val="accent6">
                      <a:satMod val="175000"/>
                      <a:alpha val="40000"/>
                    </a:schemeClr>
                  </a:glow>
                </a:effectLst>
              </a:rPr>
              <a:t>2.4GHz or 5GHz </a:t>
            </a:r>
            <a:r>
              <a:rPr lang="en-US" sz="2000" dirty="0">
                <a:solidFill>
                  <a:srgbClr val="000000"/>
                </a:solidFill>
              </a:rPr>
              <a:t>band, and is backward </a:t>
            </a:r>
            <a:r>
              <a:rPr lang="en-US" sz="2000" dirty="0">
                <a:solidFill>
                  <a:srgbClr val="000000"/>
                </a:solidFill>
                <a:effectLst>
                  <a:glow rad="228600">
                    <a:schemeClr val="accent6">
                      <a:satMod val="175000"/>
                      <a:alpha val="40000"/>
                    </a:schemeClr>
                  </a:glow>
                </a:effectLst>
              </a:rPr>
              <a:t>compatible with 802.11a (5GHz band), 802.11b (2.4GHz band) and 802.11g (2.4GHz band) devices</a:t>
            </a:r>
            <a:r>
              <a:rPr lang="en-US" sz="2000" dirty="0">
                <a:solidFill>
                  <a:srgbClr val="000000"/>
                </a:solidFill>
              </a:rPr>
              <a:t>.</a:t>
            </a:r>
            <a:endParaRPr lang="en-US" sz="2000" dirty="0">
              <a:solidFill>
                <a:srgbClr val="000000"/>
              </a:solidFill>
            </a:endParaRPr>
          </a:p>
          <a:p>
            <a:pPr marL="342900" indent="-342900" algn="just">
              <a:buFont typeface="Arial" panose="02080604020202020204" pitchFamily="34" charset="0"/>
              <a:buChar char="•"/>
            </a:pPr>
            <a:r>
              <a:rPr lang="en-US" sz="2000" dirty="0">
                <a:solidFill>
                  <a:srgbClr val="000000"/>
                </a:solidFill>
              </a:rPr>
              <a:t>The 802.11n standard supports </a:t>
            </a:r>
            <a:r>
              <a:rPr lang="en-US" sz="2000" dirty="0">
                <a:solidFill>
                  <a:srgbClr val="000000"/>
                </a:solidFill>
                <a:effectLst>
                  <a:glow rad="228600">
                    <a:schemeClr val="accent6">
                      <a:satMod val="175000"/>
                      <a:alpha val="40000"/>
                    </a:schemeClr>
                  </a:glow>
                </a:effectLst>
              </a:rPr>
              <a:t>MIMO (Multiple Input, Multiple Output) antennas</a:t>
            </a:r>
            <a:r>
              <a:rPr lang="en-US" sz="2000" dirty="0">
                <a:solidFill>
                  <a:srgbClr val="000000"/>
                </a:solidFill>
              </a:rPr>
              <a:t>. 802.11n operates on both the 2.4 GHz and the 5 GHz bands. Support for 5 GHz bands is optional. It operates at a maximum net data rate from 54 Mbps to 600 Mbps</a:t>
            </a:r>
            <a:r>
              <a:rPr lang="en-US" sz="2000" dirty="0" smtClean="0">
                <a:solidFill>
                  <a:srgbClr val="000000"/>
                </a:solidFill>
              </a:rPr>
              <a:t>.</a:t>
            </a:r>
            <a:endParaRPr lang="en-US" sz="2000" dirty="0" smtClean="0">
              <a:solidFill>
                <a:srgbClr val="000000"/>
              </a:solidFill>
            </a:endParaRPr>
          </a:p>
        </p:txBody>
      </p:sp>
      <p:sp>
        <p:nvSpPr>
          <p:cNvPr id="6" name="Rectangle 5"/>
          <p:cNvSpPr/>
          <p:nvPr/>
        </p:nvSpPr>
        <p:spPr>
          <a:xfrm>
            <a:off x="702468" y="1752600"/>
            <a:ext cx="6917532" cy="304800"/>
          </a:xfrm>
          <a:prstGeom prst="rect">
            <a:avLst/>
          </a:prstGeom>
          <a:solidFill>
            <a:schemeClr val="accent3">
              <a:lumMod val="75000"/>
              <a:alpha val="33000"/>
            </a:schemeClr>
          </a:solid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smtClean="0"/>
              <a:t> of 21</a:t>
            </a:r>
            <a:endParaRPr lang="en-US" dirty="0"/>
          </a:p>
        </p:txBody>
      </p:sp>
      <p:pic>
        <p:nvPicPr>
          <p:cNvPr id="1026" name="Picture 2" descr="IEEE 802.11.x wireless standards"/>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702468" y="304800"/>
            <a:ext cx="6917532" cy="230584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81000" y="3352800"/>
            <a:ext cx="8441532" cy="2308324"/>
          </a:xfrm>
          <a:prstGeom prst="rect">
            <a:avLst/>
          </a:prstGeom>
        </p:spPr>
        <p:txBody>
          <a:bodyPr wrap="square">
            <a:spAutoFit/>
          </a:bodyPr>
          <a:lstStyle/>
          <a:p>
            <a:pPr marL="342900" indent="-342900" algn="just">
              <a:buFont typeface="Arial" panose="02080604020202020204" pitchFamily="34" charset="0"/>
              <a:buChar char="•"/>
            </a:pPr>
            <a:r>
              <a:rPr lang="en-US" sz="2400" b="1" dirty="0" smtClean="0">
                <a:solidFill>
                  <a:srgbClr val="000000"/>
                </a:solidFill>
                <a:latin typeface="+mj-lt"/>
              </a:rPr>
              <a:t>802.11ac</a:t>
            </a:r>
            <a:endParaRPr lang="en-US" sz="2400" dirty="0">
              <a:solidFill>
                <a:srgbClr val="000000"/>
              </a:solidFill>
              <a:latin typeface="+mj-lt"/>
            </a:endParaRPr>
          </a:p>
          <a:p>
            <a:pPr marL="342900" indent="-342900" algn="just">
              <a:buFont typeface="Arial" panose="02080604020202020204" pitchFamily="34" charset="0"/>
              <a:buChar char="•"/>
            </a:pPr>
            <a:r>
              <a:rPr lang="en-US" sz="2400" dirty="0">
                <a:solidFill>
                  <a:srgbClr val="000000"/>
                </a:solidFill>
                <a:latin typeface="+mj-lt"/>
              </a:rPr>
              <a:t>IEEE 802.11ac delivers speeds ranging from </a:t>
            </a:r>
            <a:r>
              <a:rPr lang="en-US" sz="2400" dirty="0">
                <a:solidFill>
                  <a:srgbClr val="000000"/>
                </a:solidFill>
                <a:effectLst>
                  <a:glow rad="228600">
                    <a:schemeClr val="accent6">
                      <a:satMod val="175000"/>
                      <a:alpha val="40000"/>
                    </a:schemeClr>
                  </a:glow>
                </a:effectLst>
                <a:latin typeface="+mj-lt"/>
              </a:rPr>
              <a:t>433 Mbps up to several gigabits per second</a:t>
            </a:r>
            <a:r>
              <a:rPr lang="en-US" sz="2400" dirty="0">
                <a:solidFill>
                  <a:srgbClr val="000000"/>
                </a:solidFill>
                <a:latin typeface="+mj-lt"/>
              </a:rPr>
              <a:t>. It works exclusively in the </a:t>
            </a:r>
            <a:r>
              <a:rPr lang="en-US" sz="2400" dirty="0">
                <a:solidFill>
                  <a:srgbClr val="000000"/>
                </a:solidFill>
                <a:effectLst>
                  <a:glow rad="228600">
                    <a:schemeClr val="accent6">
                      <a:satMod val="175000"/>
                      <a:alpha val="40000"/>
                    </a:schemeClr>
                  </a:glow>
                </a:effectLst>
                <a:latin typeface="+mj-lt"/>
              </a:rPr>
              <a:t>5GHz</a:t>
            </a:r>
            <a:r>
              <a:rPr lang="en-US" sz="2400" dirty="0">
                <a:solidFill>
                  <a:srgbClr val="000000"/>
                </a:solidFill>
                <a:latin typeface="+mj-lt"/>
              </a:rPr>
              <a:t> band. 802.11ac operates up to eight </a:t>
            </a:r>
            <a:r>
              <a:rPr lang="en-US" sz="2400" dirty="0">
                <a:solidFill>
                  <a:srgbClr val="000000"/>
                </a:solidFill>
                <a:effectLst>
                  <a:glow rad="228600">
                    <a:schemeClr val="accent6">
                      <a:satMod val="175000"/>
                      <a:alpha val="40000"/>
                    </a:schemeClr>
                  </a:glow>
                </a:effectLst>
                <a:latin typeface="+mj-lt"/>
              </a:rPr>
              <a:t>MIMO (Multiple Input, Multiple Output) antennas</a:t>
            </a:r>
            <a:r>
              <a:rPr lang="en-US" sz="2400" dirty="0">
                <a:solidFill>
                  <a:srgbClr val="000000"/>
                </a:solidFill>
                <a:latin typeface="+mj-lt"/>
              </a:rPr>
              <a:t>. It uses beamforming technology which sends the signal directly to client devices.</a:t>
            </a:r>
            <a:endParaRPr lang="en-US" sz="2400" b="0" i="0" dirty="0">
              <a:solidFill>
                <a:srgbClr val="000000"/>
              </a:solidFill>
              <a:effectLst/>
              <a:latin typeface="+mj-lt"/>
            </a:endParaRPr>
          </a:p>
        </p:txBody>
      </p:sp>
      <p:sp>
        <p:nvSpPr>
          <p:cNvPr id="6" name="Rectangle 5"/>
          <p:cNvSpPr/>
          <p:nvPr/>
        </p:nvSpPr>
        <p:spPr>
          <a:xfrm>
            <a:off x="702468" y="2067650"/>
            <a:ext cx="6917532" cy="490884"/>
          </a:xfrm>
          <a:prstGeom prst="rect">
            <a:avLst/>
          </a:prstGeom>
          <a:solidFill>
            <a:schemeClr val="accent3">
              <a:lumMod val="75000"/>
              <a:alpha val="33000"/>
            </a:schemeClr>
          </a:solid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685800" y="1752600"/>
            <a:ext cx="8229600" cy="3027719"/>
          </a:xfrm>
          <a:prstGeom prst="rect">
            <a:avLst/>
          </a:prstGeom>
        </p:spPr>
      </p:pic>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smtClean="0"/>
              <a:t> of 21</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smtClean="0"/>
              <a:t> of 21</a:t>
            </a:r>
            <a:endParaRPr lang="en-US" dirty="0"/>
          </a:p>
        </p:txBody>
      </p:sp>
      <p:pic>
        <p:nvPicPr>
          <p:cNvPr id="2050" name="Picture 2" descr="Stock Antenna vs High Gain Antenna"/>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286000" y="808756"/>
            <a:ext cx="3979665" cy="53174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dirty="0"/>
              <a:t>Ethernet</a:t>
            </a:r>
            <a:endParaRPr lang="en-US" dirty="0"/>
          </a:p>
        </p:txBody>
      </p:sp>
      <p:sp>
        <p:nvSpPr>
          <p:cNvPr id="3" name="Content Placeholder 2"/>
          <p:cNvSpPr>
            <a:spLocks noGrp="1"/>
          </p:cNvSpPr>
          <p:nvPr>
            <p:ph idx="1"/>
          </p:nvPr>
        </p:nvSpPr>
        <p:spPr/>
        <p:txBody>
          <a:bodyPr>
            <a:normAutofit/>
          </a:bodyPr>
          <a:lstStyle/>
          <a:p>
            <a:r>
              <a:rPr lang="en-US" sz="2400" dirty="0">
                <a:effectLst>
                  <a:glow rad="228600">
                    <a:schemeClr val="accent6">
                      <a:satMod val="175000"/>
                      <a:alpha val="40000"/>
                    </a:schemeClr>
                  </a:glow>
                </a:effectLst>
              </a:rPr>
              <a:t>Two</a:t>
            </a:r>
            <a:r>
              <a:rPr lang="en-US" sz="2400" dirty="0"/>
              <a:t> </a:t>
            </a:r>
            <a:r>
              <a:rPr lang="en-US" sz="2400" dirty="0">
                <a:effectLst>
                  <a:glow rad="228600">
                    <a:schemeClr val="accent6">
                      <a:satMod val="175000"/>
                      <a:alpha val="40000"/>
                    </a:schemeClr>
                  </a:glow>
                </a:effectLst>
              </a:rPr>
              <a:t>kinds</a:t>
            </a:r>
            <a:r>
              <a:rPr lang="en-US" sz="2400" dirty="0"/>
              <a:t> of Ethernet exist: </a:t>
            </a:r>
            <a:endParaRPr lang="en-US" sz="2400" dirty="0"/>
          </a:p>
          <a:p>
            <a:pPr lvl="1"/>
            <a:r>
              <a:rPr lang="en-US" sz="2400" dirty="0"/>
              <a:t>Classic Ethernet</a:t>
            </a:r>
            <a:endParaRPr lang="en-US" sz="2400" dirty="0"/>
          </a:p>
          <a:p>
            <a:pPr lvl="1"/>
            <a:r>
              <a:rPr lang="en-US" sz="2400" dirty="0"/>
              <a:t>Switch Ethernet</a:t>
            </a:r>
            <a:endParaRPr lang="en-US" sz="2400" dirty="0"/>
          </a:p>
          <a:p>
            <a:pPr lvl="1"/>
            <a:endParaRPr lang="en-US" sz="2400" dirty="0"/>
          </a:p>
          <a:p>
            <a:r>
              <a:rPr lang="en-US" sz="2400" b="1" cap="small" dirty="0"/>
              <a:t>Classic Ethernet: </a:t>
            </a:r>
            <a:r>
              <a:rPr lang="en-US" sz="2400" dirty="0"/>
              <a:t>ran at rates from </a:t>
            </a:r>
            <a:r>
              <a:rPr lang="en-US" sz="2400" b="1" u="sng" dirty="0">
                <a:effectLst>
                  <a:glow rad="228600">
                    <a:schemeClr val="accent6">
                      <a:satMod val="175000"/>
                      <a:alpha val="40000"/>
                    </a:schemeClr>
                  </a:glow>
                </a:effectLst>
              </a:rPr>
              <a:t>3 to 10 Mbps</a:t>
            </a:r>
            <a:r>
              <a:rPr lang="en-US" sz="2400" dirty="0"/>
              <a:t>. </a:t>
            </a:r>
            <a:endParaRPr lang="en-US" sz="2400" dirty="0"/>
          </a:p>
          <a:p>
            <a:r>
              <a:rPr lang="en-US" sz="2400" b="1" cap="small" dirty="0"/>
              <a:t>Switched Ethernet:</a:t>
            </a:r>
            <a:r>
              <a:rPr lang="en-US" sz="2400" dirty="0"/>
              <a:t>  runs at </a:t>
            </a:r>
            <a:r>
              <a:rPr lang="en-US" sz="2400" b="1" dirty="0"/>
              <a:t>100, 1000, and 10,000</a:t>
            </a:r>
            <a:r>
              <a:rPr lang="en-US" sz="2400" dirty="0"/>
              <a:t> Mbps, in forms called </a:t>
            </a:r>
            <a:endParaRPr lang="en-US" sz="2400" dirty="0"/>
          </a:p>
          <a:p>
            <a:pPr lvl="1"/>
            <a:r>
              <a:rPr lang="en-US" sz="2400" dirty="0">
                <a:effectLst>
                  <a:glow rad="228600">
                    <a:schemeClr val="accent6">
                      <a:satMod val="175000"/>
                      <a:alpha val="40000"/>
                    </a:schemeClr>
                  </a:glow>
                </a:effectLst>
              </a:rPr>
              <a:t>fast Ethernet, </a:t>
            </a:r>
            <a:endParaRPr lang="en-US" sz="2400" dirty="0">
              <a:effectLst>
                <a:glow rad="228600">
                  <a:schemeClr val="accent6">
                    <a:satMod val="175000"/>
                    <a:alpha val="40000"/>
                  </a:schemeClr>
                </a:glow>
              </a:effectLst>
            </a:endParaRPr>
          </a:p>
          <a:p>
            <a:pPr lvl="1"/>
            <a:r>
              <a:rPr lang="en-US" sz="2400" dirty="0">
                <a:effectLst>
                  <a:glow rad="228600">
                    <a:schemeClr val="accent6">
                      <a:satMod val="175000"/>
                      <a:alpha val="40000"/>
                    </a:schemeClr>
                  </a:glow>
                </a:effectLst>
              </a:rPr>
              <a:t>gigabit Ethernet, and </a:t>
            </a:r>
            <a:endParaRPr lang="en-US" sz="2400" dirty="0">
              <a:effectLst>
                <a:glow rad="228600">
                  <a:schemeClr val="accent6">
                    <a:satMod val="175000"/>
                    <a:alpha val="40000"/>
                  </a:schemeClr>
                </a:glow>
              </a:effectLst>
            </a:endParaRPr>
          </a:p>
          <a:p>
            <a:pPr lvl="1"/>
            <a:r>
              <a:rPr lang="en-US" sz="2400" dirty="0">
                <a:effectLst>
                  <a:glow rad="228600">
                    <a:schemeClr val="accent6">
                      <a:satMod val="175000"/>
                      <a:alpha val="40000"/>
                    </a:schemeClr>
                  </a:glow>
                </a:effectLst>
              </a:rPr>
              <a:t>10 gigabit Ethernet</a:t>
            </a:r>
            <a:endParaRPr lang="en-US" sz="2400" dirty="0">
              <a:effectLst>
                <a:glow rad="228600">
                  <a:schemeClr val="accent6">
                    <a:satMod val="175000"/>
                    <a:alpha val="40000"/>
                  </a:schemeClr>
                </a:glow>
              </a:effectLst>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21</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dirty="0"/>
              <a:t>Ethernet</a:t>
            </a:r>
            <a:endParaRPr lang="en-US" dirty="0"/>
          </a:p>
        </p:txBody>
      </p:sp>
      <p:sp>
        <p:nvSpPr>
          <p:cNvPr id="3" name="Content Placeholder 2"/>
          <p:cNvSpPr>
            <a:spLocks noGrp="1"/>
          </p:cNvSpPr>
          <p:nvPr>
            <p:ph idx="1"/>
          </p:nvPr>
        </p:nvSpPr>
        <p:spPr/>
        <p:txBody>
          <a:bodyPr>
            <a:normAutofit/>
          </a:bodyPr>
          <a:lstStyle/>
          <a:p>
            <a:r>
              <a:rPr lang="en-US" sz="2400" b="1" cap="small" dirty="0"/>
              <a:t>Classic Ethernet:</a:t>
            </a:r>
            <a:endParaRPr lang="en-US" sz="2400" b="1" cap="small" dirty="0"/>
          </a:p>
          <a:p>
            <a:pPr lvl="1"/>
            <a:r>
              <a:rPr lang="en-US" sz="2400" dirty="0"/>
              <a:t>Classic Ethernet snaked around the building as a single long cable to which all the computers were attached.</a:t>
            </a:r>
            <a:endParaRPr lang="en-US" sz="2400" dirty="0"/>
          </a:p>
          <a:p>
            <a:pPr lvl="1"/>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21</a:t>
            </a:r>
            <a:endParaRPr lang="en-US" dirty="0"/>
          </a:p>
        </p:txBody>
      </p:sp>
      <p:pic>
        <p:nvPicPr>
          <p:cNvPr id="5" name="Picture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3751" y="3200400"/>
            <a:ext cx="9144000" cy="2821021"/>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dirty="0"/>
              <a:t>Ethernet</a:t>
            </a:r>
            <a:endParaRPr lang="en-US" dirty="0"/>
          </a:p>
        </p:txBody>
      </p:sp>
      <p:sp>
        <p:nvSpPr>
          <p:cNvPr id="3" name="Content Placeholder 2"/>
          <p:cNvSpPr>
            <a:spLocks noGrp="1"/>
          </p:cNvSpPr>
          <p:nvPr>
            <p:ph idx="1"/>
          </p:nvPr>
        </p:nvSpPr>
        <p:spPr/>
        <p:txBody>
          <a:bodyPr>
            <a:normAutofit/>
          </a:bodyPr>
          <a:lstStyle/>
          <a:p>
            <a:r>
              <a:rPr lang="en-US" sz="2400" b="1" cap="small" dirty="0"/>
              <a:t>Classic Ethernet:</a:t>
            </a:r>
            <a:endParaRPr lang="en-US" sz="2400" b="1" cap="small" dirty="0"/>
          </a:p>
          <a:p>
            <a:pPr lvl="1"/>
            <a:r>
              <a:rPr lang="en-US" sz="2400" dirty="0"/>
              <a:t>Thick Ethernet</a:t>
            </a:r>
            <a:endParaRPr lang="en-US" sz="2400" dirty="0"/>
          </a:p>
          <a:p>
            <a:pPr lvl="2"/>
            <a:r>
              <a:rPr lang="en-US" sz="2000" dirty="0"/>
              <a:t>The first variety, popularly called thick Ethernet, resembled a yellow garden hose, with </a:t>
            </a:r>
            <a:r>
              <a:rPr lang="en-US" sz="2000" b="1" u="sng" dirty="0">
                <a:effectLst>
                  <a:glow rad="228600">
                    <a:schemeClr val="accent6">
                      <a:satMod val="175000"/>
                      <a:alpha val="40000"/>
                    </a:schemeClr>
                  </a:glow>
                </a:effectLst>
              </a:rPr>
              <a:t>markings every 2.5 meters</a:t>
            </a:r>
            <a:r>
              <a:rPr lang="en-US" sz="2000" dirty="0">
                <a:effectLst>
                  <a:glow rad="228600">
                    <a:schemeClr val="accent6">
                      <a:satMod val="175000"/>
                      <a:alpha val="40000"/>
                    </a:schemeClr>
                  </a:glow>
                </a:effectLst>
              </a:rPr>
              <a:t> </a:t>
            </a:r>
            <a:r>
              <a:rPr lang="en-US" sz="2000" dirty="0"/>
              <a:t>to show where to attach computers.</a:t>
            </a:r>
            <a:endParaRPr lang="en-US" sz="2000" dirty="0"/>
          </a:p>
          <a:p>
            <a:pPr lvl="2"/>
            <a:r>
              <a:rPr lang="en-US" sz="2000" dirty="0">
                <a:effectLst>
                  <a:glow rad="228600">
                    <a:schemeClr val="accent6">
                      <a:satMod val="175000"/>
                      <a:alpha val="40000"/>
                    </a:schemeClr>
                  </a:glow>
                </a:effectLst>
              </a:rPr>
              <a:t>500m per segment</a:t>
            </a:r>
            <a:endParaRPr lang="en-US" sz="2000" dirty="0">
              <a:effectLst>
                <a:glow rad="228600">
                  <a:schemeClr val="accent6">
                    <a:satMod val="175000"/>
                    <a:alpha val="40000"/>
                  </a:schemeClr>
                </a:glow>
              </a:effectLst>
            </a:endParaRPr>
          </a:p>
          <a:p>
            <a:pPr lvl="2"/>
            <a:r>
              <a:rPr lang="en-US" sz="2000" dirty="0">
                <a:effectLst>
                  <a:glow rad="228600">
                    <a:schemeClr val="accent6">
                      <a:satMod val="175000"/>
                      <a:alpha val="40000"/>
                    </a:schemeClr>
                  </a:glow>
                </a:effectLst>
              </a:rPr>
              <a:t>100 machine /segment</a:t>
            </a:r>
            <a:endParaRPr lang="en-US" sz="2000" dirty="0">
              <a:effectLst>
                <a:glow rad="228600">
                  <a:schemeClr val="accent6">
                    <a:satMod val="175000"/>
                    <a:alpha val="40000"/>
                  </a:schemeClr>
                </a:glow>
              </a:effectLst>
            </a:endParaRPr>
          </a:p>
          <a:p>
            <a:pPr lvl="1"/>
            <a:r>
              <a:rPr lang="en-US" sz="2400" dirty="0"/>
              <a:t>Thin Ethernet</a:t>
            </a:r>
            <a:endParaRPr lang="en-US" sz="2400" dirty="0"/>
          </a:p>
          <a:p>
            <a:pPr lvl="2"/>
            <a:r>
              <a:rPr lang="en-US" sz="2000" dirty="0"/>
              <a:t>which bent more easily and made connections using industry-standard BNC connectors</a:t>
            </a:r>
            <a:endParaRPr lang="en-US" sz="2000" dirty="0"/>
          </a:p>
          <a:p>
            <a:pPr lvl="2"/>
            <a:r>
              <a:rPr lang="en-US" sz="2000" dirty="0">
                <a:effectLst>
                  <a:glow rad="228600">
                    <a:schemeClr val="accent6">
                      <a:satMod val="175000"/>
                      <a:alpha val="40000"/>
                    </a:schemeClr>
                  </a:glow>
                </a:effectLst>
              </a:rPr>
              <a:t>185m</a:t>
            </a:r>
            <a:r>
              <a:rPr lang="en-US" sz="2000" dirty="0"/>
              <a:t> per segment</a:t>
            </a:r>
            <a:endParaRPr lang="en-US" sz="2000" dirty="0"/>
          </a:p>
          <a:p>
            <a:pPr lvl="2"/>
            <a:r>
              <a:rPr lang="en-US" sz="2000" dirty="0">
                <a:effectLst>
                  <a:glow rad="228600">
                    <a:schemeClr val="accent6">
                      <a:satMod val="175000"/>
                      <a:alpha val="40000"/>
                    </a:schemeClr>
                  </a:glow>
                </a:effectLst>
              </a:rPr>
              <a:t>30 machine / segment</a:t>
            </a:r>
            <a:endParaRPr lang="en-US" sz="2000" dirty="0">
              <a:effectLst>
                <a:glow rad="228600">
                  <a:schemeClr val="accent6">
                    <a:satMod val="175000"/>
                    <a:alpha val="40000"/>
                  </a:schemeClr>
                </a:glow>
              </a:effectLst>
            </a:endParaRPr>
          </a:p>
          <a:p>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21</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dirty="0"/>
              <a:t>Ethernet</a:t>
            </a:r>
            <a:endParaRPr lang="en-US" dirty="0"/>
          </a:p>
        </p:txBody>
      </p:sp>
      <p:sp>
        <p:nvSpPr>
          <p:cNvPr id="3" name="Content Placeholder 2"/>
          <p:cNvSpPr>
            <a:spLocks noGrp="1"/>
          </p:cNvSpPr>
          <p:nvPr>
            <p:ph idx="1"/>
          </p:nvPr>
        </p:nvSpPr>
        <p:spPr/>
        <p:txBody>
          <a:bodyPr>
            <a:noAutofit/>
          </a:bodyPr>
          <a:lstStyle/>
          <a:p>
            <a:r>
              <a:rPr lang="en-US" sz="2300" dirty="0"/>
              <a:t>Each version of Ethernet has a maximum cable length per segment (i.e., unamplified length) over which the signal will propagate. </a:t>
            </a:r>
            <a:endParaRPr lang="en-US" sz="2300" dirty="0"/>
          </a:p>
          <a:p>
            <a:r>
              <a:rPr lang="en-US" sz="2300" dirty="0"/>
              <a:t>To allow larger networks, multiple cables can be connected by </a:t>
            </a:r>
            <a:r>
              <a:rPr lang="en-US" sz="2300" b="1" cap="small" dirty="0"/>
              <a:t>repeaters</a:t>
            </a:r>
            <a:r>
              <a:rPr lang="en-US" sz="2300" dirty="0"/>
              <a:t>. </a:t>
            </a:r>
            <a:endParaRPr lang="en-US" sz="2300" dirty="0"/>
          </a:p>
          <a:p>
            <a:r>
              <a:rPr lang="en-US" sz="2300" dirty="0"/>
              <a:t>A </a:t>
            </a:r>
            <a:r>
              <a:rPr lang="en-US" sz="2300" b="1" u="sng" cap="small" dirty="0">
                <a:effectLst>
                  <a:glow rad="228600">
                    <a:schemeClr val="accent6">
                      <a:satMod val="175000"/>
                      <a:alpha val="40000"/>
                    </a:schemeClr>
                  </a:glow>
                </a:effectLst>
              </a:rPr>
              <a:t>repeater</a:t>
            </a:r>
            <a:r>
              <a:rPr lang="en-US" sz="2300" dirty="0"/>
              <a:t> is a physical layer device that receives, amplifies (i.e., regenerates), and retransmits signals in both directions.</a:t>
            </a:r>
            <a:endParaRPr lang="en-US" sz="2300" dirty="0"/>
          </a:p>
          <a:p>
            <a:endParaRPr lang="en-US" sz="2300" dirty="0"/>
          </a:p>
          <a:p>
            <a:r>
              <a:rPr lang="en-US" sz="2300" dirty="0"/>
              <a:t>An Ethernet could contain multiple cable segments and multiple repeaters, but no two transceivers could be more than 2.5 km apart and no path between any two transceivers could traverse more than four repeaters</a:t>
            </a:r>
            <a:endParaRPr lang="en-US" sz="2300" dirty="0"/>
          </a:p>
        </p:txBody>
      </p:sp>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21</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dirty="0"/>
              <a:t>Ethernet</a:t>
            </a:r>
            <a:endParaRPr lang="en-US" dirty="0"/>
          </a:p>
        </p:txBody>
      </p:sp>
      <p:pic>
        <p:nvPicPr>
          <p:cNvPr id="5" name="Content Placeholder 4"/>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457200" y="3048000"/>
            <a:ext cx="8229600" cy="3197228"/>
          </a:xfrm>
          <a:prstGeom prst="rect">
            <a:avLst/>
          </a:prstGeom>
        </p:spPr>
      </p:pic>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21</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411257"/>
            <a:ext cx="3957144" cy="1220821"/>
          </a:xfrm>
          <a:prstGeom prst="rect">
            <a:avLst/>
          </a:prstGeom>
        </p:spPr>
      </p:pic>
      <p:sp>
        <p:nvSpPr>
          <p:cNvPr id="7" name="TextBox 6"/>
          <p:cNvSpPr txBox="1"/>
          <p:nvPr/>
        </p:nvSpPr>
        <p:spPr>
          <a:xfrm>
            <a:off x="5029200" y="1349437"/>
            <a:ext cx="2210862" cy="461665"/>
          </a:xfrm>
          <a:prstGeom prst="rect">
            <a:avLst/>
          </a:prstGeom>
          <a:noFill/>
        </p:spPr>
        <p:txBody>
          <a:bodyPr wrap="none" rtlCol="0">
            <a:spAutoFit/>
          </a:bodyPr>
          <a:lstStyle/>
          <a:p>
            <a:r>
              <a:rPr lang="en-US" sz="2400" dirty="0"/>
              <a:t>Collision Doman</a:t>
            </a:r>
            <a:endParaRPr lang="en-US" sz="2400" dirty="0"/>
          </a:p>
        </p:txBody>
      </p:sp>
      <p:sp>
        <p:nvSpPr>
          <p:cNvPr id="8" name="TextBox 7"/>
          <p:cNvSpPr txBox="1"/>
          <p:nvPr/>
        </p:nvSpPr>
        <p:spPr>
          <a:xfrm>
            <a:off x="4800600" y="1886212"/>
            <a:ext cx="4073616" cy="830997"/>
          </a:xfrm>
          <a:prstGeom prst="rect">
            <a:avLst/>
          </a:prstGeom>
          <a:noFill/>
        </p:spPr>
        <p:txBody>
          <a:bodyPr wrap="none" rtlCol="0">
            <a:spAutoFit/>
          </a:bodyPr>
          <a:lstStyle/>
          <a:p>
            <a:pPr marL="285750" indent="-285750">
              <a:buFont typeface="Arial" panose="02080604020202020204" pitchFamily="34" charset="0"/>
              <a:buChar char="•"/>
            </a:pPr>
            <a:r>
              <a:rPr lang="en-US" sz="2400" dirty="0"/>
              <a:t>Hub vs </a:t>
            </a:r>
            <a:r>
              <a:rPr lang="en-US" sz="2400" dirty="0" smtClean="0"/>
              <a:t>Switch</a:t>
            </a:r>
            <a:endParaRPr lang="en-US" sz="2400" dirty="0" smtClean="0"/>
          </a:p>
          <a:p>
            <a:pPr marL="285750" indent="-285750">
              <a:buFont typeface="Arial" panose="02080604020202020204" pitchFamily="34" charset="0"/>
              <a:buChar char="•"/>
            </a:pPr>
            <a:r>
              <a:rPr lang="en-US" sz="2400" dirty="0" smtClean="0"/>
              <a:t>Working procedure of switch</a:t>
            </a:r>
            <a:endParaRPr lang="en-US" sz="24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dirty="0"/>
              <a:t>Ethernet</a:t>
            </a:r>
            <a:endParaRPr lang="en-US" dirty="0"/>
          </a:p>
        </p:txBody>
      </p:sp>
      <p:pic>
        <p:nvPicPr>
          <p:cNvPr id="5" name="Content Placeholder 4"/>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304800" y="1828800"/>
            <a:ext cx="8229600" cy="2737686"/>
          </a:xfrm>
          <a:prstGeom prst="rect">
            <a:avLst/>
          </a:prstGeom>
        </p:spPr>
      </p:pic>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a:t> </a:t>
            </a:r>
            <a:r>
              <a:rPr lang="en-US" dirty="0" smtClean="0"/>
              <a:t>of 21</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285750" indent="-285750"/>
            <a:r>
              <a:rPr lang="en-US" cap="small" dirty="0"/>
              <a:t>Hub vs </a:t>
            </a:r>
            <a:r>
              <a:rPr lang="en-US" cap="small" dirty="0" smtClean="0"/>
              <a:t>Switch vs Router</a:t>
            </a:r>
            <a:endParaRPr lang="en-US" cap="small" dirty="0"/>
          </a:p>
        </p:txBody>
      </p:sp>
      <p:sp>
        <p:nvSpPr>
          <p:cNvPr id="4" name="Slide Number Placeholder 3"/>
          <p:cNvSpPr>
            <a:spLocks noGrp="1"/>
          </p:cNvSpPr>
          <p:nvPr>
            <p:ph type="sldNum" sz="quarter" idx="12"/>
          </p:nvPr>
        </p:nvSpPr>
        <p:spPr/>
        <p:txBody>
          <a:bodyPr/>
          <a:lstStyle/>
          <a:p>
            <a:fld id="{B6F15528-21DE-4FAA-801E-634DDDAF4B2B}" type="slidenum">
              <a:rPr lang="en-US" smtClean="0"/>
            </a:fld>
            <a:r>
              <a:rPr lang="en-US" dirty="0" smtClean="0"/>
              <a:t> of 21</a:t>
            </a:r>
            <a:endParaRPr lang="en-US" dirty="0"/>
          </a:p>
        </p:txBody>
      </p:sp>
      <p:pic>
        <p:nvPicPr>
          <p:cNvPr id="1026" name="Picture 2" descr="Lightbox"/>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543175" y="1634331"/>
            <a:ext cx="4057650" cy="4457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4261</Words>
  <Application>WPS Presentation</Application>
  <PresentationFormat>On-screen Show (4:3)</PresentationFormat>
  <Paragraphs>140</Paragraphs>
  <Slides>21</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21</vt:i4>
      </vt:variant>
    </vt:vector>
  </HeadingPairs>
  <TitlesOfParts>
    <vt:vector size="32" baseType="lpstr">
      <vt:lpstr>Arial</vt:lpstr>
      <vt:lpstr>SimSun</vt:lpstr>
      <vt:lpstr>Wingdings</vt:lpstr>
      <vt:lpstr>DejaVu Sans</vt:lpstr>
      <vt:lpstr>Times New Roman</vt:lpstr>
      <vt:lpstr>Calibri</vt:lpstr>
      <vt:lpstr>Microsoft YaHei</vt:lpstr>
      <vt:lpstr>Droid Sans Fallback</vt:lpstr>
      <vt:lpstr>Arial Unicode MS</vt:lpstr>
      <vt:lpstr>Noto Color Emoji</vt:lpstr>
      <vt:lpstr>Office Theme</vt:lpstr>
      <vt:lpstr>PowerPoint 演示文稿</vt:lpstr>
      <vt:lpstr>PowerPoint 演示文稿</vt:lpstr>
      <vt:lpstr>PowerPoint 演示文稿</vt:lpstr>
      <vt:lpstr>Ethernet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Ethernet</vt:lpstr>
      <vt:lpstr>Ethernet</vt:lpstr>
      <vt:lpstr>Ethernet</vt:lpstr>
      <vt:lpstr>Ethernet</vt:lpstr>
      <vt:lpstr>Ethernet</vt:lpstr>
      <vt:lpstr>Ethernet</vt:lpstr>
      <vt:lpstr>Hub vs Switch vs Router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Processing all k-nearest neighbor queries in Hadoop</dc:title>
  <dc:creator>Administrator</dc:creator>
  <cp:lastModifiedBy>masud-rana-mushfiq</cp:lastModifiedBy>
  <cp:revision>915</cp:revision>
  <cp:lastPrinted>2026-01-19T11:43:42Z</cp:lastPrinted>
  <dcterms:created xsi:type="dcterms:W3CDTF">2026-01-19T11:43:42Z</dcterms:created>
  <dcterms:modified xsi:type="dcterms:W3CDTF">2026-01-19T11:43:42Z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