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256" r:id="rId3"/>
    <p:sldId id="278" r:id="rId5"/>
    <p:sldId id="276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279" r:id="rId18"/>
    <p:sldId id="300" r:id="rId19"/>
    <p:sldId id="301" r:id="rId20"/>
    <p:sldId id="303" r:id="rId21"/>
    <p:sldId id="302" r:id="rId22"/>
    <p:sldId id="280" r:id="rId23"/>
    <p:sldId id="281" r:id="rId24"/>
    <p:sldId id="288" r:id="rId25"/>
    <p:sldId id="282" r:id="rId26"/>
    <p:sldId id="284" r:id="rId27"/>
    <p:sldId id="271" r:id="rId28"/>
    <p:sldId id="304" r:id="rId29"/>
    <p:sldId id="305" r:id="rId30"/>
    <p:sldId id="306" r:id="rId31"/>
    <p:sldId id="273" r:id="rId32"/>
    <p:sldId id="307" r:id="rId33"/>
    <p:sldId id="308" r:id="rId34"/>
    <p:sldId id="309" r:id="rId35"/>
    <p:sldId id="310" r:id="rId36"/>
    <p:sldId id="274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9" r:id="rId45"/>
    <p:sldId id="318" r:id="rId46"/>
    <p:sldId id="320" r:id="rId47"/>
    <p:sldId id="321" r:id="rId48"/>
    <p:sldId id="275" r:id="rId49"/>
    <p:sldId id="277" r:id="rId5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2" autoAdjust="0"/>
    <p:restoredTop sz="61265" autoAdjust="0"/>
  </p:normalViewPr>
  <p:slideViewPr>
    <p:cSldViewPr showGuides="1">
      <p:cViewPr varScale="1">
        <p:scale>
          <a:sx n="67" d="100"/>
          <a:sy n="67" d="100"/>
        </p:scale>
        <p:origin x="156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tif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  <a:endParaRPr lang="en-US" sz="2800" cap="small" dirty="0"/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  <a:endParaRPr lang="en-US" sz="4800" b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email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38387" y="5153877"/>
            <a:ext cx="8668139" cy="5334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F670B82-F28B-4B03-A415-8E756960D5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1676400" y="1752600"/>
            <a:ext cx="5372100" cy="439410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of 24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971800" y="1676400"/>
            <a:ext cx="2552700" cy="685800"/>
          </a:xfrm>
          <a:prstGeom prst="roundRect">
            <a:avLst/>
          </a:prstGeom>
          <a:solidFill>
            <a:srgbClr val="7030A0">
              <a:alpha val="28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Host Configuration Protocol (DHCP)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DHCP is </a:t>
            </a:r>
            <a:r>
              <a:rPr lang="en-US" dirty="0" smtClean="0"/>
              <a:t>Needed?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2667000"/>
            <a:ext cx="6516009" cy="2810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DHCP?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2362200"/>
            <a:ext cx="6315956" cy="32198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Components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2286000"/>
            <a:ext cx="6258798" cy="28578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Uses </a:t>
            </a:r>
            <a:r>
              <a:rPr lang="en-US" dirty="0" smtClean="0"/>
              <a:t>which Layer?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2362200"/>
            <a:ext cx="4058216" cy="235300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Address Allocation Methods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2300860"/>
            <a:ext cx="6697010" cy="31722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Lease Concept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2362200"/>
            <a:ext cx="5963482" cy="167663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Message Exchange (DORA)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7478" y="2496150"/>
            <a:ext cx="6830378" cy="278168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 cstate="email"/>
          <a:srcRect b="-1"/>
          <a:stretch>
            <a:fillRect/>
          </a:stretch>
        </p:blipFill>
        <p:spPr>
          <a:xfrm>
            <a:off x="685800" y="152400"/>
            <a:ext cx="5401429" cy="2306588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email"/>
          <a:stretch>
            <a:fillRect/>
          </a:stretch>
        </p:blipFill>
        <p:spPr>
          <a:xfrm>
            <a:off x="1828800" y="2667000"/>
            <a:ext cx="6108564" cy="3282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Limitations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600200"/>
            <a:ext cx="5001323" cy="20767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267200"/>
            <a:ext cx="6277851" cy="1667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vs Static IP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752600" y="1676400"/>
          <a:ext cx="5029200" cy="18288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DHCP</a:t>
                      </a:r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Static IP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Automatic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Manual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Temporary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Permanent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Easy to manage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More control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Used in large networks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Used for servers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70718" y="533400"/>
            <a:ext cx="5782482" cy="3458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3683" y="1752600"/>
            <a:ext cx="8183117" cy="28007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29792" y="5871925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https://www.cloudflare.com/learning/dns/what-is-dns/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3863" y="1417638"/>
            <a:ext cx="7516274" cy="261974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3" y="4267200"/>
            <a:ext cx="8078327" cy="15242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800" y="5887197"/>
            <a:ext cx="5031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Client side Random Port 1024+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Namespace Structure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24000"/>
            <a:ext cx="4887007" cy="439163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953000" y="4057174"/>
            <a:ext cx="39513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specific name assigned to a device or service (e.g., www or mail). This is often the leftmost label in a </a:t>
            </a:r>
            <a:r>
              <a:rPr lang="en-US" sz="2400" b="1" dirty="0"/>
              <a:t>fully qualified domain name (FQDN)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Total Character Limit</a:t>
            </a:r>
            <a:r>
              <a:rPr lang="en-US" sz="2400" dirty="0"/>
              <a:t>: The entire FQDN cannot exceed </a:t>
            </a:r>
            <a:r>
              <a:rPr lang="en-US" sz="2400" b="1" dirty="0"/>
              <a:t>253 characters</a:t>
            </a:r>
            <a:r>
              <a:rPr lang="en-US" sz="2400" dirty="0"/>
              <a:t> 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Label </a:t>
            </a:r>
            <a:r>
              <a:rPr lang="en-US" sz="2400" b="1" dirty="0"/>
              <a:t>Limit</a:t>
            </a:r>
            <a:r>
              <a:rPr lang="en-US" sz="2400" dirty="0"/>
              <a:t>: Each individual label between dots can have a maximum of </a:t>
            </a:r>
            <a:r>
              <a:rPr lang="en-US" sz="2400" b="1" dirty="0"/>
              <a:t>63 characters</a:t>
            </a:r>
            <a:r>
              <a:rPr lang="en-US" sz="2400" dirty="0"/>
              <a:t>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Depth Limit</a:t>
            </a:r>
            <a:r>
              <a:rPr lang="en-US" sz="2400" dirty="0"/>
              <a:t>: While </a:t>
            </a:r>
            <a:r>
              <a:rPr lang="en-US" sz="2400" b="1" dirty="0"/>
              <a:t>127 levels </a:t>
            </a:r>
            <a:r>
              <a:rPr lang="en-US" sz="2400" dirty="0"/>
              <a:t>are theoretically possible, most browsers and networks operate within 3 to 5 levels for practical efficiency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Components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1676400"/>
            <a:ext cx="5087060" cy="41630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399"/>
          </a:xfrm>
        </p:spPr>
        <p:txBody>
          <a:bodyPr>
            <a:normAutofit/>
          </a:bodyPr>
          <a:lstStyle/>
          <a:p>
            <a:r>
              <a:rPr lang="en-US" sz="2800" dirty="0"/>
              <a:t>There are 4 DNS servers involved in loading a webpage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pPr marL="1314450" lvl="2" indent="-514350">
              <a:buFont typeface="+mj-lt"/>
              <a:buAutoNum type="arabicPeriod"/>
            </a:pPr>
            <a:r>
              <a:rPr lang="en-US" sz="2800" b="1" cap="small" dirty="0"/>
              <a:t>DNS recursor </a:t>
            </a:r>
            <a:endParaRPr lang="en-US" sz="2800" b="1" cap="small" dirty="0" smtClean="0"/>
          </a:p>
          <a:p>
            <a:pPr marL="1314450" lvl="2" indent="-514350">
              <a:buFont typeface="+mj-lt"/>
              <a:buAutoNum type="arabicPeriod"/>
            </a:pPr>
            <a:r>
              <a:rPr lang="en-US" sz="2800" b="1" cap="small" dirty="0"/>
              <a:t>Root </a:t>
            </a:r>
            <a:r>
              <a:rPr lang="en-US" sz="2800" b="1" cap="small" dirty="0" smtClean="0"/>
              <a:t>nameserver</a:t>
            </a:r>
            <a:endParaRPr lang="en-US" sz="2800" b="1" cap="small" dirty="0" smtClean="0"/>
          </a:p>
          <a:p>
            <a:pPr marL="1314450" lvl="2" indent="-514350">
              <a:buFont typeface="+mj-lt"/>
              <a:buAutoNum type="arabicPeriod"/>
            </a:pPr>
            <a:r>
              <a:rPr lang="en-US" sz="2800" b="1" cap="small" dirty="0"/>
              <a:t>TLD nameserver </a:t>
            </a:r>
            <a:endParaRPr lang="en-US" sz="2800" b="1" cap="small" dirty="0" smtClean="0"/>
          </a:p>
          <a:p>
            <a:pPr marL="1314450" lvl="2" indent="-514350">
              <a:buFont typeface="+mj-lt"/>
              <a:buAutoNum type="arabicPeriod"/>
            </a:pPr>
            <a:r>
              <a:rPr lang="en-US" sz="2800" b="1" cap="small" dirty="0"/>
              <a:t>Authoritative nameserver </a:t>
            </a:r>
            <a:endParaRPr lang="en-US" sz="2800" b="1" cap="small" dirty="0" smtClean="0"/>
          </a:p>
          <a:p>
            <a:pPr marL="1314450" lvl="2" indent="-514350">
              <a:buFont typeface="+mj-lt"/>
              <a:buAutoNum type="arabicPeriod"/>
            </a:pPr>
            <a:endParaRPr lang="en-US" sz="2800" b="1" cap="small" dirty="0"/>
          </a:p>
          <a:p>
            <a:pPr marL="1314450" lvl="2" indent="-514350">
              <a:buFont typeface="+mj-lt"/>
              <a:buAutoNum type="arabicPeriod"/>
            </a:pPr>
            <a:endParaRPr lang="en-US" sz="2800" b="1" cap="small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304800" y="1981200"/>
            <a:ext cx="8229600" cy="411178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228600"/>
            <a:ext cx="8382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recursor</a:t>
            </a:r>
            <a:r>
              <a:rPr lang="en-US" sz="2400" dirty="0"/>
              <a:t> can be thought of as a </a:t>
            </a:r>
            <a:r>
              <a:rPr lang="en-US" sz="2400" b="1" dirty="0">
                <a:solidFill>
                  <a:srgbClr val="FF0000"/>
                </a:solidFill>
              </a:rPr>
              <a:t>librarian</a:t>
            </a:r>
            <a:r>
              <a:rPr lang="en-US" sz="2400" dirty="0"/>
              <a:t> who is asked to go find a particular book somewhere in a library.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…</a:t>
            </a:r>
            <a:r>
              <a:rPr lang="en-US" sz="2400" dirty="0"/>
              <a:t>a server designed to receive queries from client machines through applications such as web browsers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365399" y="944267"/>
            <a:ext cx="8413202" cy="54403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1026" name="Picture 2" descr="DNS Heirarchy"/>
          <p:cNvPicPr>
            <a:picLocks noGrp="1" noChangeAspect="1" noChangeArrowheads="1"/>
          </p:cNvPicPr>
          <p:nvPr>
            <p:ph idx="1"/>
          </p:nvPr>
        </p:nvPicPr>
        <p:blipFill>
          <a:blip r:embed="rId1" cstate="email">
            <a:biLevel thresh="75000"/>
          </a:blip>
          <a:srcRect/>
          <a:stretch>
            <a:fillRect/>
          </a:stretch>
        </p:blipFill>
        <p:spPr bwMode="auto">
          <a:xfrm>
            <a:off x="381000" y="2438400"/>
            <a:ext cx="8721090" cy="313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-76200" y="2743200"/>
            <a:ext cx="8077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Top Level Domain (TLD) server</a:t>
            </a:r>
            <a:endParaRPr lang="en-US" sz="2400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62000" y="228440"/>
            <a:ext cx="4569318" cy="2282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TLD nameserver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Management of TLD nameservers is handled by the Internet Assigned Numbers Authority (</a:t>
            </a:r>
            <a:r>
              <a:rPr lang="en-US" sz="2400" b="1" dirty="0">
                <a:solidFill>
                  <a:srgbClr val="FF0000"/>
                </a:solidFill>
              </a:rPr>
              <a:t>IANA</a:t>
            </a:r>
            <a:r>
              <a:rPr lang="en-US" sz="2400" dirty="0"/>
              <a:t>), which is a branch of </a:t>
            </a:r>
            <a:r>
              <a:rPr lang="en-US" sz="2400" b="1" u="sng" dirty="0">
                <a:solidFill>
                  <a:srgbClr val="FF0000"/>
                </a:solidFill>
              </a:rPr>
              <a:t>ICANN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IANA breaks up the TLD servers into two main groups:</a:t>
            </a:r>
            <a:endParaRPr lang="en-US" sz="2400" dirty="0"/>
          </a:p>
          <a:p>
            <a:pPr algn="just"/>
            <a:endParaRPr lang="en-US" sz="2400" dirty="0"/>
          </a:p>
          <a:p>
            <a:pPr lvl="1" algn="just"/>
            <a:r>
              <a:rPr lang="en-US" sz="2400" b="1" u="sng" dirty="0"/>
              <a:t>Generic top-level domains</a:t>
            </a:r>
            <a:r>
              <a:rPr lang="en-US" sz="2400" dirty="0"/>
              <a:t>: These are domains that are not country specific, some of the best-known generic TLDs include .com, .org, </a:t>
            </a:r>
            <a:r>
              <a:rPr lang="en-US" sz="2400" dirty="0" err="1"/>
              <a:t>.net</a:t>
            </a:r>
            <a:r>
              <a:rPr lang="en-US" sz="2400" dirty="0"/>
              <a:t>, .</a:t>
            </a:r>
            <a:r>
              <a:rPr lang="en-US" sz="2400" dirty="0" err="1"/>
              <a:t>edu</a:t>
            </a:r>
            <a:r>
              <a:rPr lang="en-US" sz="2400" dirty="0"/>
              <a:t>, and .gov.</a:t>
            </a:r>
            <a:endParaRPr lang="en-US" sz="2400" dirty="0"/>
          </a:p>
          <a:p>
            <a:pPr lvl="1" algn="just"/>
            <a:r>
              <a:rPr lang="en-US" sz="2400" b="1" u="sng" dirty="0"/>
              <a:t>Country code top-level domains</a:t>
            </a:r>
            <a:r>
              <a:rPr lang="en-US" sz="2400" dirty="0"/>
              <a:t>: These include any domains that are specific to a country or state. </a:t>
            </a:r>
            <a:br>
              <a:rPr lang="en-US" sz="2400" dirty="0" smtClean="0"/>
            </a:br>
            <a:r>
              <a:rPr lang="en-US" sz="2400" dirty="0" smtClean="0"/>
              <a:t>Examples </a:t>
            </a:r>
            <a:r>
              <a:rPr lang="en-US" sz="2400" dirty="0"/>
              <a:t>include </a:t>
            </a:r>
            <a:r>
              <a:rPr lang="en-US" sz="2400" dirty="0" smtClean="0"/>
              <a:t>.</a:t>
            </a:r>
            <a:r>
              <a:rPr lang="en-US" sz="2400" dirty="0" err="1" smtClean="0"/>
              <a:t>bd</a:t>
            </a:r>
            <a:r>
              <a:rPr lang="en-US" sz="2400" dirty="0" smtClean="0"/>
              <a:t>, .</a:t>
            </a:r>
            <a:r>
              <a:rPr lang="en-US" sz="2400" dirty="0" err="1" smtClean="0"/>
              <a:t>uk</a:t>
            </a:r>
            <a:r>
              <a:rPr lang="en-US" sz="2400" dirty="0"/>
              <a:t>, .us, .</a:t>
            </a:r>
            <a:r>
              <a:rPr lang="en-US" sz="2400" dirty="0" err="1"/>
              <a:t>ru</a:t>
            </a:r>
            <a:r>
              <a:rPr lang="en-US" sz="2400" dirty="0"/>
              <a:t>, and .</a:t>
            </a:r>
            <a:r>
              <a:rPr lang="en-US" sz="2400" dirty="0" err="1"/>
              <a:t>jp</a:t>
            </a:r>
            <a:r>
              <a:rPr lang="en-US" sz="2400" dirty="0"/>
              <a:t>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Directory Server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26545"/>
            <a:ext cx="6934200" cy="859456"/>
          </a:xfrm>
        </p:spPr>
        <p:txBody>
          <a:bodyPr>
            <a:noAutofit/>
          </a:bodyPr>
          <a:lstStyle/>
          <a:p>
            <a:r>
              <a:rPr lang="en-US" sz="2800" dirty="0"/>
              <a:t>What is a Directory Server?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381000" y="2294908"/>
            <a:ext cx="8686800" cy="233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2209800"/>
            <a:ext cx="7078063" cy="29531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5684881"/>
            <a:ext cx="76962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A0A0A"/>
                </a:solidFill>
                <a:latin typeface="+mj-lt"/>
                <a:cs typeface="+mj-lt"/>
              </a:rPr>
              <a:t>RADIUS (Remote Authentication Dial-In User Service)</a:t>
            </a:r>
            <a:endParaRPr lang="en-US" sz="2400" dirty="0">
              <a:latin typeface="+mj-lt"/>
              <a:cs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Directory Server in Campus </a:t>
            </a:r>
            <a:r>
              <a:rPr lang="en-US" b="1" dirty="0" smtClean="0"/>
              <a:t>Networks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838200" y="2458170"/>
            <a:ext cx="6744936" cy="18852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LDAP Protocol Basics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1828800"/>
            <a:ext cx="7106642" cy="292458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1371600" y="3276600"/>
            <a:ext cx="5867400" cy="609600"/>
          </a:xfrm>
          <a:prstGeom prst="roundRect">
            <a:avLst/>
          </a:prstGeom>
          <a:solidFill>
            <a:srgbClr val="FFC00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FTP Server?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327582" y="1887277"/>
            <a:ext cx="8655151" cy="2103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27582" y="4063992"/>
            <a:ext cx="4960071" cy="2445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FTP Ports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359302" y="1417638"/>
            <a:ext cx="5029200" cy="177414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457200" y="3333431"/>
            <a:ext cx="4157518" cy="33343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5388502" y="1143000"/>
            <a:ext cx="3637799" cy="24399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5388502" y="3793118"/>
            <a:ext cx="3569162" cy="2393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Commands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4400" y="1752600"/>
            <a:ext cx="4982270" cy="352474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FTP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0" y="1828800"/>
            <a:ext cx="5344271" cy="276263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Server Software Examples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905000"/>
            <a:ext cx="4344006" cy="281026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Email Server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Simple Mail Transfer Protocol (SMTP)</a:t>
            </a:r>
            <a:endParaRPr lang="en-US" sz="2400" dirty="0"/>
          </a:p>
          <a:p>
            <a:r>
              <a:rPr lang="en-US" sz="2400" dirty="0"/>
              <a:t>To Send Email</a:t>
            </a:r>
            <a:endParaRPr lang="en-US" sz="2400" dirty="0"/>
          </a:p>
          <a:p>
            <a:r>
              <a:rPr lang="en-US" sz="2400" dirty="0"/>
              <a:t>Default Port: 25</a:t>
            </a:r>
            <a:endParaRPr lang="en-US" sz="2400" dirty="0"/>
          </a:p>
          <a:p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B6CDD6"/>
              </a:clrFrom>
              <a:clrTo>
                <a:srgbClr val="B6CDD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" y="3124200"/>
            <a:ext cx="7192379" cy="3315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Proxy Server?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381000" y="2514600"/>
            <a:ext cx="8672593" cy="2286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 Proxy Server?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609600" y="1752600"/>
            <a:ext cx="4945033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Proxy Communication Flow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587683" y="1600200"/>
            <a:ext cx="7968633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7488"/>
            <a:ext cx="8229600" cy="1143000"/>
          </a:xfrm>
        </p:spPr>
        <p:txBody>
          <a:bodyPr/>
          <a:lstStyle/>
          <a:p>
            <a:r>
              <a:rPr lang="en-US" dirty="0"/>
              <a:t>Types of Proxy Servers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762000" y="1524001"/>
            <a:ext cx="4588329" cy="2590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Proxy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981200"/>
            <a:ext cx="7354326" cy="35342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Reverse </a:t>
            </a:r>
            <a:r>
              <a:rPr lang="en-US" b="1" dirty="0" smtClean="0"/>
              <a:t>Proxy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609600" y="1524000"/>
            <a:ext cx="5518249" cy="4953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Transparent Proxy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676400"/>
            <a:ext cx="6382641" cy="40582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Proxy vs NAT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457200" y="1952034"/>
            <a:ext cx="8229600" cy="38699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and CDN Relationship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457200" y="1908107"/>
            <a:ext cx="8229600" cy="39101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BOOTP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858" y="1295400"/>
            <a:ext cx="8882142" cy="239236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99084"/>
            <a:ext cx="5153489" cy="25398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BOOTP Operation in 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of 47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981200"/>
            <a:ext cx="8229600" cy="42790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43425" y="5782888"/>
            <a:ext cx="2759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Trivial File Transfer Protocol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err="1"/>
              <a:t>BootP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1905000" y="2362200"/>
            <a:ext cx="5022850" cy="326563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 cstate="email"/>
          <a:stretch>
            <a:fillRect/>
          </a:stretch>
        </p:blipFill>
        <p:spPr>
          <a:xfrm>
            <a:off x="1637549" y="1600200"/>
            <a:ext cx="5868901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r>
              <a:rPr lang="en-US" dirty="0" smtClean="0"/>
              <a:t> </a:t>
            </a:r>
            <a:r>
              <a:rPr lang="en-US" dirty="0" smtClean="0"/>
              <a:t>of 47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2722</Words>
  <Application>WPS Presentation</Application>
  <PresentationFormat>On-screen Show (4:3)</PresentationFormat>
  <Paragraphs>233</Paragraphs>
  <Slides>47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8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Google Sans</vt:lpstr>
      <vt:lpstr>KongshoMatraMJ</vt:lpstr>
      <vt:lpstr>SutonnyOMJ</vt:lpstr>
      <vt:lpstr>Office Theme</vt:lpstr>
      <vt:lpstr>PowerPoint 演示文稿</vt:lpstr>
      <vt:lpstr>PowerPoint 演示文稿</vt:lpstr>
      <vt:lpstr>PowerPoint 演示文稿</vt:lpstr>
      <vt:lpstr>Dynamic Host Configuration Protocol (DHCP)</vt:lpstr>
      <vt:lpstr>What is DHCP?</vt:lpstr>
      <vt:lpstr>DHCP Components</vt:lpstr>
      <vt:lpstr>DHCP Uses which Layer?</vt:lpstr>
      <vt:lpstr>DHCP Address Allocation Methods</vt:lpstr>
      <vt:lpstr>DHCP Lease Concept</vt:lpstr>
      <vt:lpstr>DHCP Message Exchange (DORA)</vt:lpstr>
      <vt:lpstr>PowerPoint 演示文稿</vt:lpstr>
      <vt:lpstr>Advantages &amp; Limitations </vt:lpstr>
      <vt:lpstr>DHCP vs Static IP</vt:lpstr>
      <vt:lpstr>PowerPoint 演示文稿</vt:lpstr>
      <vt:lpstr>Domain Name System (DNS)</vt:lpstr>
      <vt:lpstr>What is DNS</vt:lpstr>
      <vt:lpstr>DNS Namespace Structure</vt:lpstr>
      <vt:lpstr>PowerPoint 演示文稿</vt:lpstr>
      <vt:lpstr>DNS Components</vt:lpstr>
      <vt:lpstr>PowerPoint 演示文稿</vt:lpstr>
      <vt:lpstr>PowerPoint 演示文稿</vt:lpstr>
      <vt:lpstr>PowerPoint 演示文稿</vt:lpstr>
      <vt:lpstr>PowerPoint 演示文稿</vt:lpstr>
      <vt:lpstr>What is a TLD nameserver?</vt:lpstr>
      <vt:lpstr>Directory Server</vt:lpstr>
      <vt:lpstr>Examples</vt:lpstr>
      <vt:lpstr>Directory Server in Campus Networks</vt:lpstr>
      <vt:lpstr>LDAP Protocol Basics</vt:lpstr>
      <vt:lpstr>What is an FTP Server?</vt:lpstr>
      <vt:lpstr>FTP Ports</vt:lpstr>
      <vt:lpstr>FTP Commands</vt:lpstr>
      <vt:lpstr>Types of FTP</vt:lpstr>
      <vt:lpstr>FTP Server Software Examples</vt:lpstr>
      <vt:lpstr>Email Server</vt:lpstr>
      <vt:lpstr>What is a Proxy Server?</vt:lpstr>
      <vt:lpstr>Why Use a Proxy Server?</vt:lpstr>
      <vt:lpstr>Basic Proxy Communication Flow</vt:lpstr>
      <vt:lpstr>Types of Proxy Servers</vt:lpstr>
      <vt:lpstr>Forward Proxy</vt:lpstr>
      <vt:lpstr>Reverse Proxy</vt:lpstr>
      <vt:lpstr>Transparent Proxy</vt:lpstr>
      <vt:lpstr>Proxy vs NAT</vt:lpstr>
      <vt:lpstr>Proxy and CDN Relationship</vt:lpstr>
      <vt:lpstr>BOOTP</vt:lpstr>
      <vt:lpstr>BOOTP Operation in Detail</vt:lpstr>
      <vt:lpstr>BootP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User</cp:lastModifiedBy>
  <cp:revision>999</cp:revision>
  <cp:lastPrinted>2017-11-05T03:12:00Z</cp:lastPrinted>
  <dcterms:created xsi:type="dcterms:W3CDTF">2006-08-16T00:00:00Z</dcterms:created>
  <dcterms:modified xsi:type="dcterms:W3CDTF">2026-04-08T06:32:07Z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6361E0FB5C034B179683CB0C44B8BE1D_12</vt:lpwstr>
  </property>
  <property fmtid="{D5CDD505-2E9C-101B-9397-08002B2CF9AE}" pid="3" name="KSOProductBuildVer">
    <vt:lpwstr>1033-12.2.0.23196</vt:lpwstr>
  </property>
</Properties>
</file>