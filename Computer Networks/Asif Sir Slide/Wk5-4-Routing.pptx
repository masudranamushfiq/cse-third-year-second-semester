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374" r:id="rId3"/>
    <p:sldId id="364" r:id="rId4"/>
    <p:sldId id="375" r:id="rId5"/>
    <p:sldId id="386" r:id="rId6"/>
    <p:sldId id="387" r:id="rId7"/>
    <p:sldId id="388" r:id="rId8"/>
    <p:sldId id="389" r:id="rId9"/>
    <p:sldId id="390" r:id="rId10"/>
    <p:sldId id="391" r:id="rId11"/>
    <p:sldId id="392" r:id="rId12"/>
    <p:sldId id="393" r:id="rId13"/>
    <p:sldId id="395" r:id="rId14"/>
    <p:sldId id="396" r:id="rId15"/>
    <p:sldId id="397" r:id="rId16"/>
    <p:sldId id="398" r:id="rId17"/>
    <p:sldId id="399" r:id="rId18"/>
    <p:sldId id="403" r:id="rId19"/>
    <p:sldId id="404" r:id="rId20"/>
    <p:sldId id="400" r:id="rId21"/>
    <p:sldId id="401" r:id="rId22"/>
    <p:sldId id="402" r:id="rId23"/>
    <p:sldId id="378" r:id="rId24"/>
    <p:sldId id="367" r:id="rId25"/>
    <p:sldId id="373" r:id="rId2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61265" autoAdjust="0"/>
  </p:normalViewPr>
  <p:slideViewPr>
    <p:cSldViewPr>
      <p:cViewPr varScale="1">
        <p:scale>
          <a:sx n="68" d="100"/>
          <a:sy n="68" d="100"/>
        </p:scale>
        <p:origin x="126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44227128-E0E5-4963-8B03-D6F82E47590F}" type="datetime1">
              <a:rPr lang="en-US" smtClean="0"/>
              <a:t>17-Jan-26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9D6FE9CA-F159-4095-8686-C3FDA5F5FA4A}" type="datetime1">
              <a:rPr lang="en-US" smtClean="0"/>
              <a:t>17-Jan-26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18B17D4-B0B1-4269-A170-8392498E8CE8}" type="datetime1">
              <a:rPr lang="en-US" smtClean="0"/>
              <a:t>17-Jan-26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45C1-4A75-4D89-A540-00C755EE07B0}" type="datetime1">
              <a:rPr lang="en-US" smtClean="0"/>
              <a:t>17-Jan-26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2C22-E97A-445D-AFC3-E3354D5D841A}" type="datetime1">
              <a:rPr lang="en-US" smtClean="0"/>
              <a:t>17-Jan-26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642D-DFD6-4B3F-A8CE-9FB2F1EFABBF}" type="datetime1">
              <a:rPr lang="en-US" smtClean="0"/>
              <a:t>17-Jan-26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903CC4A6-81F7-4AB7-9CBB-E67D4FE8E74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0568-0501-4014-8ACD-8E7C77C71B1B}" type="datetime1">
              <a:rPr lang="en-US" smtClean="0"/>
              <a:t>17-Jan-26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4E32DB8-0AFF-4583-93D1-8BBF2F2927C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BBD0-15AA-42AD-9BD3-BB367049780B}" type="datetime1">
              <a:rPr lang="en-US" smtClean="0"/>
              <a:t>17-Jan-26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AE92337-16B3-4048-BFA5-3BAB9A8F65C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CDC47-998C-4E97-8680-F50BA3A22134}" type="datetime1">
              <a:rPr lang="en-US" smtClean="0"/>
              <a:t>17-Jan-26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A208-4BBB-4549-AD3E-5321F0E02E9F}" type="datetime1">
              <a:rPr lang="en-US" smtClean="0"/>
              <a:t>17-Jan-26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A173D598-FFD3-4DCE-9D63-58C256B9C83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8A7C-0076-4826-856A-66294F29E8E9}" type="datetime1">
              <a:rPr lang="en-US" smtClean="0"/>
              <a:t>17-Jan-26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668178A-24E8-440A-BCFA-B13719726A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3426-A624-4552-BEC2-7F5CECF5CBEE}" type="datetime1">
              <a:rPr lang="en-US" smtClean="0"/>
              <a:t>17-Jan-26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74141CFD-8074-4A9D-B9F1-6506368F90E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A78E-A442-4676-89A1-7B871F54603D}" type="datetime1">
              <a:rPr lang="en-US" smtClean="0"/>
              <a:t>17-Jan-26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191FE6C3-5D5F-4A99-9AF2-B26DC5200E5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BDE6-A44E-4730-A79D-10FF8A94CE87}" type="datetime1">
              <a:rPr lang="en-US" smtClean="0"/>
              <a:t>17-Jan-26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FF0D2AE3-DED9-4078-A20E-4F53206FE7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BDBF1-491F-4B43-B4B3-A7D391583747}" type="datetime1">
              <a:rPr lang="en-US" smtClean="0"/>
              <a:t>17-Jan-26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‹#›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4.png"/><Relationship Id="rId7" Type="http://schemas.openxmlformats.org/officeDocument/2006/relationships/image" Target="../media/image10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CSE3251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8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455" y="1295400"/>
            <a:ext cx="8787545" cy="4301767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B4BD60-2DD3-A14F-A6EE-02645817CAD3}"/>
              </a:ext>
            </a:extLst>
          </p:cNvPr>
          <p:cNvSpPr/>
          <p:nvPr/>
        </p:nvSpPr>
        <p:spPr>
          <a:xfrm>
            <a:off x="356455" y="3733800"/>
            <a:ext cx="8668139" cy="533400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F670B82-F28B-4B03-A415-8E756960D59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92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21FE-5D48-E440-A19B-5D19DB2D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Network Routing?</a:t>
            </a:r>
            <a:endParaRPr lang="en-US" cap="sm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2ABA026-6C2B-4E78-911C-0967844DF097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" y="2209800"/>
            <a:ext cx="8229600" cy="240866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0" y="2209800"/>
            <a:ext cx="3276600" cy="457200"/>
          </a:xfrm>
          <a:prstGeom prst="roundRect">
            <a:avLst/>
          </a:prstGeom>
          <a:solidFill>
            <a:srgbClr val="FF0000">
              <a:alpha val="34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438400" y="2802223"/>
            <a:ext cx="3048000" cy="457200"/>
          </a:xfrm>
          <a:prstGeom prst="roundRect">
            <a:avLst/>
          </a:prstGeom>
          <a:solidFill>
            <a:srgbClr val="FF0000">
              <a:alpha val="34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412923" y="3469906"/>
            <a:ext cx="1835477" cy="457200"/>
          </a:xfrm>
          <a:prstGeom prst="roundRect">
            <a:avLst/>
          </a:prstGeom>
          <a:solidFill>
            <a:srgbClr val="FF0000">
              <a:alpha val="34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590800" y="4074041"/>
            <a:ext cx="2971800" cy="457200"/>
          </a:xfrm>
          <a:prstGeom prst="roundRect">
            <a:avLst/>
          </a:prstGeom>
          <a:solidFill>
            <a:srgbClr val="FF0000">
              <a:alpha val="34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9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21FE-5D48-E440-A19B-5D19DB2D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Network Routing?</a:t>
            </a:r>
            <a:endParaRPr lang="en-US" cap="smal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21BFCE-03E0-EA48-B45E-E87C58EE2F4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76400" y="1905000"/>
            <a:ext cx="5960533" cy="2682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9" y="3733800"/>
            <a:ext cx="1121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small" dirty="0" smtClean="0">
                <a:solidFill>
                  <a:srgbClr val="FF0000"/>
                </a:solidFill>
              </a:rPr>
              <a:t>100 Hosts</a:t>
            </a:r>
            <a:endParaRPr lang="en-US" b="1" cap="small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65467" y="3061454"/>
            <a:ext cx="1121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small" dirty="0" smtClean="0">
                <a:solidFill>
                  <a:srgbClr val="FF0000"/>
                </a:solidFill>
              </a:rPr>
              <a:t>150 Hosts</a:t>
            </a:r>
            <a:endParaRPr lang="en-US" b="1" cap="small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2352953"/>
            <a:ext cx="1121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small" dirty="0" smtClean="0">
                <a:solidFill>
                  <a:srgbClr val="FF0000"/>
                </a:solidFill>
              </a:rPr>
              <a:t>100 Hosts</a:t>
            </a:r>
            <a:endParaRPr lang="en-US" b="1" cap="small" dirty="0">
              <a:solidFill>
                <a:srgbClr val="FF0000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194AC3BD-194A-4AF2-8CE6-A6E41461A86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334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vs Forwarding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922" y="1600200"/>
            <a:ext cx="7904155" cy="452596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98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Routing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1850765"/>
            <a:ext cx="8229600" cy="402483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4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Metrics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1524000"/>
            <a:ext cx="6100850" cy="452596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1BFCE-03E0-EA48-B45E-E87C58EE2F4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32200" y="2514600"/>
            <a:ext cx="4775200" cy="21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1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Routing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2362200"/>
            <a:ext cx="4172532" cy="262926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714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Routing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" y="1524000"/>
            <a:ext cx="5651236" cy="452596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1BFCE-03E0-EA48-B45E-E87C58EE2F4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02667" y="2819400"/>
            <a:ext cx="4284133" cy="192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1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Routing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267" y="1524000"/>
            <a:ext cx="4857866" cy="452596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1BFCE-03E0-EA48-B45E-E87C58EE2F4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02667" y="2819400"/>
            <a:ext cx="4284133" cy="192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1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Algorithm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2200" y="2438400"/>
            <a:ext cx="4853389" cy="207657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73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Routing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9200" y="2418753"/>
            <a:ext cx="7040880" cy="2936482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743200" y="5486460"/>
            <a:ext cx="38115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Routing Information Protocol</a:t>
            </a:r>
          </a:p>
        </p:txBody>
      </p:sp>
    </p:spTree>
    <p:extLst>
      <p:ext uri="{BB962C8B-B14F-4D97-AF65-F5344CB8AC3E}">
        <p14:creationId xmlns:p14="http://schemas.microsoft.com/office/powerpoint/2010/main" val="247602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DD3E7E-3183-6F4F-8E1D-4A8AA7054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609600"/>
            <a:ext cx="3276600" cy="2814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8A9183-8774-F442-91EF-95CBC41BF7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0" y="175412"/>
            <a:ext cx="3320577" cy="3683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D0AA2BA-8295-744D-91A7-AA2E6C5FF48C}"/>
              </a:ext>
            </a:extLst>
          </p:cNvPr>
          <p:cNvSpPr/>
          <p:nvPr/>
        </p:nvSpPr>
        <p:spPr>
          <a:xfrm>
            <a:off x="1066800" y="2819400"/>
            <a:ext cx="381000" cy="381000"/>
          </a:xfrm>
          <a:prstGeom prst="ellipse">
            <a:avLst/>
          </a:prstGeom>
          <a:solidFill>
            <a:srgbClr val="FFFF00">
              <a:alpha val="25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A70D17-36F0-CB46-95D4-9A972630D093}"/>
              </a:ext>
            </a:extLst>
          </p:cNvPr>
          <p:cNvSpPr/>
          <p:nvPr/>
        </p:nvSpPr>
        <p:spPr>
          <a:xfrm>
            <a:off x="457200" y="1066800"/>
            <a:ext cx="381000" cy="381000"/>
          </a:xfrm>
          <a:prstGeom prst="ellipse">
            <a:avLst/>
          </a:prstGeom>
          <a:solidFill>
            <a:srgbClr val="FFFF00">
              <a:alpha val="25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AFF454-3114-4C45-9FE6-500BF78E4450}"/>
              </a:ext>
            </a:extLst>
          </p:cNvPr>
          <p:cNvSpPr/>
          <p:nvPr/>
        </p:nvSpPr>
        <p:spPr>
          <a:xfrm>
            <a:off x="457200" y="2819400"/>
            <a:ext cx="381000" cy="381000"/>
          </a:xfrm>
          <a:prstGeom prst="ellipse">
            <a:avLst/>
          </a:prstGeom>
          <a:solidFill>
            <a:srgbClr val="FFFF00">
              <a:alpha val="25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5852E3-3CC8-E540-A721-D1154C56CEC0}"/>
              </a:ext>
            </a:extLst>
          </p:cNvPr>
          <p:cNvSpPr/>
          <p:nvPr/>
        </p:nvSpPr>
        <p:spPr>
          <a:xfrm>
            <a:off x="2895600" y="1905000"/>
            <a:ext cx="381000" cy="381000"/>
          </a:xfrm>
          <a:prstGeom prst="ellipse">
            <a:avLst/>
          </a:prstGeom>
          <a:solidFill>
            <a:srgbClr val="FFFF00">
              <a:alpha val="25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4FCBC6-F0D1-9C40-9801-FBF98F036576}"/>
              </a:ext>
            </a:extLst>
          </p:cNvPr>
          <p:cNvSpPr/>
          <p:nvPr/>
        </p:nvSpPr>
        <p:spPr>
          <a:xfrm>
            <a:off x="2095500" y="2819400"/>
            <a:ext cx="381000" cy="381000"/>
          </a:xfrm>
          <a:prstGeom prst="ellipse">
            <a:avLst/>
          </a:prstGeom>
          <a:solidFill>
            <a:srgbClr val="FFFF00">
              <a:alpha val="25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8291E9-BDB5-594B-A390-0B057BCA8E9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2524" y="3858412"/>
            <a:ext cx="3068053" cy="161925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A231B79-325C-F84C-9407-581404BE8375}"/>
              </a:ext>
            </a:extLst>
          </p:cNvPr>
          <p:cNvSpPr/>
          <p:nvPr/>
        </p:nvSpPr>
        <p:spPr>
          <a:xfrm>
            <a:off x="2095500" y="1905000"/>
            <a:ext cx="381000" cy="381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BC45F7-BD66-4C4B-B30A-B20DEC615585}"/>
                  </a:ext>
                </a:extLst>
              </p:cNvPr>
              <p:cNvSpPr txBox="1"/>
              <p:nvPr/>
            </p:nvSpPr>
            <p:spPr>
              <a:xfrm>
                <a:off x="647700" y="3858412"/>
                <a:ext cx="1455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8+18=26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BC45F7-BD66-4C4B-B30A-B20DEC615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3858412"/>
                <a:ext cx="14558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9A6FFA4E-9706-044E-A4D6-1553209AB6F4}"/>
              </a:ext>
            </a:extLst>
          </p:cNvPr>
          <p:cNvSpPr/>
          <p:nvPr/>
        </p:nvSpPr>
        <p:spPr>
          <a:xfrm>
            <a:off x="4267200" y="4476140"/>
            <a:ext cx="381000" cy="381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E7D0493-C9BC-8A49-9A63-0A9BD4DCE226}"/>
              </a:ext>
            </a:extLst>
          </p:cNvPr>
          <p:cNvSpPr/>
          <p:nvPr/>
        </p:nvSpPr>
        <p:spPr>
          <a:xfrm>
            <a:off x="4264726" y="2095500"/>
            <a:ext cx="381000" cy="381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68F84DF-E89D-A44D-B2EE-16516A7EE33A}"/>
              </a:ext>
            </a:extLst>
          </p:cNvPr>
          <p:cNvSpPr/>
          <p:nvPr/>
        </p:nvSpPr>
        <p:spPr>
          <a:xfrm>
            <a:off x="5021152" y="2137064"/>
            <a:ext cx="381000" cy="381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BD1EB4-406A-8542-9B11-F844D15519BD}"/>
                  </a:ext>
                </a:extLst>
              </p:cNvPr>
              <p:cNvSpPr txBox="1"/>
              <p:nvPr/>
            </p:nvSpPr>
            <p:spPr>
              <a:xfrm>
                <a:off x="638168" y="4202668"/>
                <a:ext cx="1584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31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41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BD1EB4-406A-8542-9B11-F844D1551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68" y="4202668"/>
                <a:ext cx="15840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CEB46D2C-DF99-C74A-8867-A6B38496B252}"/>
              </a:ext>
            </a:extLst>
          </p:cNvPr>
          <p:cNvSpPr/>
          <p:nvPr/>
        </p:nvSpPr>
        <p:spPr>
          <a:xfrm>
            <a:off x="5021152" y="4476140"/>
            <a:ext cx="381000" cy="381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35653AA-276E-3845-A403-C3A0C80F5C78}"/>
              </a:ext>
            </a:extLst>
          </p:cNvPr>
          <p:cNvSpPr/>
          <p:nvPr/>
        </p:nvSpPr>
        <p:spPr>
          <a:xfrm>
            <a:off x="5812497" y="4476140"/>
            <a:ext cx="381000" cy="381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07B9EF-4626-FD40-BE2C-C4063739F6FE}"/>
              </a:ext>
            </a:extLst>
          </p:cNvPr>
          <p:cNvSpPr/>
          <p:nvPr/>
        </p:nvSpPr>
        <p:spPr>
          <a:xfrm>
            <a:off x="5856878" y="2137064"/>
            <a:ext cx="381000" cy="381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8FF507-A4D5-5447-BA2E-3C392ECBCF31}"/>
                  </a:ext>
                </a:extLst>
              </p:cNvPr>
              <p:cNvSpPr txBox="1"/>
              <p:nvPr/>
            </p:nvSpPr>
            <p:spPr>
              <a:xfrm>
                <a:off x="638168" y="4572000"/>
                <a:ext cx="1584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06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8FF507-A4D5-5447-BA2E-3C392ECBC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68" y="4572000"/>
                <a:ext cx="158408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CC6BAC38-393A-F640-9E05-51C8CED9EECB}"/>
              </a:ext>
            </a:extLst>
          </p:cNvPr>
          <p:cNvSpPr/>
          <p:nvPr/>
        </p:nvSpPr>
        <p:spPr>
          <a:xfrm>
            <a:off x="6474375" y="4476140"/>
            <a:ext cx="381000" cy="381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784CD3-091B-5847-8A20-6BAC5DA7A039}"/>
              </a:ext>
            </a:extLst>
          </p:cNvPr>
          <p:cNvSpPr/>
          <p:nvPr/>
        </p:nvSpPr>
        <p:spPr>
          <a:xfrm>
            <a:off x="6592371" y="2137064"/>
            <a:ext cx="381000" cy="381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A26978-7048-5A46-98B1-80BDC1AC8C55}"/>
                  </a:ext>
                </a:extLst>
              </p:cNvPr>
              <p:cNvSpPr txBox="1"/>
              <p:nvPr/>
            </p:nvSpPr>
            <p:spPr>
              <a:xfrm>
                <a:off x="638168" y="4941332"/>
                <a:ext cx="1584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31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37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A26978-7048-5A46-98B1-80BDC1AC8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68" y="4941332"/>
                <a:ext cx="15840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D48B012-8C72-2044-ADDD-93672C84457A}"/>
              </a:ext>
            </a:extLst>
          </p:cNvPr>
          <p:cNvSpPr txBox="1"/>
          <p:nvPr/>
        </p:nvSpPr>
        <p:spPr>
          <a:xfrm>
            <a:off x="2222256" y="5791200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G: Send via A -18ms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996215F-AB69-4886-BF18-005DF2B51DE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00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3" grpId="0"/>
      <p:bldP spid="24" grpId="0" animBg="1"/>
      <p:bldP spid="25" grpId="0" animBg="1"/>
      <p:bldP spid="26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Problems in Distance Vector Routing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" y="1752600"/>
            <a:ext cx="4359714" cy="399280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314" y="1740816"/>
            <a:ext cx="3952875" cy="1152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313" y="2928020"/>
            <a:ext cx="3952875" cy="1152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337" y="4153185"/>
            <a:ext cx="4600741" cy="13490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9140" y="5411298"/>
            <a:ext cx="4594860" cy="1097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6563" y="589868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https://www.geeksforgeeks.org/computer-networks/route-poisoning-and-count-to-infinity-problem-in-routing/</a:t>
            </a:r>
          </a:p>
        </p:txBody>
      </p:sp>
    </p:spTree>
    <p:extLst>
      <p:ext uri="{BB962C8B-B14F-4D97-AF65-F5344CB8AC3E}">
        <p14:creationId xmlns:p14="http://schemas.microsoft.com/office/powerpoint/2010/main" val="60694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State Routing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2286000"/>
            <a:ext cx="7101421" cy="338710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2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4903-66E0-9245-9B49-5A854DD5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Flooding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F9833-F46B-6B42-80F0-B93FD04C4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4034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When a routing algorithm is implemented, each router must make decisions based on local knowledge, not the complete picture of the network. </a:t>
            </a:r>
          </a:p>
          <a:p>
            <a:r>
              <a:rPr lang="en-US" sz="2400" dirty="0"/>
              <a:t>A simple local technique is flooding, in which every incoming packet is sent out on every outgoing line except the one it arrived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C88CC5-7E08-7E4B-9641-E12746420771}"/>
              </a:ext>
            </a:extLst>
          </p:cNvPr>
          <p:cNvSpPr/>
          <p:nvPr/>
        </p:nvSpPr>
        <p:spPr>
          <a:xfrm>
            <a:off x="1752600" y="5029200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ADCE0C2-3854-F643-9A4C-0741BC222ABE}"/>
              </a:ext>
            </a:extLst>
          </p:cNvPr>
          <p:cNvSpPr/>
          <p:nvPr/>
        </p:nvSpPr>
        <p:spPr>
          <a:xfrm>
            <a:off x="2895600" y="3879015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80AE95-2E15-7248-9AFD-B5A80D148B05}"/>
              </a:ext>
            </a:extLst>
          </p:cNvPr>
          <p:cNvSpPr/>
          <p:nvPr/>
        </p:nvSpPr>
        <p:spPr>
          <a:xfrm>
            <a:off x="2895600" y="5958723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F5D1AE-7493-1840-A030-CA662C6A1463}"/>
              </a:ext>
            </a:extLst>
          </p:cNvPr>
          <p:cNvSpPr/>
          <p:nvPr/>
        </p:nvSpPr>
        <p:spPr>
          <a:xfrm>
            <a:off x="5867400" y="3874799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BC0C48-B327-804F-834F-38D99A855BF2}"/>
              </a:ext>
            </a:extLst>
          </p:cNvPr>
          <p:cNvSpPr/>
          <p:nvPr/>
        </p:nvSpPr>
        <p:spPr>
          <a:xfrm>
            <a:off x="5867400" y="5958723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AF0F86-FA54-A24B-BF5C-8362B857E3FF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2207885" y="4334300"/>
            <a:ext cx="765830" cy="773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E6B06F-9EE3-5F48-B66E-3A6C4E138478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2207885" y="5484485"/>
            <a:ext cx="765830" cy="552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6DA15B-CCED-8146-BDE7-1EAC8D0C02EA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3429000" y="4141499"/>
            <a:ext cx="2438400" cy="4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78BB1F-A6F6-C241-B167-6D444A844835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3429000" y="6212054"/>
            <a:ext cx="2438400" cy="133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01FB816-8C94-4245-B13B-1460CECF4A24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6134100" y="4408199"/>
            <a:ext cx="0" cy="15505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D8F3A38-ABFC-CD41-ADB8-BAFC05A02EBA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3350885" y="4330084"/>
            <a:ext cx="2594630" cy="170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A359C2D-B5F3-A342-8C77-35D13C89A5B1}"/>
              </a:ext>
            </a:extLst>
          </p:cNvPr>
          <p:cNvSpPr/>
          <p:nvPr/>
        </p:nvSpPr>
        <p:spPr>
          <a:xfrm rot="18929112">
            <a:off x="2013261" y="4633010"/>
            <a:ext cx="493555" cy="224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2E649F-A9A6-C64E-96D7-B6C1E6C3C4D7}"/>
              </a:ext>
            </a:extLst>
          </p:cNvPr>
          <p:cNvSpPr/>
          <p:nvPr/>
        </p:nvSpPr>
        <p:spPr>
          <a:xfrm rot="2167000">
            <a:off x="2085569" y="5735457"/>
            <a:ext cx="493555" cy="224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2055ED-0F46-BA42-9BB3-07C2BE8B06C4}"/>
              </a:ext>
            </a:extLst>
          </p:cNvPr>
          <p:cNvSpPr txBox="1"/>
          <p:nvPr/>
        </p:nvSpPr>
        <p:spPr>
          <a:xfrm>
            <a:off x="2042556" y="53082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191082-2D3A-2E40-A813-4155AB3BF32A}"/>
              </a:ext>
            </a:extLst>
          </p:cNvPr>
          <p:cNvSpPr/>
          <p:nvPr/>
        </p:nvSpPr>
        <p:spPr>
          <a:xfrm>
            <a:off x="3436784" y="3750713"/>
            <a:ext cx="493555" cy="224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D74BE7-BA78-BB42-9D54-2251188317A1}"/>
              </a:ext>
            </a:extLst>
          </p:cNvPr>
          <p:cNvSpPr/>
          <p:nvPr/>
        </p:nvSpPr>
        <p:spPr>
          <a:xfrm>
            <a:off x="3791822" y="5931514"/>
            <a:ext cx="493555" cy="224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545AA5-1198-4246-8103-45A9B0A049DC}"/>
              </a:ext>
            </a:extLst>
          </p:cNvPr>
          <p:cNvSpPr/>
          <p:nvPr/>
        </p:nvSpPr>
        <p:spPr>
          <a:xfrm rot="19558886">
            <a:off x="3443745" y="5467720"/>
            <a:ext cx="493555" cy="224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ADC9BC-16DF-D944-A261-4174AE5A679B}"/>
              </a:ext>
            </a:extLst>
          </p:cNvPr>
          <p:cNvSpPr/>
          <p:nvPr/>
        </p:nvSpPr>
        <p:spPr>
          <a:xfrm rot="16200000">
            <a:off x="6075908" y="5488679"/>
            <a:ext cx="493555" cy="224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6A923EA-8034-FC4A-9999-4F8A7C145E28}"/>
              </a:ext>
            </a:extLst>
          </p:cNvPr>
          <p:cNvCxnSpPr>
            <a:cxnSpLocks/>
          </p:cNvCxnSpPr>
          <p:nvPr/>
        </p:nvCxnSpPr>
        <p:spPr>
          <a:xfrm>
            <a:off x="3162300" y="4408199"/>
            <a:ext cx="0" cy="1550524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90B52DC-DF53-5C47-A8AF-DAD77DF1B16E}"/>
              </a:ext>
            </a:extLst>
          </p:cNvPr>
          <p:cNvSpPr/>
          <p:nvPr/>
        </p:nvSpPr>
        <p:spPr>
          <a:xfrm rot="16200000">
            <a:off x="3082195" y="5093981"/>
            <a:ext cx="493555" cy="22419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5F09E6-2052-924F-ADD3-D6795EC6469D}"/>
              </a:ext>
            </a:extLst>
          </p:cNvPr>
          <p:cNvSpPr/>
          <p:nvPr/>
        </p:nvSpPr>
        <p:spPr>
          <a:xfrm>
            <a:off x="3436783" y="3443221"/>
            <a:ext cx="493555" cy="22419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618FBB-AE7B-E844-92DE-11D94BCB119C}"/>
              </a:ext>
            </a:extLst>
          </p:cNvPr>
          <p:cNvSpPr/>
          <p:nvPr/>
        </p:nvSpPr>
        <p:spPr>
          <a:xfrm rot="18787329" flipV="1">
            <a:off x="1939810" y="4255900"/>
            <a:ext cx="493555" cy="25495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40CA5057-457D-4A5C-852F-E50EF669076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55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vs Link State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7800" y="2133600"/>
            <a:ext cx="6553200" cy="332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1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Vector Routing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3863" y="2091284"/>
            <a:ext cx="6425137" cy="302934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3226"/>
          <a:stretch/>
        </p:blipFill>
        <p:spPr>
          <a:xfrm>
            <a:off x="94625" y="5009615"/>
            <a:ext cx="8954750" cy="174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3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Interior vs Exterior Routing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" y="1620084"/>
            <a:ext cx="5696470" cy="452596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08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Routing Protocols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4469" y="2672390"/>
            <a:ext cx="5782131" cy="210719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80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Table Structure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9329" y="2209800"/>
            <a:ext cx="3891272" cy="283686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3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Routing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200" y="2209800"/>
            <a:ext cx="3467382" cy="286222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7A5DCCA-CC52-400F-9181-9D06DEE67E4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05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Random Walk</a:t>
            </a:r>
            <a:endParaRPr lang="en-US" cap="smal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043" y="1295400"/>
            <a:ext cx="7261914" cy="4525963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A889B81A-A716-451D-B37A-7327937A930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3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E2829-ADB0-9A41-9609-73EC2048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Optimality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CCCA-68BF-7543-89B9-253E60188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states that if router J is on the optimal path from router I to router K then the optimal path from J to K also falls along the same route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E613FA-D211-224B-8BEA-6C975AD62D5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9400" y="2971800"/>
            <a:ext cx="3276600" cy="281462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3404C1-549D-1C45-A7B8-05C173B9BD73}"/>
              </a:ext>
            </a:extLst>
          </p:cNvPr>
          <p:cNvCxnSpPr>
            <a:cxnSpLocks/>
          </p:cNvCxnSpPr>
          <p:nvPr/>
        </p:nvCxnSpPr>
        <p:spPr>
          <a:xfrm>
            <a:off x="3276600" y="5334000"/>
            <a:ext cx="6096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A64A7C-02CF-9D43-A2EC-AB2B8A21B90F}"/>
              </a:ext>
            </a:extLst>
          </p:cNvPr>
          <p:cNvCxnSpPr>
            <a:cxnSpLocks/>
          </p:cNvCxnSpPr>
          <p:nvPr/>
        </p:nvCxnSpPr>
        <p:spPr>
          <a:xfrm>
            <a:off x="3843647" y="5334000"/>
            <a:ext cx="110935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E448A50-3AB7-E442-A6DE-0A3998C73E39}"/>
              </a:ext>
            </a:extLst>
          </p:cNvPr>
          <p:cNvSpPr/>
          <p:nvPr/>
        </p:nvSpPr>
        <p:spPr>
          <a:xfrm>
            <a:off x="3653147" y="5143500"/>
            <a:ext cx="381000" cy="381000"/>
          </a:xfrm>
          <a:prstGeom prst="ellipse">
            <a:avLst/>
          </a:prstGeom>
          <a:solidFill>
            <a:srgbClr val="FFFF00">
              <a:alpha val="25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C0A3B284-7E8A-4A90-8788-94CD1B05344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36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2355-1ECC-1A4A-8A3A-C1F74BC99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 and RARP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87AA-CEBE-BC4A-85FA-6AE78DCA8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Address Resolution </a:t>
            </a:r>
            <a:r>
              <a:rPr lang="en-US" sz="2400" dirty="0" smtClean="0"/>
              <a:t>Protocol (32bit IP to 48 bit MAC)</a:t>
            </a:r>
            <a:endParaRPr lang="en-US" sz="2400" dirty="0"/>
          </a:p>
          <a:p>
            <a:r>
              <a:rPr lang="en-US" sz="2400" dirty="0"/>
              <a:t>Reverse  Address Resolution </a:t>
            </a:r>
            <a:r>
              <a:rPr lang="en-US" sz="2400" dirty="0" smtClean="0"/>
              <a:t>Protocol (48 bit MAC to 32 bit IP)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85F4D-DEBD-A244-B379-7AE1D03CBA4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306" y="2897162"/>
            <a:ext cx="3918691" cy="3229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B8307D-A286-BD49-8A80-762CF68248C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428" y="2897162"/>
            <a:ext cx="3785543" cy="2937581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12804C-7FC8-4619-9755-C4D64E6601B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9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33032</TotalTime>
  <Words>223</Words>
  <Application>Microsoft Office PowerPoint</Application>
  <PresentationFormat>On-screen Show (4:3)</PresentationFormat>
  <Paragraphs>69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What Is Network Routing?</vt:lpstr>
      <vt:lpstr>What Is Network Routing?</vt:lpstr>
      <vt:lpstr>Routing vs Forwarding</vt:lpstr>
      <vt:lpstr>Components of Routing</vt:lpstr>
      <vt:lpstr>Routing Metrics</vt:lpstr>
      <vt:lpstr>Types of Routing</vt:lpstr>
      <vt:lpstr>Static Routing</vt:lpstr>
      <vt:lpstr>Dynamic Routing</vt:lpstr>
      <vt:lpstr>Routing Algorithm</vt:lpstr>
      <vt:lpstr>Distance Vector Routing</vt:lpstr>
      <vt:lpstr>PowerPoint Presentation</vt:lpstr>
      <vt:lpstr>Problems in Distance Vector Routing</vt:lpstr>
      <vt:lpstr>Link State Routing</vt:lpstr>
      <vt:lpstr>Flooding</vt:lpstr>
      <vt:lpstr>Distance Vector vs Link State</vt:lpstr>
      <vt:lpstr>Path Vector Routing</vt:lpstr>
      <vt:lpstr>Interior vs Exterior Routing</vt:lpstr>
      <vt:lpstr>Real-World Routing Protocols</vt:lpstr>
      <vt:lpstr>Routing Table Structure</vt:lpstr>
      <vt:lpstr>Challenges in Routing</vt:lpstr>
      <vt:lpstr>Random Walk</vt:lpstr>
      <vt:lpstr>Optimality Principle</vt:lpstr>
      <vt:lpstr>ARP and RARP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1001</cp:revision>
  <cp:lastPrinted>2017-11-05T03:12:43Z</cp:lastPrinted>
  <dcterms:created xsi:type="dcterms:W3CDTF">2006-08-16T00:00:00Z</dcterms:created>
  <dcterms:modified xsi:type="dcterms:W3CDTF">2026-01-18T01:52:40Z</dcterms:modified>
</cp:coreProperties>
</file>