
<file path=[Content_Types].xml><?xml version="1.0" encoding="utf-8"?>
<Types xmlns="http://schemas.openxmlformats.org/package/2006/content-types">
  <Default Extension="png" ContentType="image/png"/>
  <Default Extension="wdp" ContentType="image/vnd.ms-photo"/>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3"/>
  </p:handoutMasterIdLst>
  <p:sldIdLst>
    <p:sldId id="256" r:id="rId3"/>
    <p:sldId id="278" r:id="rId5"/>
    <p:sldId id="276" r:id="rId6"/>
    <p:sldId id="258" r:id="rId7"/>
    <p:sldId id="259" r:id="rId8"/>
    <p:sldId id="260" r:id="rId9"/>
    <p:sldId id="261" r:id="rId10"/>
    <p:sldId id="262" r:id="rId11"/>
    <p:sldId id="263" r:id="rId12"/>
    <p:sldId id="264" r:id="rId13"/>
    <p:sldId id="265" r:id="rId14"/>
    <p:sldId id="266" r:id="rId15"/>
    <p:sldId id="267" r:id="rId16"/>
    <p:sldId id="269" r:id="rId17"/>
    <p:sldId id="268" r:id="rId18"/>
    <p:sldId id="279" r:id="rId19"/>
    <p:sldId id="280" r:id="rId20"/>
    <p:sldId id="281" r:id="rId21"/>
    <p:sldId id="282"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62" autoAdjust="0"/>
    <p:restoredTop sz="61265" autoAdjust="0"/>
  </p:normalViewPr>
  <p:slideViewPr>
    <p:cSldViewPr showGuides="1">
      <p:cViewPr varScale="1">
        <p:scale>
          <a:sx n="68" d="100"/>
          <a:sy n="68" d="100"/>
        </p:scale>
        <p:origin x="1552" y="48"/>
      </p:cViewPr>
      <p:guideLst>
        <p:guide orient="horz" pos="2160"/>
        <p:guide pos="2880"/>
      </p:guideLst>
    </p:cSldViewPr>
  </p:slideViewPr>
  <p:outlineViewPr>
    <p:cViewPr>
      <p:scale>
        <a:sx n="33" d="100"/>
        <a:sy n="33" d="100"/>
      </p:scale>
      <p:origin x="0" y="-577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3170238" cy="479427"/>
          </a:xfrm>
          <a:prstGeom prst="rect">
            <a:avLst/>
          </a:prstGeom>
        </p:spPr>
        <p:txBody>
          <a:bodyPr vert="horz" lIns="82964" tIns="41482" rIns="82964" bIns="41482" rtlCol="0"/>
          <a:lstStyle>
            <a:lvl1pPr algn="l">
              <a:defRPr sz="1100"/>
            </a:lvl1pPr>
          </a:lstStyle>
          <a:p>
            <a:endParaRPr lang="en-US"/>
          </a:p>
        </p:txBody>
      </p:sp>
      <p:sp>
        <p:nvSpPr>
          <p:cNvPr id="3" name="Date Placeholder 2"/>
          <p:cNvSpPr>
            <a:spLocks noGrp="1"/>
          </p:cNvSpPr>
          <p:nvPr>
            <p:ph type="dt" sz="quarter" idx="1"/>
          </p:nvPr>
        </p:nvSpPr>
        <p:spPr>
          <a:xfrm>
            <a:off x="4143376" y="2"/>
            <a:ext cx="3170238" cy="479427"/>
          </a:xfrm>
          <a:prstGeom prst="rect">
            <a:avLst/>
          </a:prstGeom>
        </p:spPr>
        <p:txBody>
          <a:bodyPr vert="horz" lIns="82964" tIns="41482" rIns="82964" bIns="41482" rtlCol="0"/>
          <a:lstStyle>
            <a:lvl1pPr algn="r">
              <a:defRPr sz="1100"/>
            </a:lvl1pPr>
          </a:lstStyle>
          <a:p>
            <a:fld id="{5CAE133A-4028-4E2B-B049-6F148B77E5AB}" type="datetime1">
              <a:rPr lang="en-US" smtClean="0"/>
            </a:fld>
            <a:endParaRPr lang="en-US"/>
          </a:p>
        </p:txBody>
      </p:sp>
      <p:sp>
        <p:nvSpPr>
          <p:cNvPr id="4" name="Footer Placeholder 3"/>
          <p:cNvSpPr>
            <a:spLocks noGrp="1"/>
          </p:cNvSpPr>
          <p:nvPr>
            <p:ph type="ftr" sz="quarter" idx="2"/>
          </p:nvPr>
        </p:nvSpPr>
        <p:spPr>
          <a:xfrm>
            <a:off x="3" y="9120189"/>
            <a:ext cx="3170238" cy="479427"/>
          </a:xfrm>
          <a:prstGeom prst="rect">
            <a:avLst/>
          </a:prstGeom>
        </p:spPr>
        <p:txBody>
          <a:bodyPr vert="horz" lIns="82964" tIns="41482" rIns="82964" bIns="41482" rtlCol="0" anchor="b"/>
          <a:lstStyle>
            <a:lvl1pPr algn="l">
              <a:defRPr sz="1100"/>
            </a:lvl1pPr>
          </a:lstStyle>
          <a:p>
            <a:endParaRPr lang="en-US"/>
          </a:p>
        </p:txBody>
      </p:sp>
      <p:sp>
        <p:nvSpPr>
          <p:cNvPr id="5" name="Slide Number Placeholder 4"/>
          <p:cNvSpPr>
            <a:spLocks noGrp="1"/>
          </p:cNvSpPr>
          <p:nvPr>
            <p:ph type="sldNum" sz="quarter" idx="3"/>
          </p:nvPr>
        </p:nvSpPr>
        <p:spPr>
          <a:xfrm>
            <a:off x="4143376" y="9120189"/>
            <a:ext cx="3170238" cy="479427"/>
          </a:xfrm>
          <a:prstGeom prst="rect">
            <a:avLst/>
          </a:prstGeom>
        </p:spPr>
        <p:txBody>
          <a:bodyPr vert="horz" lIns="82964" tIns="41482" rIns="82964" bIns="41482" rtlCol="0" anchor="b"/>
          <a:lstStyle>
            <a:lvl1pPr algn="r">
              <a:defRPr sz="1100"/>
            </a:lvl1pPr>
          </a:lstStyle>
          <a:p>
            <a:fld id="{4825AA9F-B079-466D-A19E-A0BED09FA175}"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87701" tIns="43851" rIns="87701" bIns="43851" rtlCol="0"/>
          <a:lstStyle>
            <a:lvl1pPr algn="l">
              <a:defRPr sz="1200"/>
            </a:lvl1pPr>
          </a:lstStyle>
          <a:p>
            <a:endParaRPr lang="en-US"/>
          </a:p>
        </p:txBody>
      </p:sp>
      <p:sp>
        <p:nvSpPr>
          <p:cNvPr id="3" name="Date Placeholder 2"/>
          <p:cNvSpPr>
            <a:spLocks noGrp="1"/>
          </p:cNvSpPr>
          <p:nvPr>
            <p:ph type="dt" idx="1"/>
          </p:nvPr>
        </p:nvSpPr>
        <p:spPr>
          <a:xfrm>
            <a:off x="4143590" y="1"/>
            <a:ext cx="3169920" cy="480060"/>
          </a:xfrm>
          <a:prstGeom prst="rect">
            <a:avLst/>
          </a:prstGeom>
        </p:spPr>
        <p:txBody>
          <a:bodyPr vert="horz" lIns="87701" tIns="43851" rIns="87701" bIns="43851" rtlCol="0"/>
          <a:lstStyle>
            <a:lvl1pPr algn="r">
              <a:defRPr sz="1200"/>
            </a:lvl1pPr>
          </a:lstStyle>
          <a:p>
            <a:fld id="{A9B5FCE6-2331-4AF4-8362-9D091070A463}" type="datetime1">
              <a:rPr lang="en-US" smtClean="0"/>
            </a:fld>
            <a:endParaRPr lang="en-US"/>
          </a:p>
        </p:txBody>
      </p:sp>
      <p:sp>
        <p:nvSpPr>
          <p:cNvPr id="4" name="Slide Image Placeholder 3"/>
          <p:cNvSpPr>
            <a:spLocks noGrp="1" noRot="1" noChangeAspect="1"/>
          </p:cNvSpPr>
          <p:nvPr>
            <p:ph type="sldImg" idx="2"/>
          </p:nvPr>
        </p:nvSpPr>
        <p:spPr>
          <a:xfrm>
            <a:off x="1257300" y="722313"/>
            <a:ext cx="4800600" cy="3600450"/>
          </a:xfrm>
          <a:prstGeom prst="rect">
            <a:avLst/>
          </a:prstGeom>
          <a:noFill/>
          <a:ln w="12700">
            <a:solidFill>
              <a:prstClr val="black"/>
            </a:solidFill>
          </a:ln>
        </p:spPr>
        <p:txBody>
          <a:bodyPr vert="horz" lIns="87701" tIns="43851" rIns="87701" bIns="43851" rtlCol="0" anchor="ctr"/>
          <a:lstStyle/>
          <a:p>
            <a:endParaRPr lang="en-US"/>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87701" tIns="43851" rIns="87701" bIns="43851"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87701" tIns="43851" rIns="87701" bIns="43851" rtlCol="0" anchor="b"/>
          <a:lstStyle>
            <a:lvl1pPr algn="l">
              <a:defRPr sz="1200"/>
            </a:lvl1pPr>
          </a:lstStyle>
          <a:p>
            <a:endParaRPr lang="en-US"/>
          </a:p>
        </p:txBody>
      </p:sp>
      <p:sp>
        <p:nvSpPr>
          <p:cNvPr id="7" name="Slide Number Placeholder 6"/>
          <p:cNvSpPr>
            <a:spLocks noGrp="1"/>
          </p:cNvSpPr>
          <p:nvPr>
            <p:ph type="sldNum" sz="quarter" idx="5"/>
          </p:nvPr>
        </p:nvSpPr>
        <p:spPr>
          <a:xfrm>
            <a:off x="4143590" y="9119474"/>
            <a:ext cx="3169920" cy="480060"/>
          </a:xfrm>
          <a:prstGeom prst="rect">
            <a:avLst/>
          </a:prstGeom>
        </p:spPr>
        <p:txBody>
          <a:bodyPr vert="horz" lIns="87701" tIns="43851" rIns="87701" bIns="43851" rtlCol="0" anchor="b"/>
          <a:lstStyle>
            <a:lvl1pPr algn="r">
              <a:defRPr sz="1200"/>
            </a:lvl1pPr>
          </a:lstStyle>
          <a:p>
            <a:fld id="{7106D8DA-1A55-4414-9F6D-9B871CCC3BEB}" type="slidenum">
              <a:rPr lang="en-US" smtClean="0"/>
            </a:fld>
            <a:endParaRPr 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06D8DA-1A55-4414-9F6D-9B871CCC3BEB}" type="slidenum">
              <a:rPr lang="en-US" smtClean="0"/>
            </a:fld>
            <a:endParaRPr lang="en-US"/>
          </a:p>
        </p:txBody>
      </p:sp>
      <p:sp>
        <p:nvSpPr>
          <p:cNvPr id="5" name="Date Placeholder 4"/>
          <p:cNvSpPr>
            <a:spLocks noGrp="1"/>
          </p:cNvSpPr>
          <p:nvPr>
            <p:ph type="dt" idx="11"/>
          </p:nvPr>
        </p:nvSpPr>
        <p:spPr/>
        <p:txBody>
          <a:bodyPr/>
          <a:lstStyle/>
          <a:p>
            <a:fld id="{5899B3EB-F4B9-4EC3-8874-9456869D1B5F}" type="datetime1">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7DCE520-94D8-471E-9246-3DA957E543C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320913C-A7DD-4021-AFBC-947EB765CE4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solidFill>
                  <a:schemeClr val="tx1"/>
                </a:solidFill>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AD264FA-CC1B-47DB-A93A-6B4BBC43604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99BA4E8-8C0A-4D25-81B1-03C2082B47D6}"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081D4E8-1CCE-4EFF-A36C-E105DDD56AAD}"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83C1C7D-1228-46DC-9402-5957496C3C04}" type="datetime1">
              <a:rPr lang="en-US" smtClean="0"/>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04DF6C-52F4-4529-BC53-6E2674900ED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448FFD2-C90D-4BD9-95AC-D49FE82B0BB0}"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AAB32C9-888E-4264-AE70-E187E0827B9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109A059-0900-46A5-86CD-6CBACA225E8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E5F0799-E2B8-4119-BEA9-5BBF8CE2B0FA}"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22</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C945B-C34E-410F-BC8F-BE6BC04FBFD5}"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r>
              <a:rPr lang="en-US" dirty="0"/>
              <a:t> </a:t>
            </a:r>
            <a:r>
              <a:rPr lang="en-US" dirty="0" smtClean="0"/>
              <a:t>of 22</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tif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tif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549" y="4859834"/>
            <a:ext cx="7239000" cy="830997"/>
          </a:xfrm>
          <a:prstGeom prst="rect">
            <a:avLst/>
          </a:prstGeom>
          <a:noFill/>
          <a:ln w="3175">
            <a:solidFill>
              <a:schemeClr val="tx1"/>
            </a:solidFill>
          </a:ln>
        </p:spPr>
        <p:txBody>
          <a:bodyPr wrap="square" rtlCol="0">
            <a:spAutoFit/>
          </a:bodyPr>
          <a:lstStyle/>
          <a:p>
            <a:pPr lvl="0" algn="ctr"/>
            <a:r>
              <a:rPr lang="en-US" sz="2800" cap="small" dirty="0"/>
              <a:t>Dr. Asif Zaman</a:t>
            </a:r>
            <a:endParaRPr lang="en-US" sz="2800" cap="small" dirty="0"/>
          </a:p>
          <a:p>
            <a:pPr lvl="0" algn="ctr"/>
            <a:r>
              <a:rPr lang="en-US" cap="small" dirty="0" smtClean="0"/>
              <a:t>Professor</a:t>
            </a:r>
            <a:r>
              <a:rPr lang="en-US" cap="small" dirty="0"/>
              <a:t>, CSE, RU</a:t>
            </a:r>
            <a:endParaRPr lang="en-US" sz="1600" cap="small" dirty="0"/>
          </a:p>
        </p:txBody>
      </p:sp>
      <p:sp>
        <p:nvSpPr>
          <p:cNvPr id="6" name="TextBox 5"/>
          <p:cNvSpPr txBox="1"/>
          <p:nvPr/>
        </p:nvSpPr>
        <p:spPr>
          <a:xfrm>
            <a:off x="228598" y="363512"/>
            <a:ext cx="8724900" cy="1384995"/>
          </a:xfrm>
          <a:prstGeom prst="rect">
            <a:avLst/>
          </a:prstGeom>
          <a:noFill/>
        </p:spPr>
        <p:txBody>
          <a:bodyPr wrap="square" rtlCol="0">
            <a:spAutoFit/>
          </a:bodyPr>
          <a:lstStyle/>
          <a:p>
            <a:pPr algn="ctr">
              <a:buSzPct val="50000"/>
            </a:pPr>
            <a:r>
              <a:rPr lang="en-US" sz="2400" b="1" dirty="0" smtClean="0">
                <a:latin typeface="Times New Roman" panose="02020603050405020304" pitchFamily="18" charset="0"/>
                <a:cs typeface="Times New Roman" panose="02020603050405020304" pitchFamily="18" charset="0"/>
              </a:rPr>
              <a:t>CSE3251</a:t>
            </a:r>
            <a:r>
              <a:rPr lang="en-US" sz="3600" b="1" dirty="0" smtClean="0">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a:p>
            <a:pPr algn="ctr">
              <a:buSzPct val="50000"/>
            </a:pPr>
            <a:r>
              <a:rPr lang="en-US" sz="4800" b="1" cap="small" dirty="0">
                <a:latin typeface="Times New Roman" panose="02020603050405020304" pitchFamily="18" charset="0"/>
                <a:cs typeface="Times New Roman" panose="02020603050405020304" pitchFamily="18" charset="0"/>
              </a:rPr>
              <a:t>Computer Networks</a:t>
            </a:r>
            <a:endParaRPr lang="en-US" sz="4800" b="1" cap="small"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BEBA8EAE-BF5A-486C-A8C5-ECC9F3942E4B}">
                <a14:imgProps xmlns:a14="http://schemas.microsoft.com/office/drawing/2010/main">
                  <a14:imgLayer r:embed="rId2">
                    <a14:imgEffect>
                      <a14:saturation sat="66000"/>
                    </a14:imgEffect>
                  </a14:imgLayer>
                </a14:imgProps>
              </a:ext>
            </a:extLst>
          </a:blip>
          <a:stretch>
            <a:fillRect/>
          </a:stretch>
        </p:blipFill>
        <p:spPr>
          <a:xfrm>
            <a:off x="3818150" y="2477464"/>
            <a:ext cx="1545795" cy="1440000"/>
          </a:xfrm>
          <a:prstGeom prst="rect">
            <a:avLst/>
          </a:prstGeom>
        </p:spPr>
      </p:pic>
      <p:sp>
        <p:nvSpPr>
          <p:cNvPr id="4" name="TextBox 3"/>
          <p:cNvSpPr txBox="1"/>
          <p:nvPr/>
        </p:nvSpPr>
        <p:spPr>
          <a:xfrm>
            <a:off x="6296628" y="6504972"/>
            <a:ext cx="184731"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356455" y="1295400"/>
            <a:ext cx="8787545" cy="4301767"/>
          </a:xfrm>
          <a:prstGeom prst="rect">
            <a:avLst/>
          </a:prstGeom>
        </p:spPr>
      </p:pic>
      <p:sp>
        <p:nvSpPr>
          <p:cNvPr id="4" name="Rounded Rectangle 3"/>
          <p:cNvSpPr/>
          <p:nvPr/>
        </p:nvSpPr>
        <p:spPr>
          <a:xfrm>
            <a:off x="356455" y="4800600"/>
            <a:ext cx="8668139" cy="533400"/>
          </a:xfrm>
          <a:prstGeom prst="roundRect">
            <a:avLst/>
          </a:prstGeom>
          <a:solidFill>
            <a:schemeClr val="accent2">
              <a:alpha val="10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p:cNvSpPr>
            <a:spLocks noGrp="1"/>
          </p:cNvSpPr>
          <p:nvPr>
            <p:ph type="ftr" sz="quarter" idx="11"/>
          </p:nvPr>
        </p:nvSpPr>
        <p:spPr/>
        <p:txBody>
          <a:bodyPr/>
          <a:lstStyle/>
          <a:p>
            <a:fld id="{2F670B82-F28B-4B03-A415-8E756960D596}"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Transport Layer</a:t>
            </a:r>
            <a:endParaRPr lang="en-US" cap="small" dirty="0"/>
          </a:p>
        </p:txBody>
      </p:sp>
      <p:pic>
        <p:nvPicPr>
          <p:cNvPr id="5" name="Content Placeholder 4"/>
          <p:cNvPicPr>
            <a:picLocks noGrp="1" noChangeAspect="1"/>
          </p:cNvPicPr>
          <p:nvPr>
            <p:ph idx="1"/>
          </p:nvPr>
        </p:nvPicPr>
        <p:blipFill>
          <a:blip r:embed="rId1"/>
          <a:stretch>
            <a:fillRect/>
          </a:stretch>
        </p:blipFill>
        <p:spPr>
          <a:xfrm>
            <a:off x="1676400" y="1752600"/>
            <a:ext cx="5372100" cy="4394102"/>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of 24</a:t>
            </a:r>
            <a:endParaRPr lang="en-US" dirty="0"/>
          </a:p>
        </p:txBody>
      </p:sp>
      <p:sp>
        <p:nvSpPr>
          <p:cNvPr id="6" name="Rounded Rectangle 5"/>
          <p:cNvSpPr/>
          <p:nvPr/>
        </p:nvSpPr>
        <p:spPr>
          <a:xfrm>
            <a:off x="2933700" y="2362200"/>
            <a:ext cx="2552700" cy="685800"/>
          </a:xfrm>
          <a:prstGeom prst="roundRect">
            <a:avLst/>
          </a:prstGeom>
          <a:solidFill>
            <a:srgbClr val="7030A0">
              <a:alpha val="28000"/>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Presentation Layer</a:t>
            </a:r>
            <a:endParaRPr lang="en-US" cap="small" dirty="0"/>
          </a:p>
        </p:txBody>
      </p:sp>
      <p:pic>
        <p:nvPicPr>
          <p:cNvPr id="5" name="Content Placeholder 4"/>
          <p:cNvPicPr>
            <a:picLocks noGrp="1" noChangeAspect="1"/>
          </p:cNvPicPr>
          <p:nvPr>
            <p:ph idx="1"/>
          </p:nvPr>
        </p:nvPicPr>
        <p:blipFill>
          <a:blip r:embed="rId1"/>
          <a:stretch>
            <a:fillRect/>
          </a:stretch>
        </p:blipFill>
        <p:spPr>
          <a:xfrm>
            <a:off x="1828800" y="1948284"/>
            <a:ext cx="4629150" cy="1804737"/>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
        <p:nvSpPr>
          <p:cNvPr id="6" name="Rounded Rectangle 5"/>
          <p:cNvSpPr/>
          <p:nvPr/>
        </p:nvSpPr>
        <p:spPr>
          <a:xfrm>
            <a:off x="1676400" y="2895600"/>
            <a:ext cx="4781550" cy="362448"/>
          </a:xfrm>
          <a:prstGeom prst="roundRect">
            <a:avLst/>
          </a:prstGeom>
          <a:solidFill>
            <a:schemeClr val="accent2">
              <a:alpha val="26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28600" y="5395415"/>
            <a:ext cx="8763000" cy="923330"/>
          </a:xfrm>
          <a:prstGeom prst="rect">
            <a:avLst/>
          </a:prstGeom>
        </p:spPr>
        <p:txBody>
          <a:bodyPr wrap="square">
            <a:spAutoFit/>
          </a:bodyPr>
          <a:lstStyle/>
          <a:p>
            <a:r>
              <a:rPr lang="en-US" dirty="0"/>
              <a:t>Source: </a:t>
            </a:r>
            <a:endParaRPr lang="en-US" dirty="0"/>
          </a:p>
          <a:p>
            <a:r>
              <a:rPr lang="en-US" dirty="0"/>
              <a:t>http://</a:t>
            </a:r>
            <a:r>
              <a:rPr lang="en-US" dirty="0" err="1"/>
              <a:t>ecomputernotes.com</a:t>
            </a:r>
            <a:r>
              <a:rPr lang="en-US" dirty="0"/>
              <a:t>/computer-graphics/basic-of-computer-graphics/data-compression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Data Representation</a:t>
            </a:r>
            <a:endParaRPr lang="en-US" dirty="0"/>
          </a:p>
        </p:txBody>
      </p:sp>
      <p:pic>
        <p:nvPicPr>
          <p:cNvPr id="5" name="Content Placeholder 4"/>
          <p:cNvPicPr>
            <a:picLocks noGrp="1" noChangeAspect="1"/>
          </p:cNvPicPr>
          <p:nvPr>
            <p:ph idx="1"/>
          </p:nvPr>
        </p:nvPicPr>
        <p:blipFill>
          <a:blip r:embed="rId1"/>
          <a:stretch>
            <a:fillRect/>
          </a:stretch>
        </p:blipFill>
        <p:spPr>
          <a:xfrm>
            <a:off x="1143000" y="1981200"/>
            <a:ext cx="6858000" cy="344170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Data Representation</a:t>
            </a:r>
            <a:endParaRPr lang="en-US" dirty="0"/>
          </a:p>
        </p:txBody>
      </p:sp>
      <p:pic>
        <p:nvPicPr>
          <p:cNvPr id="5" name="Content Placeholder 4"/>
          <p:cNvPicPr>
            <a:picLocks noGrp="1" noChangeAspect="1"/>
          </p:cNvPicPr>
          <p:nvPr>
            <p:ph idx="1"/>
          </p:nvPr>
        </p:nvPicPr>
        <p:blipFill>
          <a:blip r:embed="rId1"/>
          <a:stretch>
            <a:fillRect/>
          </a:stretch>
        </p:blipFill>
        <p:spPr>
          <a:xfrm>
            <a:off x="1752600" y="2133600"/>
            <a:ext cx="5429250" cy="3221983"/>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Data Compression</a:t>
            </a:r>
            <a:endParaRPr lang="en-US" cap="small" dirty="0"/>
          </a:p>
        </p:txBody>
      </p:sp>
      <p:sp>
        <p:nvSpPr>
          <p:cNvPr id="3" name="Content Placeholder 2"/>
          <p:cNvSpPr>
            <a:spLocks noGrp="1"/>
          </p:cNvSpPr>
          <p:nvPr>
            <p:ph idx="1"/>
          </p:nvPr>
        </p:nvSpPr>
        <p:spPr/>
        <p:txBody>
          <a:bodyPr>
            <a:normAutofit/>
          </a:bodyPr>
          <a:lstStyle/>
          <a:p>
            <a:pPr algn="just"/>
            <a:r>
              <a:rPr lang="en-US" sz="2800" dirty="0"/>
              <a:t>Compression is often used to maximize the use of bandwidth across a network or to optimize disk space when saving data.</a:t>
            </a:r>
            <a:endParaRPr lang="en-US" sz="2800" dirty="0"/>
          </a:p>
          <a:p>
            <a:br>
              <a:rPr lang="en-US" sz="2800" dirty="0"/>
            </a:b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pic>
        <p:nvPicPr>
          <p:cNvPr id="5" name="Picture 4"/>
          <p:cNvPicPr>
            <a:picLocks noChangeAspect="1"/>
          </p:cNvPicPr>
          <p:nvPr/>
        </p:nvPicPr>
        <p:blipFill>
          <a:blip r:embed="rId1"/>
          <a:stretch>
            <a:fillRect/>
          </a:stretch>
        </p:blipFill>
        <p:spPr>
          <a:xfrm>
            <a:off x="1784195" y="3498057"/>
            <a:ext cx="5575610" cy="1828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Lossless Compression</a:t>
            </a:r>
            <a:endParaRPr lang="en-US" cap="small" dirty="0"/>
          </a:p>
        </p:txBody>
      </p:sp>
      <p:sp>
        <p:nvSpPr>
          <p:cNvPr id="3" name="Content Placeholder 2"/>
          <p:cNvSpPr>
            <a:spLocks noGrp="1"/>
          </p:cNvSpPr>
          <p:nvPr>
            <p:ph idx="1"/>
          </p:nvPr>
        </p:nvSpPr>
        <p:spPr/>
        <p:txBody>
          <a:bodyPr>
            <a:normAutofit/>
          </a:bodyPr>
          <a:lstStyle/>
          <a:p>
            <a:r>
              <a:rPr lang="en-US" sz="2400" dirty="0"/>
              <a:t>Lossless compression compresses the data in such a way that when </a:t>
            </a:r>
            <a:r>
              <a:rPr lang="en-US" sz="2400" dirty="0">
                <a:effectLst>
                  <a:glow rad="228600">
                    <a:schemeClr val="accent6">
                      <a:satMod val="175000"/>
                      <a:alpha val="40000"/>
                    </a:schemeClr>
                  </a:glow>
                </a:effectLst>
              </a:rPr>
              <a:t>data is decompressed it is exactly the same as it was </a:t>
            </a:r>
            <a:r>
              <a:rPr lang="en-US" sz="2400" dirty="0"/>
              <a:t>before compression </a:t>
            </a:r>
            <a:r>
              <a:rPr lang="en-US" sz="2400" i="1" dirty="0"/>
              <a:t>i.e. </a:t>
            </a:r>
            <a:r>
              <a:rPr lang="en-US" sz="2400" dirty="0"/>
              <a:t>there is no loss of data.</a:t>
            </a:r>
            <a:endParaRPr lang="en-US" sz="2400" dirty="0"/>
          </a:p>
          <a:p>
            <a:r>
              <a:rPr lang="en-US" sz="2400" dirty="0"/>
              <a:t>… is used to compress file data such as:</a:t>
            </a:r>
            <a:endParaRPr lang="en-US" sz="2400" dirty="0"/>
          </a:p>
          <a:p>
            <a:pPr lvl="1"/>
            <a:r>
              <a:rPr lang="en-US" sz="2000" dirty="0">
                <a:effectLst>
                  <a:glow rad="228600">
                    <a:schemeClr val="accent6">
                      <a:satMod val="175000"/>
                      <a:alpha val="40000"/>
                    </a:schemeClr>
                  </a:glow>
                </a:effectLst>
              </a:rPr>
              <a:t> executable code</a:t>
            </a:r>
            <a:r>
              <a:rPr lang="en-US" sz="2000" dirty="0"/>
              <a:t>, </a:t>
            </a:r>
            <a:endParaRPr lang="en-US" sz="2000" dirty="0"/>
          </a:p>
          <a:p>
            <a:pPr lvl="1"/>
            <a:r>
              <a:rPr lang="en-US" sz="2000" dirty="0">
                <a:effectLst>
                  <a:glow rad="228600">
                    <a:schemeClr val="accent6">
                      <a:satMod val="175000"/>
                      <a:alpha val="40000"/>
                    </a:schemeClr>
                  </a:glow>
                </a:effectLst>
              </a:rPr>
              <a:t>text files</a:t>
            </a:r>
            <a:r>
              <a:rPr lang="en-US" sz="2000" dirty="0"/>
              <a:t>, and </a:t>
            </a:r>
            <a:endParaRPr lang="en-US" sz="2000" dirty="0"/>
          </a:p>
          <a:p>
            <a:pPr lvl="1"/>
            <a:r>
              <a:rPr lang="en-US" sz="2000" dirty="0">
                <a:effectLst>
                  <a:glow rad="228600">
                    <a:schemeClr val="accent6">
                      <a:satMod val="175000"/>
                      <a:alpha val="40000"/>
                    </a:schemeClr>
                  </a:glow>
                </a:effectLst>
              </a:rPr>
              <a:t>numeric data, </a:t>
            </a:r>
            <a:r>
              <a:rPr lang="en-US" sz="2000" dirty="0"/>
              <a:t>because programs that process such file data cannot tolerate mistakes in the data.</a:t>
            </a:r>
            <a:endParaRPr lang="en-US" sz="2000" dirty="0"/>
          </a:p>
          <a:p>
            <a:r>
              <a:rPr lang="en-US" sz="2400" dirty="0"/>
              <a:t>… </a:t>
            </a:r>
            <a:r>
              <a:rPr lang="en-US" sz="2400" dirty="0">
                <a:effectLst>
                  <a:glow rad="228600">
                    <a:schemeClr val="accent6">
                      <a:satMod val="175000"/>
                      <a:alpha val="40000"/>
                    </a:schemeClr>
                  </a:glow>
                </a:effectLst>
              </a:rPr>
              <a:t>will typically not compress file as much as </a:t>
            </a:r>
            <a:r>
              <a:rPr lang="en-US" sz="2400" dirty="0" err="1"/>
              <a:t>lossy</a:t>
            </a:r>
            <a:r>
              <a:rPr lang="en-US" sz="2400" dirty="0"/>
              <a:t> compression techniques and </a:t>
            </a:r>
            <a:r>
              <a:rPr lang="en-US" sz="2400" dirty="0">
                <a:effectLst>
                  <a:glow rad="228600">
                    <a:schemeClr val="accent6">
                      <a:satMod val="175000"/>
                      <a:alpha val="40000"/>
                    </a:schemeClr>
                  </a:glow>
                </a:effectLst>
              </a:rPr>
              <a:t>may take more processing power </a:t>
            </a:r>
            <a:r>
              <a:rPr lang="en-US" sz="2400" dirty="0"/>
              <a:t>to accomplish the compression.</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a:t>Lossless Compression</a:t>
            </a:r>
            <a:endParaRPr lang="en-US" dirty="0"/>
          </a:p>
        </p:txBody>
      </p:sp>
      <p:pic>
        <p:nvPicPr>
          <p:cNvPr id="5" name="Content Placeholder 4"/>
          <p:cNvPicPr>
            <a:picLocks noGrp="1" noChangeAspect="1"/>
          </p:cNvPicPr>
          <p:nvPr>
            <p:ph idx="1"/>
          </p:nvPr>
        </p:nvPicPr>
        <p:blipFill>
          <a:blip r:embed="rId1"/>
          <a:stretch>
            <a:fillRect/>
          </a:stretch>
        </p:blipFill>
        <p:spPr>
          <a:xfrm>
            <a:off x="457200" y="2286000"/>
            <a:ext cx="8229600" cy="2756813"/>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
        <p:nvSpPr>
          <p:cNvPr id="3" name="Rounded Rectangle 2"/>
          <p:cNvSpPr/>
          <p:nvPr/>
        </p:nvSpPr>
        <p:spPr>
          <a:xfrm>
            <a:off x="533400" y="3657600"/>
            <a:ext cx="4343400" cy="1447800"/>
          </a:xfrm>
          <a:prstGeom prst="roundRect">
            <a:avLst/>
          </a:prstGeom>
          <a:solidFill>
            <a:schemeClr val="bg2">
              <a:lumMod val="5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small" dirty="0"/>
              <a:t>Run length encoding</a:t>
            </a:r>
            <a:endParaRPr lang="en-US" cap="small" dirty="0"/>
          </a:p>
        </p:txBody>
      </p:sp>
      <p:sp>
        <p:nvSpPr>
          <p:cNvPr id="3" name="Content Placeholder 2"/>
          <p:cNvSpPr>
            <a:spLocks noGrp="1"/>
          </p:cNvSpPr>
          <p:nvPr>
            <p:ph idx="1"/>
          </p:nvPr>
        </p:nvSpPr>
        <p:spPr/>
        <p:txBody>
          <a:bodyPr>
            <a:noAutofit/>
          </a:bodyPr>
          <a:lstStyle/>
          <a:p>
            <a:r>
              <a:rPr lang="en-US" sz="2400" dirty="0"/>
              <a:t>This method replaces the consecutive occurrences of a given symbol with only one copy of the symbol along with a count of how many times that symbol occurs. </a:t>
            </a:r>
            <a:endParaRPr lang="en-US" sz="2400" dirty="0" smtClean="0"/>
          </a:p>
          <a:p>
            <a:r>
              <a:rPr lang="en-US" sz="2400" dirty="0" smtClean="0"/>
              <a:t>Hence </a:t>
            </a:r>
            <a:r>
              <a:rPr lang="en-US" sz="2400" dirty="0"/>
              <a:t>the names ‘run length'.</a:t>
            </a:r>
            <a:endParaRPr lang="en-US" sz="2400" dirty="0"/>
          </a:p>
          <a:p>
            <a:r>
              <a:rPr lang="en-US" sz="2400" dirty="0"/>
              <a:t>the string </a:t>
            </a:r>
            <a:r>
              <a:rPr lang="en-US" sz="2400" b="1" dirty="0">
                <a:effectLst>
                  <a:glow rad="228600">
                    <a:schemeClr val="accent6">
                      <a:satMod val="175000"/>
                      <a:alpha val="40000"/>
                    </a:schemeClr>
                  </a:glow>
                </a:effectLst>
              </a:rPr>
              <a:t>AAABBCDDDD</a:t>
            </a:r>
            <a:r>
              <a:rPr lang="en-US" sz="2400" dirty="0">
                <a:effectLst>
                  <a:glow rad="228600">
                    <a:schemeClr val="accent6">
                      <a:satMod val="175000"/>
                      <a:alpha val="40000"/>
                    </a:schemeClr>
                  </a:glow>
                </a:effectLst>
              </a:rPr>
              <a:t> </a:t>
            </a:r>
            <a:r>
              <a:rPr lang="en-US" sz="2400" dirty="0"/>
              <a:t>would be encoded as </a:t>
            </a:r>
            <a:r>
              <a:rPr lang="en-US" sz="2400" b="1" dirty="0">
                <a:effectLst>
                  <a:glow rad="228600">
                    <a:schemeClr val="accent6">
                      <a:satMod val="175000"/>
                      <a:alpha val="40000"/>
                    </a:schemeClr>
                  </a:glow>
                </a:effectLst>
              </a:rPr>
              <a:t>3A2BIC4D</a:t>
            </a:r>
            <a:r>
              <a:rPr lang="en-US" sz="2400" dirty="0"/>
              <a:t>.</a:t>
            </a:r>
            <a:endParaRPr lang="en-US" sz="2400" dirty="0"/>
          </a:p>
          <a:p>
            <a:r>
              <a:rPr lang="en-US" sz="2400" dirty="0"/>
              <a:t>A real life example where run-length encoding is quite effective is the </a:t>
            </a:r>
            <a:r>
              <a:rPr lang="en-US" sz="2400" b="1" dirty="0">
                <a:effectLst>
                  <a:glow rad="228600">
                    <a:schemeClr val="accent6">
                      <a:satMod val="175000"/>
                      <a:alpha val="40000"/>
                    </a:schemeClr>
                  </a:glow>
                </a:effectLst>
              </a:rPr>
              <a:t>fax machine</a:t>
            </a:r>
            <a:r>
              <a:rPr lang="en-US" sz="2400" dirty="0"/>
              <a:t>. </a:t>
            </a:r>
            <a:endParaRPr lang="en-US" sz="2400" dirty="0"/>
          </a:p>
          <a:p>
            <a:r>
              <a:rPr lang="en-US" sz="2400" dirty="0"/>
              <a:t>This method of compression must be used carefully. If there is not a lot of repetition in the data then it is possible the run length encoding scheme would actually increase the size of a file.</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Differential pulse code modulation</a:t>
            </a:r>
            <a:endParaRPr lang="en-US" cap="small" dirty="0"/>
          </a:p>
        </p:txBody>
      </p:sp>
      <p:sp>
        <p:nvSpPr>
          <p:cNvPr id="3" name="Content Placeholder 2"/>
          <p:cNvSpPr>
            <a:spLocks noGrp="1"/>
          </p:cNvSpPr>
          <p:nvPr>
            <p:ph idx="1"/>
          </p:nvPr>
        </p:nvSpPr>
        <p:spPr/>
        <p:txBody>
          <a:bodyPr>
            <a:normAutofit/>
          </a:bodyPr>
          <a:lstStyle/>
          <a:p>
            <a:r>
              <a:rPr lang="en-US" sz="2400" dirty="0"/>
              <a:t>• In this method first a reference symbol is placed. Then for each symbol in the data, we place the difference between that symbol and the reference symbol used.</a:t>
            </a:r>
            <a:endParaRPr lang="en-US" sz="2400" dirty="0"/>
          </a:p>
          <a:p>
            <a:endParaRPr lang="en-US" sz="2400" dirty="0"/>
          </a:p>
          <a:p>
            <a:r>
              <a:rPr lang="en-US" sz="2400" dirty="0"/>
              <a:t>For example, using symbol A as reference symbol, the string </a:t>
            </a:r>
            <a:r>
              <a:rPr lang="en-US" sz="2400" b="1" dirty="0">
                <a:effectLst>
                  <a:glow rad="228600">
                    <a:schemeClr val="accent6">
                      <a:satMod val="175000"/>
                      <a:alpha val="40000"/>
                    </a:schemeClr>
                  </a:glow>
                </a:effectLst>
              </a:rPr>
              <a:t>AAABBCDDDD </a:t>
            </a:r>
            <a:r>
              <a:rPr lang="en-US" sz="2400" dirty="0"/>
              <a:t>would be encoded as </a:t>
            </a:r>
            <a:r>
              <a:rPr lang="en-US" sz="2400" b="1" dirty="0">
                <a:effectLst>
                  <a:glow rad="228600">
                    <a:schemeClr val="accent6">
                      <a:satMod val="175000"/>
                      <a:alpha val="40000"/>
                    </a:schemeClr>
                  </a:glow>
                </a:effectLst>
              </a:rPr>
              <a:t>AOOO1123333</a:t>
            </a:r>
            <a:r>
              <a:rPr lang="en-US" sz="2400" b="1" dirty="0"/>
              <a:t>,</a:t>
            </a:r>
            <a:r>
              <a:rPr lang="en-US" sz="2400" dirty="0"/>
              <a:t> since A is the same as reference symbol, B has a difference of 1 from the reference symbol and so on.</a:t>
            </a:r>
            <a:endParaRPr lang="en-US" sz="2400" dirty="0"/>
          </a:p>
          <a:p>
            <a:br>
              <a:rPr lang="en-US" sz="2400" dirty="0"/>
            </a:b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t>Dictionary based encoding</a:t>
            </a:r>
            <a:endParaRPr lang="en-US" dirty="0"/>
          </a:p>
        </p:txBody>
      </p:sp>
      <p:sp>
        <p:nvSpPr>
          <p:cNvPr id="3" name="Content Placeholder 2"/>
          <p:cNvSpPr>
            <a:spLocks noGrp="1"/>
          </p:cNvSpPr>
          <p:nvPr>
            <p:ph idx="1"/>
          </p:nvPr>
        </p:nvSpPr>
        <p:spPr/>
        <p:txBody>
          <a:bodyPr>
            <a:noAutofit/>
          </a:bodyPr>
          <a:lstStyle/>
          <a:p>
            <a:r>
              <a:rPr lang="en-US" sz="2200" dirty="0"/>
              <a:t>One of the best known dictionary based encoding algorithms is Lempel-Ziv (LZ) compression algorithm.</a:t>
            </a:r>
            <a:endParaRPr lang="en-US" sz="2200" dirty="0"/>
          </a:p>
          <a:p>
            <a:r>
              <a:rPr lang="en-US" sz="2200" dirty="0"/>
              <a:t>This method is also known as substitution coder.</a:t>
            </a:r>
            <a:endParaRPr lang="en-US" sz="2200" dirty="0"/>
          </a:p>
          <a:p>
            <a:r>
              <a:rPr lang="en-US" sz="2200" dirty="0"/>
              <a:t>In this method, a dictionary (table) of variable length strings (common phrases) is built.</a:t>
            </a:r>
            <a:endParaRPr lang="en-US" sz="2200" dirty="0"/>
          </a:p>
          <a:p>
            <a:r>
              <a:rPr lang="en-US" sz="2200" dirty="0"/>
              <a:t>This dictionary contains almost every string that is expected to occur in data. When any of these strings occur in the data, then they are replaced with the corresponding index to the dictionary.</a:t>
            </a:r>
            <a:endParaRPr lang="en-US" sz="2200" dirty="0"/>
          </a:p>
          <a:p>
            <a:r>
              <a:rPr lang="en-US" sz="2200" dirty="0"/>
              <a:t>For example, let us say that the word "</a:t>
            </a:r>
            <a:r>
              <a:rPr lang="en-US" sz="2200" b="1" dirty="0">
                <a:effectLst>
                  <a:glow rad="228600">
                    <a:schemeClr val="accent6">
                      <a:satMod val="175000"/>
                      <a:alpha val="40000"/>
                    </a:schemeClr>
                  </a:glow>
                </a:effectLst>
              </a:rPr>
              <a:t>compression</a:t>
            </a:r>
            <a:r>
              <a:rPr lang="en-US" sz="2200" dirty="0"/>
              <a:t>" has the index 4978 in one particular dictionary; it is the </a:t>
            </a:r>
            <a:r>
              <a:rPr lang="en-US" sz="2200" b="1" dirty="0">
                <a:effectLst>
                  <a:glow rad="228600">
                    <a:schemeClr val="accent6">
                      <a:satMod val="175000"/>
                      <a:alpha val="40000"/>
                    </a:schemeClr>
                  </a:glow>
                </a:effectLst>
              </a:rPr>
              <a:t>4978</a:t>
            </a:r>
            <a:r>
              <a:rPr lang="en-US" sz="2200" b="1" baseline="30000" dirty="0">
                <a:effectLst>
                  <a:glow rad="228600">
                    <a:schemeClr val="accent6">
                      <a:satMod val="175000"/>
                      <a:alpha val="40000"/>
                    </a:schemeClr>
                  </a:glow>
                </a:effectLst>
              </a:rPr>
              <a:t>th</a:t>
            </a:r>
            <a:r>
              <a:rPr lang="en-US" sz="2200" b="1" dirty="0">
                <a:effectLst>
                  <a:glow rad="228600">
                    <a:schemeClr val="accent6">
                      <a:satMod val="175000"/>
                      <a:alpha val="40000"/>
                    </a:schemeClr>
                  </a:glow>
                </a:effectLst>
              </a:rPr>
              <a:t>word</a:t>
            </a:r>
            <a:r>
              <a:rPr lang="en-US" sz="2200" dirty="0"/>
              <a:t> is </a:t>
            </a:r>
            <a:r>
              <a:rPr lang="en-US" sz="2200" dirty="0" err="1"/>
              <a:t>usr</a:t>
            </a:r>
            <a:r>
              <a:rPr lang="en-US" sz="2200" dirty="0"/>
              <a:t>/share/</a:t>
            </a:r>
            <a:r>
              <a:rPr lang="en-US" sz="2200" dirty="0" err="1"/>
              <a:t>dict</a:t>
            </a:r>
            <a:r>
              <a:rPr lang="en-US" sz="2200" dirty="0"/>
              <a:t>/words. To compress a body of text, each time the string "compression" appears, it would be </a:t>
            </a:r>
            <a:r>
              <a:rPr lang="en-US" sz="2200" b="1" dirty="0">
                <a:effectLst>
                  <a:glow rad="228600">
                    <a:schemeClr val="accent6">
                      <a:satMod val="175000"/>
                      <a:alpha val="40000"/>
                    </a:schemeClr>
                  </a:glow>
                </a:effectLst>
              </a:rPr>
              <a:t>replaced by 4978</a:t>
            </a:r>
            <a:r>
              <a:rPr lang="en-US" sz="2200" dirty="0">
                <a:effectLst>
                  <a:glow rad="228600">
                    <a:schemeClr val="accent6">
                      <a:satMod val="175000"/>
                      <a:alpha val="40000"/>
                    </a:schemeClr>
                  </a:glow>
                </a:effectLst>
              </a:rPr>
              <a:t>.</a:t>
            </a:r>
            <a:br>
              <a:rPr lang="en-US" sz="2200" dirty="0">
                <a:effectLst>
                  <a:glow rad="228600">
                    <a:schemeClr val="accent6">
                      <a:satMod val="175000"/>
                      <a:alpha val="40000"/>
                    </a:schemeClr>
                  </a:glow>
                </a:effectLst>
              </a:rPr>
            </a:br>
            <a:endParaRPr lang="en-US" sz="2200" dirty="0">
              <a:effectLst>
                <a:glow rad="228600">
                  <a:schemeClr val="accent6">
                    <a:satMod val="175000"/>
                    <a:alpha val="40000"/>
                  </a:schemeClr>
                </a:glow>
              </a:effectLst>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err="1"/>
              <a:t>Lossy</a:t>
            </a:r>
            <a:r>
              <a:rPr lang="en-US" b="1" cap="small" dirty="0"/>
              <a:t> Compression</a:t>
            </a:r>
            <a:endParaRPr lang="en-US" dirty="0"/>
          </a:p>
        </p:txBody>
      </p:sp>
      <p:sp>
        <p:nvSpPr>
          <p:cNvPr id="3" name="Content Placeholder 2"/>
          <p:cNvSpPr>
            <a:spLocks noGrp="1"/>
          </p:cNvSpPr>
          <p:nvPr>
            <p:ph idx="1"/>
          </p:nvPr>
        </p:nvSpPr>
        <p:spPr/>
        <p:txBody>
          <a:bodyPr>
            <a:normAutofit/>
          </a:bodyPr>
          <a:lstStyle/>
          <a:p>
            <a:r>
              <a:rPr lang="en-US" sz="2400" dirty="0" err="1"/>
              <a:t>Lossy</a:t>
            </a:r>
            <a:r>
              <a:rPr lang="en-US" sz="2400" dirty="0"/>
              <a:t> compression is the one that does not promise that the data received is exactly the same as data send i.e. the data may be lost.</a:t>
            </a:r>
            <a:endParaRPr lang="en-US" sz="2400" dirty="0"/>
          </a:p>
          <a:p>
            <a:r>
              <a:rPr lang="en-US" sz="2400" dirty="0"/>
              <a:t>This is because a </a:t>
            </a:r>
            <a:r>
              <a:rPr lang="en-US" sz="2400" dirty="0" err="1">
                <a:effectLst>
                  <a:glow rad="228600">
                    <a:schemeClr val="accent6">
                      <a:satMod val="175000"/>
                      <a:alpha val="40000"/>
                    </a:schemeClr>
                  </a:glow>
                </a:effectLst>
              </a:rPr>
              <a:t>lossy</a:t>
            </a:r>
            <a:r>
              <a:rPr lang="en-US" sz="2400" dirty="0">
                <a:effectLst>
                  <a:glow rad="228600">
                    <a:schemeClr val="accent6">
                      <a:satMod val="175000"/>
                      <a:alpha val="40000"/>
                    </a:schemeClr>
                  </a:glow>
                </a:effectLst>
              </a:rPr>
              <a:t> algorithm removes information that it cannot later restore</a:t>
            </a:r>
            <a:r>
              <a:rPr lang="en-US" sz="2400" dirty="0"/>
              <a:t>.</a:t>
            </a:r>
            <a:endParaRPr lang="en-US" sz="2400" dirty="0"/>
          </a:p>
          <a:p>
            <a:r>
              <a:rPr lang="en-US" sz="2400" dirty="0" err="1"/>
              <a:t>Lossy</a:t>
            </a:r>
            <a:r>
              <a:rPr lang="en-US" sz="2400" dirty="0"/>
              <a:t> algorithms are used to compress still </a:t>
            </a:r>
            <a:r>
              <a:rPr lang="en-US" sz="2400" dirty="0">
                <a:effectLst>
                  <a:glow rad="228600">
                    <a:schemeClr val="accent6">
                      <a:satMod val="175000"/>
                      <a:alpha val="40000"/>
                    </a:schemeClr>
                  </a:glow>
                </a:effectLst>
              </a:rPr>
              <a:t>images, video and audio</a:t>
            </a:r>
            <a:r>
              <a:rPr lang="en-US" sz="2400" dirty="0"/>
              <a:t>.</a:t>
            </a:r>
            <a:endParaRPr lang="en-US" sz="2400" dirty="0"/>
          </a:p>
          <a:p>
            <a:r>
              <a:rPr lang="en-US" sz="2400" dirty="0" err="1"/>
              <a:t>Lossy</a:t>
            </a:r>
            <a:r>
              <a:rPr lang="en-US" sz="2400" dirty="0"/>
              <a:t> algorithms </a:t>
            </a:r>
            <a:r>
              <a:rPr lang="en-US" sz="2400" dirty="0">
                <a:effectLst>
                  <a:glow rad="228600">
                    <a:schemeClr val="accent6">
                      <a:satMod val="175000"/>
                      <a:alpha val="40000"/>
                    </a:schemeClr>
                  </a:glow>
                </a:effectLst>
              </a:rPr>
              <a:t>typically achieve much better compression </a:t>
            </a:r>
            <a:r>
              <a:rPr lang="en-US" sz="2400" dirty="0"/>
              <a:t>ratios than the lossless algorithms.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err="1"/>
              <a:t>Lossy</a:t>
            </a:r>
            <a:r>
              <a:rPr lang="en-US" b="1" cap="small" dirty="0"/>
              <a:t> Compression</a:t>
            </a:r>
            <a:endParaRPr lang="en-US" dirty="0"/>
          </a:p>
        </p:txBody>
      </p:sp>
      <p:sp>
        <p:nvSpPr>
          <p:cNvPr id="3" name="Content Placeholder 2"/>
          <p:cNvSpPr>
            <a:spLocks noGrp="1"/>
          </p:cNvSpPr>
          <p:nvPr>
            <p:ph idx="1"/>
          </p:nvPr>
        </p:nvSpPr>
        <p:spPr/>
        <p:txBody>
          <a:bodyPr>
            <a:noAutofit/>
          </a:bodyPr>
          <a:lstStyle/>
          <a:p>
            <a:r>
              <a:rPr lang="en-US" sz="2400" dirty="0"/>
              <a:t>Two types of techniques are used for audio compression:</a:t>
            </a:r>
            <a:endParaRPr lang="en-US" sz="2400" dirty="0"/>
          </a:p>
          <a:p>
            <a:pPr marL="914400" lvl="1" indent="-514350">
              <a:buFont typeface="+mj-lt"/>
              <a:buAutoNum type="arabicPeriod"/>
            </a:pPr>
            <a:r>
              <a:rPr lang="en-US" sz="3200" cap="small" dirty="0"/>
              <a:t>Predictive encoding</a:t>
            </a:r>
            <a:endParaRPr lang="en-US" sz="3200" cap="small" dirty="0"/>
          </a:p>
          <a:p>
            <a:pPr marL="914400" lvl="1" indent="-514350">
              <a:buFont typeface="+mj-lt"/>
              <a:buAutoNum type="arabicPeriod"/>
            </a:pPr>
            <a:r>
              <a:rPr lang="en-US" sz="3200" cap="small" dirty="0"/>
              <a:t>Perceptual encoding</a:t>
            </a:r>
            <a:endParaRPr lang="en-US" sz="3200" cap="small" dirty="0"/>
          </a:p>
          <a:p>
            <a:pPr marL="0" indent="0">
              <a:buNone/>
            </a:pPr>
            <a:endParaRPr lang="en-US" sz="2400" dirty="0"/>
          </a:p>
          <a:p>
            <a:pPr>
              <a:buFont typeface="Wingdings" panose="05000000000000000000" pitchFamily="2" charset="2"/>
              <a:buChar char="v"/>
            </a:pPr>
            <a:r>
              <a:rPr lang="en-US" sz="2400" b="1" cap="small" dirty="0">
                <a:effectLst>
                  <a:glow rad="228600">
                    <a:schemeClr val="accent6">
                      <a:satMod val="175000"/>
                      <a:alpha val="40000"/>
                    </a:schemeClr>
                  </a:glow>
                </a:effectLst>
              </a:rPr>
              <a:t>Predictive encoding</a:t>
            </a:r>
            <a:endParaRPr lang="en-US" sz="2400" b="1" cap="small" dirty="0">
              <a:effectLst>
                <a:glow rad="228600">
                  <a:schemeClr val="accent6">
                    <a:satMod val="175000"/>
                    <a:alpha val="40000"/>
                  </a:schemeClr>
                </a:glow>
              </a:effectLst>
            </a:endParaRPr>
          </a:p>
          <a:p>
            <a:pPr lvl="1"/>
            <a:r>
              <a:rPr lang="en-US" sz="2400" dirty="0"/>
              <a:t>In predictive encoding, the differences between the samples are encoded instead of encoding all the sampled values.</a:t>
            </a:r>
            <a:endParaRPr lang="en-US" sz="2400" dirty="0"/>
          </a:p>
          <a:p>
            <a:pPr lvl="1"/>
            <a:r>
              <a:rPr lang="en-US" sz="2400" dirty="0"/>
              <a:t>This type of compression is normally used for speech.</a:t>
            </a:r>
            <a:endParaRPr lang="en-US" sz="2400" dirty="0"/>
          </a:p>
          <a:p>
            <a:pPr lvl="1"/>
            <a:r>
              <a:rPr lang="en-US" sz="2400" dirty="0"/>
              <a:t>Several standards have been defined such as GSM (13 kbps), G. 729 (8 kbps), and G.723.3 (6.4 or 5.3 kbps).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a:t>Perceptual encoding</a:t>
            </a:r>
            <a:endParaRPr lang="en-US" dirty="0"/>
          </a:p>
        </p:txBody>
      </p:sp>
      <p:sp>
        <p:nvSpPr>
          <p:cNvPr id="3" name="Content Placeholder 2"/>
          <p:cNvSpPr>
            <a:spLocks noGrp="1"/>
          </p:cNvSpPr>
          <p:nvPr>
            <p:ph idx="1"/>
          </p:nvPr>
        </p:nvSpPr>
        <p:spPr/>
        <p:txBody>
          <a:bodyPr>
            <a:noAutofit/>
          </a:bodyPr>
          <a:lstStyle/>
          <a:p>
            <a:r>
              <a:rPr lang="en-US" sz="2400" dirty="0"/>
              <a:t>Perceptual encoding is based on the science of </a:t>
            </a:r>
            <a:r>
              <a:rPr lang="en-US" sz="2400" b="1" dirty="0">
                <a:effectLst>
                  <a:glow rad="228600">
                    <a:schemeClr val="accent6">
                      <a:satMod val="175000"/>
                      <a:alpha val="40000"/>
                    </a:schemeClr>
                  </a:glow>
                </a:effectLst>
              </a:rPr>
              <a:t>psychoacoustics</a:t>
            </a:r>
            <a:r>
              <a:rPr lang="en-US" sz="2400" dirty="0"/>
              <a:t>, a study of how people perceive sound.</a:t>
            </a:r>
            <a:endParaRPr lang="en-US" sz="2400" dirty="0"/>
          </a:p>
          <a:p>
            <a:r>
              <a:rPr lang="en-US" sz="2400" dirty="0"/>
              <a:t>The perceptual encoding exploits certain flaws in the human auditory system to encode a signal in such a way that it sounds the same to a human listener, even if it looks quite different on an oscilloscope.</a:t>
            </a:r>
            <a:endParaRPr lang="en-US" sz="2400" dirty="0"/>
          </a:p>
          <a:p>
            <a:r>
              <a:rPr lang="en-US" sz="2400" dirty="0"/>
              <a:t>The key property of perceptual coding is that some sounds can mask other sound.</a:t>
            </a:r>
            <a:endParaRPr lang="en-US" sz="2400" dirty="0"/>
          </a:p>
          <a:p>
            <a:r>
              <a:rPr lang="en-US" sz="2400" dirty="0"/>
              <a:t>For example, imagine that you are broadcasting a live flute concert and all of a sudden someone starts striking a hammer on a metal sheet. You will not be able to hear the flute any more. Its sound has been masked by the hammer.</a:t>
            </a:r>
            <a:br>
              <a:rPr lang="en-US" sz="2400" dirty="0"/>
            </a:b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22</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SSL?</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smtClean="0"/>
              <a:t> of 22</a:t>
            </a:r>
            <a:endParaRPr lang="en-US" dirty="0"/>
          </a:p>
        </p:txBody>
      </p:sp>
      <p:pic>
        <p:nvPicPr>
          <p:cNvPr id="10" name="Content Placeholder 9"/>
          <p:cNvPicPr>
            <a:picLocks noGrp="1" noChangeAspect="1"/>
          </p:cNvPicPr>
          <p:nvPr>
            <p:ph idx="1"/>
          </p:nvPr>
        </p:nvPicPr>
        <p:blipFill>
          <a:blip r:embed="rId1"/>
          <a:stretch>
            <a:fillRect/>
          </a:stretch>
        </p:blipFill>
        <p:spPr>
          <a:xfrm>
            <a:off x="541508" y="1524000"/>
            <a:ext cx="8083210" cy="452596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smtClean="0"/>
              <a:t> of 22</a:t>
            </a:r>
            <a:endParaRPr lang="en-US" dirty="0"/>
          </a:p>
        </p:txBody>
      </p:sp>
      <p:pic>
        <p:nvPicPr>
          <p:cNvPr id="5" name="Content Placeholder 4"/>
          <p:cNvPicPr>
            <a:picLocks noGrp="1" noChangeAspect="1"/>
          </p:cNvPicPr>
          <p:nvPr>
            <p:ph idx="1"/>
          </p:nvPr>
        </p:nvPicPr>
        <p:blipFill>
          <a:blip r:embed="rId1"/>
          <a:stretch>
            <a:fillRect/>
          </a:stretch>
        </p:blipFill>
        <p:spPr>
          <a:xfrm>
            <a:off x="2026146" y="1600200"/>
            <a:ext cx="5091708" cy="452596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How SSL, HTTPS, and Certificates Work </a:t>
            </a:r>
            <a:r>
              <a:rPr lang="en-US" sz="3200" b="1" dirty="0" smtClean="0"/>
              <a:t>Together</a:t>
            </a:r>
            <a:endParaRPr lang="en-US" sz="3200" dirty="0"/>
          </a:p>
        </p:txBody>
      </p:sp>
      <p:pic>
        <p:nvPicPr>
          <p:cNvPr id="5" name="Content Placeholder 4"/>
          <p:cNvPicPr>
            <a:picLocks noGrp="1" noChangeAspect="1"/>
          </p:cNvPicPr>
          <p:nvPr>
            <p:ph idx="1"/>
          </p:nvPr>
        </p:nvPicPr>
        <p:blipFill>
          <a:blip r:embed="rId1"/>
          <a:stretch>
            <a:fillRect/>
          </a:stretch>
        </p:blipFill>
        <p:spPr>
          <a:xfrm>
            <a:off x="478410" y="1659527"/>
            <a:ext cx="8229600" cy="1484978"/>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smtClean="0"/>
              <a:t> of 22</a:t>
            </a:r>
            <a:endParaRPr lang="en-US" dirty="0"/>
          </a:p>
        </p:txBody>
      </p:sp>
      <p:pic>
        <p:nvPicPr>
          <p:cNvPr id="6" name="Picture 5"/>
          <p:cNvPicPr>
            <a:picLocks noChangeAspect="1"/>
          </p:cNvPicPr>
          <p:nvPr/>
        </p:nvPicPr>
        <p:blipFill>
          <a:blip r:embed="rId2"/>
          <a:stretch>
            <a:fillRect/>
          </a:stretch>
        </p:blipFill>
        <p:spPr>
          <a:xfrm>
            <a:off x="478410" y="3561707"/>
            <a:ext cx="7366715" cy="11887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360947" y="182251"/>
            <a:ext cx="6373114" cy="3486637"/>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smtClean="0"/>
              <a:t> of 22</a:t>
            </a:r>
            <a:endParaRPr lang="en-US" dirty="0"/>
          </a:p>
        </p:txBody>
      </p:sp>
      <p:pic>
        <p:nvPicPr>
          <p:cNvPr id="6" name="Picture 5"/>
          <p:cNvPicPr>
            <a:picLocks noChangeAspect="1"/>
          </p:cNvPicPr>
          <p:nvPr/>
        </p:nvPicPr>
        <p:blipFill>
          <a:blip r:embed="rId2"/>
          <a:stretch>
            <a:fillRect/>
          </a:stretch>
        </p:blipFill>
        <p:spPr>
          <a:xfrm>
            <a:off x="381372" y="3978592"/>
            <a:ext cx="8658887"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4130</Words>
  <Application>WPS Presentation</Application>
  <PresentationFormat>On-screen Show (4:3)</PresentationFormat>
  <Paragraphs>121</Paragraphs>
  <Slides>19</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SimSun</vt:lpstr>
      <vt:lpstr>Wingdings</vt:lpstr>
      <vt:lpstr>Times New Roman</vt:lpstr>
      <vt:lpstr>Calibri</vt:lpstr>
      <vt:lpstr>Microsoft YaHei</vt:lpstr>
      <vt:lpstr>Arial Unicode MS</vt:lpstr>
      <vt:lpstr>Office Theme</vt:lpstr>
      <vt:lpstr>PowerPoint 演示文稿</vt:lpstr>
      <vt:lpstr>PowerPoint 演示文稿</vt:lpstr>
      <vt:lpstr>Transport Layer</vt:lpstr>
      <vt:lpstr>Presentation Layer</vt:lpstr>
      <vt:lpstr>Data Representation</vt:lpstr>
      <vt:lpstr>Data Representation</vt:lpstr>
      <vt:lpstr>Data Compression</vt:lpstr>
      <vt:lpstr>Lossless Compression</vt:lpstr>
      <vt:lpstr>Lossless Compression</vt:lpstr>
      <vt:lpstr>Run length encoding</vt:lpstr>
      <vt:lpstr>Differential pulse code modulation</vt:lpstr>
      <vt:lpstr>Dictionary based encoding</vt:lpstr>
      <vt:lpstr>Lossy Compression</vt:lpstr>
      <vt:lpstr>Lossy Compression</vt:lpstr>
      <vt:lpstr>Perceptual encoding</vt:lpstr>
      <vt:lpstr>What is SSL?</vt:lpstr>
      <vt:lpstr>PowerPoint 演示文稿</vt:lpstr>
      <vt:lpstr>How SSL, HTTPS, and Certificates Work Together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 all k-nearest neighbor queries in Hadoop</dc:title>
  <dc:creator>Administrator</dc:creator>
  <cp:lastModifiedBy>User</cp:lastModifiedBy>
  <cp:revision>972</cp:revision>
  <cp:lastPrinted>2017-11-05T03:12:00Z</cp:lastPrinted>
  <dcterms:created xsi:type="dcterms:W3CDTF">2006-08-16T00:00:00Z</dcterms:created>
  <dcterms:modified xsi:type="dcterms:W3CDTF">2026-04-09T16:15:05Z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9F1DA23BE0464A69B490C926C86FC5EF_12</vt:lpwstr>
  </property>
  <property fmtid="{D5CDD505-2E9C-101B-9397-08002B2CF9AE}" pid="3" name="KSOProductBuildVer">
    <vt:lpwstr>1033-12.1.0.25242</vt:lpwstr>
  </property>
</Properties>
</file>