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35"/>
  </p:handoutMasterIdLst>
  <p:sldIdLst>
    <p:sldId id="256" r:id="rId3"/>
    <p:sldId id="367" r:id="rId5"/>
    <p:sldId id="354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258" r:id="rId15"/>
    <p:sldId id="259" r:id="rId16"/>
    <p:sldId id="260" r:id="rId17"/>
    <p:sldId id="261" r:id="rId18"/>
    <p:sldId id="262" r:id="rId19"/>
    <p:sldId id="355" r:id="rId20"/>
    <p:sldId id="356" r:id="rId21"/>
    <p:sldId id="357" r:id="rId22"/>
    <p:sldId id="263" r:id="rId23"/>
    <p:sldId id="264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335" r:id="rId33"/>
    <p:sldId id="358" r:id="rId34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61265" autoAdjust="0"/>
  </p:normalViewPr>
  <p:slideViewPr>
    <p:cSldViewPr showGuides="1">
      <p:cViewPr varScale="1">
        <p:scale>
          <a:sx n="68" d="100"/>
          <a:sy n="68" d="100"/>
        </p:scale>
        <p:origin x="53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77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r">
              <a:defRPr sz="1100"/>
            </a:lvl1pPr>
          </a:lstStyle>
          <a:p>
            <a:fld id="{93F54737-0BD4-4EBC-B488-A29C9E95C863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r">
              <a:defRPr sz="1100"/>
            </a:lvl1pPr>
          </a:lstStyle>
          <a:p>
            <a:fld id="{4825AA9F-B079-466D-A19E-A0BED09FA17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r">
              <a:defRPr sz="1200"/>
            </a:lvl1pPr>
          </a:lstStyle>
          <a:p>
            <a:fld id="{663B1570-84D3-433A-9451-28708A2BC168}" type="datetime1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2313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701" tIns="43851" rIns="87701" bIns="4385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0"/>
            <a:ext cx="5852160" cy="4320540"/>
          </a:xfrm>
          <a:prstGeom prst="rect">
            <a:avLst/>
          </a:prstGeom>
        </p:spPr>
        <p:txBody>
          <a:bodyPr vert="horz" lIns="87701" tIns="43851" rIns="87701" bIns="43851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r">
              <a:defRPr sz="1200"/>
            </a:lvl1pPr>
          </a:lstStyle>
          <a:p>
            <a:fld id="{7106D8DA-1A55-4414-9F6D-9B871CCC3BE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92F17580-D035-481D-9D58-E01279117FC7}" type="datetime1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A58FF5-9F52-734C-BD45-FD35BABF2CCB}" type="slidenum">
              <a:rPr lang="en-US" altLang="en-US"/>
            </a:fld>
            <a:endParaRPr lang="en-US" altLang="en-US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4BBB761-78EE-2E4A-BC63-8BA5CDE0735F}" type="slidenum">
              <a:rPr lang="en-US" altLang="en-US"/>
            </a:fld>
            <a:endParaRPr lang="en-US" altLang="en-US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3DAC4E1-D1CF-7440-846B-C5CDD79874DF}" type="slidenum">
              <a:rPr lang="en-US" altLang="en-US"/>
            </a:fld>
            <a:endParaRPr lang="en-US" altLang="en-US"/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390E13-AABD-EA48-870C-FEC3EC256B31}" type="slidenum">
              <a:rPr lang="en-US" altLang="en-US"/>
            </a:fld>
            <a:endParaRPr lang="en-US" altLang="en-US"/>
          </a:p>
        </p:txBody>
      </p:sp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452C74C-5C94-1A40-BC95-8DEA4648FB67}" type="slidenum">
              <a:rPr lang="en-US" altLang="en-US"/>
            </a:fld>
            <a:endParaRPr lang="en-US" altLang="en-US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07088D4-5114-C14F-8224-9CDA3C1F8618}" type="slidenum">
              <a:rPr lang="en-US" altLang="en-US"/>
            </a:fld>
            <a:endParaRPr lang="en-US" altLang="en-US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9AC56F-E6E1-9A4D-AA06-F11E50587F55}" type="slidenum">
              <a:rPr lang="en-US" altLang="en-US"/>
            </a:fld>
            <a:endParaRPr lang="en-US" altLang="en-US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C85BB5-F801-4449-838A-0813DF2C8D03}" type="slidenum">
              <a:rPr lang="en-US" altLang="en-US"/>
            </a:fld>
            <a:endParaRPr lang="en-US" altLang="en-US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27D7F3-830A-DB46-9DF2-7157D3825375}" type="slidenum">
              <a:rPr lang="en-US" altLang="en-US"/>
            </a:fld>
            <a:endParaRPr lang="en-US" altLang="en-US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B64D97-AD86-D94E-9284-56C88F9D105A}" type="slidenum">
              <a:rPr lang="en-US" altLang="en-US"/>
            </a:fld>
            <a:endParaRPr lang="en-US" altLang="en-US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429505D-DEFF-4D49-A7ED-C0309D9E36E2}" type="slidenum">
              <a:rPr lang="en-US" altLang="en-US"/>
            </a:fld>
            <a:endParaRPr lang="en-US" altLang="en-US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C5E7DAB-B90F-D446-B4C0-00A146412311}" type="slidenum">
              <a:rPr lang="en-US" altLang="en-US"/>
            </a:fld>
            <a:endParaRPr lang="en-US" altLang="en-US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3C1925-A967-EB43-9AAB-364A2717FDF3}" type="slidenum">
              <a:rPr lang="en-US" altLang="en-US"/>
            </a:fld>
            <a:endParaRPr lang="en-US" altLang="en-US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4E41BD-C418-4E42-8BBE-00185B3B9CB2}" type="slidenum">
              <a:rPr lang="en-US" altLang="en-US"/>
            </a:fld>
            <a:endParaRPr lang="en-US" altLang="en-US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10E14E-FF82-464D-AE0C-4BC2AD799ECC}" type="slidenum">
              <a:rPr lang="en-US" altLang="en-US"/>
            </a:fld>
            <a:endParaRPr lang="en-US" altLang="en-US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4AA3-63C9-40F0-8F4B-0439E3762D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1D20-6945-4179-B2A8-1E69ACA7F6A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09DCCFB-EC94-4AC4-9E83-9BE4A05533A6}" type="slidenum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D0A2-8D9E-4EEA-B2CD-569927E5B46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0C32FCE-F0F5-4709-B719-D31750EA8660}" type="slidenum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C3FD8-B5BB-40EC-B05C-A53E358ACB1D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778B122-C44D-426B-A600-FD7ABE2EE3A4}" type="slidenum">
              <a:rPr lang="en-US" smtClean="0"/>
            </a:fld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069A4-3C84-4C27-BDE2-90B37F5A015A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0580DB8C-5D3B-462B-B2F2-53329B42D2A1}" type="slidenum">
              <a:rPr lang="en-US" smtClean="0"/>
            </a:fld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9F39FE3-9D01-43E6-A90E-8C1B7AE57948}" type="datetime1">
              <a:rPr lang="en-US" smtClean="0"/>
            </a:fld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59E6-A490-4A82-AC44-C599178BCE0F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06C26BB-BE63-47F5-ABBB-08B100B17DEC}" type="slidenum">
              <a:rPr lang="en-US" smtClean="0"/>
            </a:fld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29803-21C9-4271-848E-9BC9826E3E6F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66311B1-F068-494B-933B-C4093E9E303A}" type="slidenum">
              <a:rPr lang="en-US" smtClean="0"/>
            </a:fld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C9562-EF5C-4044-A834-110AA5156B74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995D407-2331-4B67-889A-520A23E81296}" type="slidenum">
              <a:rPr lang="en-US" smtClean="0"/>
            </a:fld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E071-C32D-4619-B275-8057EDA021C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B7952C-CE78-428C-BFD7-DB12C1C49110}" type="slidenum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C2C5-FE34-4330-B7CA-5D904145528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EE71A78-AA5A-4E07-9505-F02CFA55937C}" type="slidenum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E9110-2D4A-417B-B240-14C11E6B076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14104-6B66-49A7-92B7-E2F7F53F36E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tif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549" y="4859834"/>
            <a:ext cx="7239000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sz="2800" cap="small" dirty="0"/>
              <a:t>Dr. Asif Zaman</a:t>
            </a:r>
            <a:endParaRPr lang="en-US" sz="2800" cap="small" dirty="0"/>
          </a:p>
          <a:p>
            <a:pPr lvl="0" algn="ctr"/>
            <a:r>
              <a:rPr lang="en-US" cap="small" dirty="0" smtClean="0"/>
              <a:t>Professor</a:t>
            </a:r>
            <a:r>
              <a:rPr lang="en-US" cap="small" dirty="0"/>
              <a:t>, CSE, RU</a:t>
            </a:r>
            <a:endParaRPr lang="en-US" sz="1600" cap="small" dirty="0"/>
          </a:p>
        </p:txBody>
      </p:sp>
      <p:sp>
        <p:nvSpPr>
          <p:cNvPr id="6" name="TextBox 5"/>
          <p:cNvSpPr txBox="1"/>
          <p:nvPr/>
        </p:nvSpPr>
        <p:spPr>
          <a:xfrm>
            <a:off x="228598" y="363512"/>
            <a:ext cx="8724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ct val="50000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CSE3251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50000"/>
            </a:pPr>
            <a:r>
              <a:rPr lang="en-US" sz="48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</a:t>
            </a:r>
            <a:endParaRPr lang="en-US" sz="4800" b="1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8150" y="2477464"/>
            <a:ext cx="1545795" cy="14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96628" y="65049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455" y="1295400"/>
            <a:ext cx="8787545" cy="430176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41529" y="3733800"/>
            <a:ext cx="8668139" cy="533400"/>
          </a:xfrm>
          <a:prstGeom prst="roundRect">
            <a:avLst/>
          </a:prstGeom>
          <a:solidFill>
            <a:schemeClr val="accent2">
              <a:alpha val="10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 smtClean="0"/>
              <a:t>The Story</a:t>
            </a:r>
            <a:endParaRPr lang="en-US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3345" y="2012949"/>
            <a:ext cx="5540402" cy="45259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600200"/>
            <a:ext cx="5638800" cy="19359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536188"/>
            <a:ext cx="7239000" cy="177983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small" dirty="0"/>
              <a:t>Key functions of the network </a:t>
            </a:r>
            <a:r>
              <a:rPr lang="en-US" sz="4000" b="1" cap="small" dirty="0" smtClean="0"/>
              <a:t>layer</a:t>
            </a:r>
            <a:endParaRPr lang="en-US" sz="4000" b="1" cap="small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9600" y="2057400"/>
            <a:ext cx="8307444" cy="3291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8200" y="5983069"/>
            <a:ext cx="5410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Ref: https</a:t>
            </a:r>
            <a:r>
              <a:rPr lang="en-US" dirty="0"/>
              <a:t>://www.geeksforgeeks.org/network-layer-services-packetizing-routing-and-forwarding/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19200" y="152400"/>
            <a:ext cx="6781800" cy="31741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505200"/>
            <a:ext cx="6781800" cy="32879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287959"/>
            <a:ext cx="7223760" cy="30175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b="10488"/>
          <a:stretch>
            <a:fillRect/>
          </a:stretch>
        </p:blipFill>
        <p:spPr>
          <a:xfrm>
            <a:off x="1075178" y="3453790"/>
            <a:ext cx="7223760" cy="32518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819" y="0"/>
            <a:ext cx="7223760" cy="34844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98" y="3520498"/>
            <a:ext cx="7223760" cy="34831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b="7618"/>
          <a:stretch>
            <a:fillRect/>
          </a:stretch>
        </p:blipFill>
        <p:spPr>
          <a:xfrm>
            <a:off x="1219200" y="164433"/>
            <a:ext cx="6858000" cy="31883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6553"/>
          <a:stretch>
            <a:fillRect/>
          </a:stretch>
        </p:blipFill>
        <p:spPr>
          <a:xfrm>
            <a:off x="1219200" y="3521507"/>
            <a:ext cx="6858000" cy="32602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cap="small" dirty="0"/>
              <a:t>What is an IP Address? 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… is </a:t>
            </a:r>
            <a:r>
              <a:rPr lang="en-US" dirty="0"/>
              <a:t>a </a:t>
            </a:r>
            <a:r>
              <a:rPr lang="en-US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unique string of numbers</a:t>
            </a:r>
            <a:r>
              <a:rPr lang="en-US" dirty="0"/>
              <a:t> assigned to each device connected to a computer </a:t>
            </a:r>
            <a:r>
              <a:rPr lang="en-US" dirty="0" smtClean="0"/>
              <a:t>network</a:t>
            </a:r>
            <a:endParaRPr lang="en-US" dirty="0" smtClean="0"/>
          </a:p>
          <a:p>
            <a:pPr algn="just"/>
            <a:r>
              <a:rPr lang="en-US" dirty="0" smtClean="0"/>
              <a:t> … </a:t>
            </a:r>
            <a:r>
              <a:rPr lang="en-US" dirty="0"/>
              <a:t>uses the Internet Protocol for communication.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serves</a:t>
            </a:r>
            <a:r>
              <a:rPr lang="en-US" dirty="0"/>
              <a:t> as an </a:t>
            </a:r>
            <a:r>
              <a:rPr lang="en-US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identifier</a:t>
            </a:r>
            <a:r>
              <a:rPr lang="en-US" dirty="0"/>
              <a:t> that allows devices to send and receive data over the network, </a:t>
            </a:r>
            <a:r>
              <a:rPr lang="en-US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ensuring</a:t>
            </a:r>
            <a:r>
              <a:rPr lang="en-US" dirty="0" smtClean="0"/>
              <a:t> </a:t>
            </a:r>
            <a:r>
              <a:rPr lang="en-US" dirty="0"/>
              <a:t>that this data reaches the </a:t>
            </a:r>
            <a:r>
              <a:rPr lang="en-US" b="1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correct</a:t>
            </a:r>
            <a:r>
              <a:rPr lang="en-US" dirty="0" smtClean="0"/>
              <a:t>.</a:t>
            </a: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cap="small" dirty="0"/>
              <a:t>Types of IP </a:t>
            </a:r>
            <a:r>
              <a:rPr lang="en-US" b="1" cap="small" dirty="0" smtClean="0"/>
              <a:t>Address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Based </a:t>
            </a:r>
            <a:r>
              <a:rPr lang="en-US" dirty="0"/>
              <a:t>on Addressing Scheme </a:t>
            </a:r>
            <a:endParaRPr lang="en-US" dirty="0" smtClean="0"/>
          </a:p>
          <a:p>
            <a:pPr marL="857250" lvl="1" indent="-457200"/>
            <a:r>
              <a:rPr lang="en-US" sz="3200" dirty="0" smtClean="0"/>
              <a:t>(</a:t>
            </a:r>
            <a:r>
              <a:rPr lang="en-US" sz="3200" dirty="0"/>
              <a:t>IPv4 vs. IPv6</a:t>
            </a:r>
            <a:r>
              <a:rPr lang="en-US" sz="3200" dirty="0" smtClean="0"/>
              <a:t>)</a:t>
            </a:r>
            <a:endParaRPr lang="en-US" sz="3200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en-US" dirty="0" smtClean="0"/>
              <a:t>Based </a:t>
            </a:r>
            <a:r>
              <a:rPr lang="en-US" dirty="0"/>
              <a:t>on Usage </a:t>
            </a:r>
            <a:endParaRPr lang="en-US" dirty="0" smtClean="0"/>
          </a:p>
          <a:p>
            <a:pPr marL="857250" lvl="1" indent="-457200" fontAlgn="base"/>
            <a:r>
              <a:rPr lang="en-US" sz="3200" dirty="0" smtClean="0"/>
              <a:t>(</a:t>
            </a:r>
            <a:r>
              <a:rPr lang="en-US" sz="3200" dirty="0"/>
              <a:t>Public vs. Private)</a:t>
            </a:r>
            <a:endParaRPr lang="en-US" sz="3200" dirty="0"/>
          </a:p>
          <a:p>
            <a:pPr marL="514350" indent="-514350" fontAlgn="base">
              <a:buFont typeface="+mj-lt"/>
              <a:buAutoNum type="arabicPeriod"/>
            </a:pPr>
            <a:r>
              <a:rPr lang="en-US" dirty="0" smtClean="0"/>
              <a:t>Based </a:t>
            </a:r>
            <a:r>
              <a:rPr lang="en-US" dirty="0"/>
              <a:t>on Assignment Method </a:t>
            </a:r>
            <a:endParaRPr lang="en-US" dirty="0" smtClean="0"/>
          </a:p>
          <a:p>
            <a:pPr marL="857250" lvl="1" indent="-457200" fontAlgn="base"/>
            <a:r>
              <a:rPr lang="en-US" sz="3200" dirty="0" smtClean="0"/>
              <a:t>(</a:t>
            </a:r>
            <a:r>
              <a:rPr lang="en-US" sz="3200" dirty="0"/>
              <a:t>Static vs. Dynamic</a:t>
            </a:r>
            <a:r>
              <a:rPr lang="en-US" sz="3200" dirty="0" smtClean="0"/>
              <a:t>)</a:t>
            </a:r>
            <a:br>
              <a:rPr lang="en-US" sz="3200" dirty="0"/>
            </a:br>
            <a:endParaRPr lang="en-US" sz="3200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IPv4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3400" y="1524000"/>
            <a:ext cx="8229600" cy="3640287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127125" y="762000"/>
            <a:ext cx="7239000" cy="1797050"/>
          </a:xfrm>
          <a:prstGeom prst="rect">
            <a:avLst/>
          </a:prstGeom>
          <a:noFill/>
          <a:ln w="6350">
            <a:solidFill>
              <a:schemeClr val="accent1"/>
            </a:solidFill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ts val="1100"/>
              </a:spcBef>
              <a:spcAft>
                <a:spcPts val="1100"/>
              </a:spcAft>
              <a:defRPr/>
            </a:pPr>
            <a:r>
              <a:rPr lang="en-US" sz="36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An IP address is a </a:t>
            </a:r>
            <a:br>
              <a:rPr lang="en-US" sz="36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charset="0"/>
                <a:cs typeface="Calibri" panose="020F0502020204030204" charset="0"/>
              </a:rPr>
            </a:br>
            <a:r>
              <a:rPr lang="en-US" sz="36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32-bit </a:t>
            </a:r>
            <a:br>
              <a:rPr lang="en-US" sz="36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charset="0"/>
                <a:cs typeface="Calibri" panose="020F0502020204030204" charset="0"/>
              </a:rPr>
            </a:br>
            <a:r>
              <a:rPr lang="en-US" sz="36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address.</a:t>
            </a:r>
            <a:endParaRPr lang="en-US" sz="3600" dirty="0">
              <a:effectLst>
                <a:outerShdw blurRad="38100" dist="38100" dir="2700000" algn="tl">
                  <a:srgbClr val="000000"/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1066800" y="3505200"/>
            <a:ext cx="7359650" cy="1797050"/>
          </a:xfrm>
          <a:prstGeom prst="rect">
            <a:avLst/>
          </a:prstGeom>
          <a:noFill/>
          <a:ln w="6350">
            <a:solidFill>
              <a:srgbClr val="FF33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ts val="1100"/>
              </a:spcBef>
              <a:spcAft>
                <a:spcPts val="1100"/>
              </a:spcAft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" charset="0"/>
              </a:rPr>
              <a:t>The IP addresses </a:t>
            </a:r>
            <a:b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" charset="0"/>
              </a:rPr>
            </a:b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" charset="0"/>
              </a:rPr>
              <a:t>are </a:t>
            </a:r>
            <a:b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" charset="0"/>
              </a:rPr>
            </a:b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" charset="0"/>
              </a:rPr>
              <a:t>unique.</a:t>
            </a:r>
            <a:endParaRPr 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" charset="0"/>
            </a:endParaRPr>
          </a:p>
        </p:txBody>
      </p:sp>
      <p:pic>
        <p:nvPicPr>
          <p:cNvPr id="4100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073400"/>
            <a:ext cx="14398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3"/>
          <p:cNvSpPr txBox="1">
            <a:spLocks noChangeArrowheads="1"/>
          </p:cNvSpPr>
          <p:nvPr/>
        </p:nvSpPr>
        <p:spPr bwMode="auto">
          <a:xfrm>
            <a:off x="2306871" y="498991"/>
            <a:ext cx="43752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4800" b="1" cap="small" dirty="0">
                <a:latin typeface="Times New Roman" panose="02020603050405020304" pitchFamily="18" charset="0"/>
              </a:rPr>
              <a:t>Address Space</a:t>
            </a:r>
            <a:endParaRPr lang="en-US" altLang="en-US" sz="4800" b="1" cap="small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168497" y="3505200"/>
            <a:ext cx="7194550" cy="3200400"/>
            <a:chOff x="914400" y="1981200"/>
            <a:chExt cx="7194550" cy="3200400"/>
          </a:xfrm>
        </p:grpSpPr>
        <p:sp>
          <p:nvSpPr>
            <p:cNvPr id="15362" name="Rectangle 2"/>
            <p:cNvSpPr>
              <a:spLocks noChangeArrowheads="1"/>
            </p:cNvSpPr>
            <p:nvPr/>
          </p:nvSpPr>
          <p:spPr bwMode="auto">
            <a:xfrm>
              <a:off x="914400" y="2057400"/>
              <a:ext cx="6858000" cy="3124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>
              <a:outerShdw dist="107763" dir="135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147" name="Text Box 4"/>
            <p:cNvSpPr txBox="1">
              <a:spLocks noChangeArrowheads="1"/>
            </p:cNvSpPr>
            <p:nvPr/>
          </p:nvSpPr>
          <p:spPr bwMode="auto">
            <a:xfrm>
              <a:off x="4540250" y="2568575"/>
              <a:ext cx="1312863" cy="579438"/>
            </a:xfrm>
            <a:prstGeom prst="rect">
              <a:avLst/>
            </a:prstGeom>
            <a:solidFill>
              <a:srgbClr val="66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77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77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32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addr15</a:t>
              </a:r>
              <a:endPara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48" name="Text Box 5"/>
            <p:cNvSpPr txBox="1">
              <a:spLocks noChangeArrowheads="1"/>
            </p:cNvSpPr>
            <p:nvPr/>
          </p:nvSpPr>
          <p:spPr bwMode="auto">
            <a:xfrm>
              <a:off x="1143000" y="2187575"/>
              <a:ext cx="1109663" cy="579438"/>
            </a:xfrm>
            <a:prstGeom prst="rect">
              <a:avLst/>
            </a:prstGeom>
            <a:solidFill>
              <a:srgbClr val="66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77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77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32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addr1</a:t>
              </a:r>
              <a:endPara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49" name="Text Box 6"/>
            <p:cNvSpPr txBox="1">
              <a:spLocks noChangeArrowheads="1"/>
            </p:cNvSpPr>
            <p:nvPr/>
          </p:nvSpPr>
          <p:spPr bwMode="auto">
            <a:xfrm>
              <a:off x="1828800" y="2797175"/>
              <a:ext cx="1109663" cy="579438"/>
            </a:xfrm>
            <a:prstGeom prst="rect">
              <a:avLst/>
            </a:prstGeom>
            <a:solidFill>
              <a:srgbClr val="66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77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77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32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addr2</a:t>
              </a:r>
              <a:endPara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50" name="Text Box 7"/>
            <p:cNvSpPr txBox="1">
              <a:spLocks noChangeArrowheads="1"/>
            </p:cNvSpPr>
            <p:nvPr/>
          </p:nvSpPr>
          <p:spPr bwMode="auto">
            <a:xfrm>
              <a:off x="4343400" y="3840163"/>
              <a:ext cx="1312863" cy="579437"/>
            </a:xfrm>
            <a:prstGeom prst="rect">
              <a:avLst/>
            </a:prstGeom>
            <a:solidFill>
              <a:srgbClr val="66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77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77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32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addr41</a:t>
              </a:r>
              <a:endPara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51" name="Text Box 8"/>
            <p:cNvSpPr txBox="1">
              <a:spLocks noChangeArrowheads="1"/>
            </p:cNvSpPr>
            <p:nvPr/>
          </p:nvSpPr>
          <p:spPr bwMode="auto">
            <a:xfrm>
              <a:off x="2286000" y="4144963"/>
              <a:ext cx="1312863" cy="579437"/>
            </a:xfrm>
            <a:prstGeom prst="rect">
              <a:avLst/>
            </a:prstGeom>
            <a:solidFill>
              <a:srgbClr val="66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77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77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32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addr31</a:t>
              </a:r>
              <a:endPara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52" name="Text Box 9"/>
            <p:cNvSpPr txBox="1">
              <a:spLocks noChangeArrowheads="1"/>
            </p:cNvSpPr>
            <p:nvPr/>
          </p:nvSpPr>
          <p:spPr bwMode="auto">
            <a:xfrm>
              <a:off x="6019800" y="3787775"/>
              <a:ext cx="1516063" cy="579438"/>
            </a:xfrm>
            <a:prstGeom prst="rect">
              <a:avLst/>
            </a:prstGeom>
            <a:solidFill>
              <a:srgbClr val="66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77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77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3200">
                  <a:solidFill>
                    <a:schemeClr val="bg1"/>
                  </a:solidFill>
                  <a:latin typeface="Times New Roman" panose="02020603050405020304" pitchFamily="18" charset="0"/>
                </a:rPr>
                <a:t>addr226</a:t>
              </a:r>
              <a:endParaRPr lang="en-US" altLang="en-US" sz="32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53" name="Text Box 10"/>
            <p:cNvSpPr txBox="1">
              <a:spLocks noChangeArrowheads="1"/>
            </p:cNvSpPr>
            <p:nvPr/>
          </p:nvSpPr>
          <p:spPr bwMode="auto">
            <a:xfrm>
              <a:off x="6096000" y="2949575"/>
              <a:ext cx="201295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77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77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32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…………..</a:t>
              </a:r>
              <a:endPara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54" name="Text Box 11"/>
            <p:cNvSpPr txBox="1">
              <a:spLocks noChangeArrowheads="1"/>
            </p:cNvSpPr>
            <p:nvPr/>
          </p:nvSpPr>
          <p:spPr bwMode="auto">
            <a:xfrm>
              <a:off x="1524000" y="3330575"/>
              <a:ext cx="201295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77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77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3200">
                  <a:solidFill>
                    <a:schemeClr val="bg1"/>
                  </a:solidFill>
                  <a:latin typeface="Times New Roman" panose="02020603050405020304" pitchFamily="18" charset="0"/>
                </a:rPr>
                <a:t>…………..</a:t>
              </a:r>
              <a:endParaRPr lang="en-US" altLang="en-US" sz="32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55" name="Text Box 12"/>
            <p:cNvSpPr txBox="1">
              <a:spLocks noChangeArrowheads="1"/>
            </p:cNvSpPr>
            <p:nvPr/>
          </p:nvSpPr>
          <p:spPr bwMode="auto">
            <a:xfrm>
              <a:off x="3048000" y="2111375"/>
              <a:ext cx="201295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77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77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32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…………..</a:t>
              </a:r>
              <a:endPara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56" name="Text Box 13"/>
            <p:cNvSpPr txBox="1">
              <a:spLocks noChangeArrowheads="1"/>
            </p:cNvSpPr>
            <p:nvPr/>
          </p:nvSpPr>
          <p:spPr bwMode="auto">
            <a:xfrm>
              <a:off x="5486400" y="1981200"/>
              <a:ext cx="1555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77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77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…………..</a:t>
              </a:r>
              <a:endPara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57" name="Text Box 14"/>
            <p:cNvSpPr txBox="1">
              <a:spLocks noChangeArrowheads="1"/>
            </p:cNvSpPr>
            <p:nvPr/>
          </p:nvSpPr>
          <p:spPr bwMode="auto">
            <a:xfrm>
              <a:off x="2971800" y="2873375"/>
              <a:ext cx="201295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77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77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3200">
                  <a:solidFill>
                    <a:schemeClr val="bg1"/>
                  </a:solidFill>
                  <a:latin typeface="Times New Roman" panose="02020603050405020304" pitchFamily="18" charset="0"/>
                </a:rPr>
                <a:t>…………..</a:t>
              </a:r>
              <a:endParaRPr lang="en-US" altLang="en-US" sz="32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58" name="Text Box 15"/>
            <p:cNvSpPr txBox="1">
              <a:spLocks noChangeArrowheads="1"/>
            </p:cNvSpPr>
            <p:nvPr/>
          </p:nvSpPr>
          <p:spPr bwMode="auto">
            <a:xfrm>
              <a:off x="5105400" y="4419600"/>
              <a:ext cx="201295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77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77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3200">
                  <a:solidFill>
                    <a:schemeClr val="bg1"/>
                  </a:solidFill>
                  <a:latin typeface="Times New Roman" panose="02020603050405020304" pitchFamily="18" charset="0"/>
                </a:rPr>
                <a:t>…………..</a:t>
              </a:r>
              <a:endParaRPr lang="en-US" altLang="en-US" sz="32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59" name="Text Box 16"/>
            <p:cNvSpPr txBox="1">
              <a:spLocks noChangeArrowheads="1"/>
            </p:cNvSpPr>
            <p:nvPr/>
          </p:nvSpPr>
          <p:spPr bwMode="auto">
            <a:xfrm>
              <a:off x="990600" y="4572000"/>
              <a:ext cx="201295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77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77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7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3200">
                  <a:solidFill>
                    <a:schemeClr val="bg1"/>
                  </a:solidFill>
                  <a:latin typeface="Times New Roman" panose="02020603050405020304" pitchFamily="18" charset="0"/>
                </a:rPr>
                <a:t>…………..</a:t>
              </a:r>
              <a:endParaRPr lang="en-US" altLang="en-US" sz="32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152400" y="1602383"/>
            <a:ext cx="8686799" cy="1200329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/>
              <a:t>An </a:t>
            </a:r>
            <a:r>
              <a:rPr lang="en-US" sz="2400" dirty="0"/>
              <a:t>address space defines a </a:t>
            </a:r>
            <a:r>
              <a:rPr lang="en-US" sz="2400" u="sng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range of discrete addresses</a:t>
            </a:r>
            <a:r>
              <a:rPr lang="en-US" sz="2400" dirty="0"/>
              <a:t>, each of which may correspond to a network </a:t>
            </a:r>
            <a:r>
              <a:rPr lang="en-US" sz="2400" u="sng" dirty="0"/>
              <a:t>host</a:t>
            </a:r>
            <a:r>
              <a:rPr lang="en-US" sz="2400" dirty="0"/>
              <a:t>, </a:t>
            </a:r>
            <a:r>
              <a:rPr lang="en-US" sz="2400" u="sng" dirty="0"/>
              <a:t>peripheral device</a:t>
            </a:r>
            <a:r>
              <a:rPr lang="en-US" sz="2400" dirty="0"/>
              <a:t>, </a:t>
            </a:r>
            <a:r>
              <a:rPr lang="en-US" sz="2400" strike="sngStrike" dirty="0"/>
              <a:t>disk sector, a memory cell or</a:t>
            </a:r>
            <a:r>
              <a:rPr lang="en-US" sz="2400" dirty="0"/>
              <a:t> other logical or physical </a:t>
            </a:r>
            <a:r>
              <a:rPr lang="en-US" sz="2400" dirty="0" smtClean="0"/>
              <a:t>entity.</a:t>
            </a:r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0" y="260333"/>
            <a:ext cx="9144000" cy="76944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4400" cap="small" dirty="0">
                <a:latin typeface="+mj-lt"/>
              </a:rPr>
              <a:t>Address </a:t>
            </a:r>
            <a:r>
              <a:rPr lang="en-US" altLang="en-US" sz="4400" cap="small" dirty="0" smtClean="0">
                <a:latin typeface="+mj-lt"/>
              </a:rPr>
              <a:t>Space Regulation</a:t>
            </a:r>
            <a:endParaRPr lang="en-US" altLang="en-US" sz="4400" cap="small" dirty="0">
              <a:latin typeface="+mj-lt"/>
            </a:endParaRPr>
          </a:p>
        </p:txBody>
      </p:sp>
      <p:sp>
        <p:nvSpPr>
          <p:cNvPr id="8194" name="Text Box 3"/>
          <p:cNvSpPr txBox="1">
            <a:spLocks noChangeArrowheads="1"/>
          </p:cNvSpPr>
          <p:nvPr/>
        </p:nvSpPr>
        <p:spPr bwMode="auto">
          <a:xfrm>
            <a:off x="4540250" y="2568575"/>
            <a:ext cx="13128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addr15</a:t>
            </a:r>
            <a:endParaRPr lang="en-US" altLang="en-US" sz="32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6" name="Text Box 5"/>
          <p:cNvSpPr txBox="1">
            <a:spLocks noChangeArrowheads="1"/>
          </p:cNvSpPr>
          <p:nvPr/>
        </p:nvSpPr>
        <p:spPr bwMode="auto">
          <a:xfrm>
            <a:off x="1828800" y="2797175"/>
            <a:ext cx="11096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addr2</a:t>
            </a:r>
            <a:endParaRPr lang="en-US" altLang="en-US" sz="32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7" name="Text Box 6"/>
          <p:cNvSpPr txBox="1">
            <a:spLocks noChangeArrowheads="1"/>
          </p:cNvSpPr>
          <p:nvPr/>
        </p:nvSpPr>
        <p:spPr bwMode="auto">
          <a:xfrm>
            <a:off x="4343400" y="3840163"/>
            <a:ext cx="13128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addr41</a:t>
            </a:r>
            <a:endParaRPr lang="en-US" altLang="en-US" sz="32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8" name="Text Box 7"/>
          <p:cNvSpPr txBox="1">
            <a:spLocks noChangeArrowheads="1"/>
          </p:cNvSpPr>
          <p:nvPr/>
        </p:nvSpPr>
        <p:spPr bwMode="auto">
          <a:xfrm>
            <a:off x="2286000" y="4144963"/>
            <a:ext cx="13128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addr31</a:t>
            </a:r>
            <a:endParaRPr lang="en-US" altLang="en-US" sz="32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9" name="Text Box 8"/>
          <p:cNvSpPr txBox="1">
            <a:spLocks noChangeArrowheads="1"/>
          </p:cNvSpPr>
          <p:nvPr/>
        </p:nvSpPr>
        <p:spPr bwMode="auto">
          <a:xfrm>
            <a:off x="6019800" y="3787775"/>
            <a:ext cx="15160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addr226</a:t>
            </a:r>
            <a:endParaRPr lang="en-US" altLang="en-US" sz="32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0" name="Text Box 9"/>
          <p:cNvSpPr txBox="1">
            <a:spLocks noChangeArrowheads="1"/>
          </p:cNvSpPr>
          <p:nvPr/>
        </p:nvSpPr>
        <p:spPr bwMode="auto">
          <a:xfrm>
            <a:off x="6096000" y="2949575"/>
            <a:ext cx="2012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…………..</a:t>
            </a:r>
            <a:endParaRPr lang="en-US" altLang="en-US" sz="32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1" name="Text Box 10"/>
          <p:cNvSpPr txBox="1">
            <a:spLocks noChangeArrowheads="1"/>
          </p:cNvSpPr>
          <p:nvPr/>
        </p:nvSpPr>
        <p:spPr bwMode="auto">
          <a:xfrm>
            <a:off x="1524000" y="3330575"/>
            <a:ext cx="2012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…………..</a:t>
            </a:r>
            <a:endParaRPr lang="en-US" altLang="en-US" sz="32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3" name="Text Box 12"/>
          <p:cNvSpPr txBox="1">
            <a:spLocks noChangeArrowheads="1"/>
          </p:cNvSpPr>
          <p:nvPr/>
        </p:nvSpPr>
        <p:spPr bwMode="auto">
          <a:xfrm>
            <a:off x="5486400" y="1981200"/>
            <a:ext cx="155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…………..</a:t>
            </a:r>
            <a:endParaRPr lang="en-US" altLang="en-US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4" name="Text Box 13"/>
          <p:cNvSpPr txBox="1">
            <a:spLocks noChangeArrowheads="1"/>
          </p:cNvSpPr>
          <p:nvPr/>
        </p:nvSpPr>
        <p:spPr bwMode="auto">
          <a:xfrm>
            <a:off x="2971800" y="2873375"/>
            <a:ext cx="2012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…………..</a:t>
            </a:r>
            <a:endParaRPr lang="en-US" altLang="en-US" sz="32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5" name="Text Box 14"/>
          <p:cNvSpPr txBox="1">
            <a:spLocks noChangeArrowheads="1"/>
          </p:cNvSpPr>
          <p:nvPr/>
        </p:nvSpPr>
        <p:spPr bwMode="auto">
          <a:xfrm>
            <a:off x="5105400" y="4419600"/>
            <a:ext cx="2012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…………..</a:t>
            </a:r>
            <a:endParaRPr lang="en-US" altLang="en-US" sz="32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6" name="Text Box 15"/>
          <p:cNvSpPr txBox="1">
            <a:spLocks noChangeArrowheads="1"/>
          </p:cNvSpPr>
          <p:nvPr/>
        </p:nvSpPr>
        <p:spPr bwMode="auto">
          <a:xfrm>
            <a:off x="990600" y="4572000"/>
            <a:ext cx="2012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…………..</a:t>
            </a:r>
            <a:endParaRPr lang="en-US" altLang="en-US" sz="32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7" name="Rectangle 16"/>
          <p:cNvSpPr>
            <a:spLocks noChangeArrowheads="1"/>
          </p:cNvSpPr>
          <p:nvPr/>
        </p:nvSpPr>
        <p:spPr bwMode="auto">
          <a:xfrm>
            <a:off x="683759" y="2713255"/>
            <a:ext cx="7712982" cy="22225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  <a:miter lim="800000"/>
          </a:ln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3200" b="1" dirty="0">
                <a:latin typeface="Times" charset="0"/>
              </a:rPr>
              <a:t>The address space in a protocol</a:t>
            </a:r>
            <a:endParaRPr lang="en-GB" altLang="en-US" sz="3200" b="1" dirty="0">
              <a:latin typeface="Times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3200" b="1" dirty="0">
                <a:latin typeface="Times" charset="0"/>
              </a:rPr>
              <a:t>That uses N-bits to define an </a:t>
            </a:r>
            <a:endParaRPr lang="en-GB" altLang="en-US" sz="3200" b="1" dirty="0">
              <a:latin typeface="Times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3200" b="1" dirty="0">
                <a:latin typeface="Times" charset="0"/>
              </a:rPr>
              <a:t>Address is:</a:t>
            </a:r>
            <a:r>
              <a:rPr lang="en-GB" altLang="en-US" sz="3600" b="1" dirty="0">
                <a:latin typeface="Times" charset="0"/>
              </a:rPr>
              <a:t> </a:t>
            </a:r>
            <a:endParaRPr lang="en-GB" altLang="en-US" sz="3600" b="1" dirty="0">
              <a:latin typeface="Times" charset="0"/>
            </a:endParaRPr>
          </a:p>
          <a:p>
            <a:pPr lvl="4"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3600" b="1" dirty="0">
                <a:latin typeface="Times" charset="0"/>
              </a:rPr>
              <a:t> </a:t>
            </a:r>
            <a:r>
              <a:rPr lang="en-US" altLang="en-US" sz="2400" b="1" dirty="0">
                <a:latin typeface="Arial" panose="020B0604020202020204" pitchFamily="34" charset="0"/>
              </a:rPr>
              <a:t>2</a:t>
            </a:r>
            <a:r>
              <a:rPr lang="en-US" altLang="en-US" sz="2400" b="1" i="1" baseline="30000" dirty="0">
                <a:latin typeface="Arial" panose="020B0604020202020204" pitchFamily="34" charset="0"/>
              </a:rPr>
              <a:t>N</a:t>
            </a:r>
            <a:endParaRPr lang="en-US" altLang="en-US" sz="2400" b="1" dirty="0">
              <a:latin typeface="Times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838200" y="2133600"/>
            <a:ext cx="7467600" cy="2625725"/>
          </a:xfrm>
          <a:prstGeom prst="rect">
            <a:avLst/>
          </a:prstGeom>
          <a:solidFill>
            <a:srgbClr val="99CCFF"/>
          </a:solidFill>
          <a:ln w="3175">
            <a:solidFill>
              <a:srgbClr val="FF3300"/>
            </a:solidFill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ts val="1100"/>
              </a:spcBef>
              <a:spcAft>
                <a:spcPts val="1100"/>
              </a:spcAft>
              <a:defRPr/>
            </a:pPr>
            <a:r>
              <a:rPr lang="en-US" sz="36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The address space of IPv4 is </a:t>
            </a:r>
            <a:endParaRPr lang="en-US" sz="3600" dirty="0">
              <a:effectLst>
                <a:outerShdw blurRad="38100" dist="38100" dir="2700000" algn="tl">
                  <a:srgbClr val="000000"/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 algn="ctr" eaLnBrk="1" hangingPunct="1">
              <a:spcBef>
                <a:spcPts val="1100"/>
              </a:spcBef>
              <a:spcAft>
                <a:spcPts val="1100"/>
              </a:spcAft>
              <a:defRPr/>
            </a:pPr>
            <a:r>
              <a:rPr lang="en-US" sz="36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2</a:t>
            </a:r>
            <a:r>
              <a:rPr lang="en-US" sz="360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32</a:t>
            </a:r>
            <a:r>
              <a:rPr lang="en-US" sz="36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</a:t>
            </a:r>
            <a:br>
              <a:rPr lang="en-US" sz="36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charset="0"/>
                <a:cs typeface="Calibri" panose="020F0502020204030204" charset="0"/>
              </a:rPr>
            </a:br>
            <a:r>
              <a:rPr lang="en-US" sz="36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or </a:t>
            </a:r>
            <a:br>
              <a:rPr lang="en-US" sz="36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charset="0"/>
                <a:cs typeface="Calibri" panose="020F0502020204030204" charset="0"/>
              </a:rPr>
            </a:br>
            <a:r>
              <a:rPr lang="en-US" sz="36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4,294,967,296</a:t>
            </a:r>
            <a:r>
              <a:rPr lang="en-US" sz="36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.</a:t>
            </a:r>
            <a:endParaRPr lang="en-US" sz="3600" dirty="0">
              <a:effectLst>
                <a:outerShdw blurRad="38100" dist="38100" dir="2700000" algn="tl">
                  <a:srgbClr val="000000"/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2103740" y="228600"/>
            <a:ext cx="5492145" cy="830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sz="4800" b="1" i="1" cap="small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IPv4 address space</a:t>
            </a:r>
            <a:endParaRPr lang="en-US" sz="4800" b="1" i="1" cap="small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05200" y="5029200"/>
            <a:ext cx="1806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429 Crore+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ChangeArrowheads="1"/>
          </p:cNvSpPr>
          <p:nvPr/>
        </p:nvSpPr>
        <p:spPr bwMode="auto">
          <a:xfrm>
            <a:off x="0" y="3124200"/>
            <a:ext cx="9144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1100"/>
              </a:spcBef>
              <a:spcAft>
                <a:spcPts val="1100"/>
              </a:spcAft>
              <a:buClrTx/>
              <a:buFontTx/>
              <a:buNone/>
            </a:pPr>
            <a:r>
              <a:rPr lang="en-US" altLang="en-US" sz="3200" b="1" dirty="0" smtClean="0">
                <a:solidFill>
                  <a:srgbClr val="FF3300"/>
                </a:solidFill>
                <a:latin typeface="Times" charset="0"/>
              </a:rPr>
              <a:t>        11000000  </a:t>
            </a:r>
            <a:r>
              <a:rPr lang="en-US" altLang="en-US" sz="3200" b="1" dirty="0" smtClean="0">
                <a:latin typeface="Times" charset="0"/>
              </a:rPr>
              <a:t>10101000</a:t>
            </a:r>
            <a:r>
              <a:rPr lang="en-US" altLang="en-US" sz="3200" b="1" dirty="0" smtClean="0">
                <a:solidFill>
                  <a:srgbClr val="FF3300"/>
                </a:solidFill>
                <a:latin typeface="Times" charset="0"/>
              </a:rPr>
              <a:t>  00000000  </a:t>
            </a:r>
            <a:r>
              <a:rPr lang="en-US" altLang="en-US" sz="3200" b="1" dirty="0" smtClean="0">
                <a:latin typeface="Times" charset="0"/>
              </a:rPr>
              <a:t>00000001</a:t>
            </a:r>
            <a:endParaRPr lang="en-US" altLang="en-US" sz="3200" b="1" dirty="0">
              <a:latin typeface="Times" charset="0"/>
            </a:endParaRP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2167239" y="381000"/>
            <a:ext cx="4809522" cy="830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4800" b="1" i="1" cap="small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Binary Notation</a:t>
            </a:r>
            <a:endParaRPr lang="en-US" sz="4800" b="1" i="1" cap="small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2292" name="Rectangle 7"/>
          <p:cNvSpPr>
            <a:spLocks noChangeArrowheads="1"/>
          </p:cNvSpPr>
          <p:nvPr/>
        </p:nvSpPr>
        <p:spPr bwMode="auto">
          <a:xfrm>
            <a:off x="0" y="4000500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3200" dirty="0" smtClean="0">
                <a:latin typeface="Arial" panose="020B0604020202020204" pitchFamily="34" charset="0"/>
              </a:rPr>
              <a:t>          192</a:t>
            </a:r>
            <a:r>
              <a:rPr lang="en-US" altLang="en-US" sz="3200" dirty="0">
                <a:latin typeface="Arial" panose="020B0604020202020204" pitchFamily="34" charset="0"/>
              </a:rPr>
              <a:t>	  </a:t>
            </a:r>
            <a:r>
              <a:rPr lang="en-US" altLang="en-US" sz="3200" dirty="0" smtClean="0">
                <a:latin typeface="Arial" panose="020B0604020202020204" pitchFamily="34" charset="0"/>
              </a:rPr>
              <a:t>    .</a:t>
            </a:r>
            <a:r>
              <a:rPr lang="en-US" altLang="en-US" sz="3200" dirty="0">
                <a:latin typeface="Arial" panose="020B0604020202020204" pitchFamily="34" charset="0"/>
              </a:rPr>
              <a:t>	</a:t>
            </a:r>
            <a:r>
              <a:rPr lang="en-US" altLang="en-US" sz="3200" dirty="0" smtClean="0">
                <a:latin typeface="Arial" panose="020B0604020202020204" pitchFamily="34" charset="0"/>
              </a:rPr>
              <a:t>  168</a:t>
            </a:r>
            <a:r>
              <a:rPr lang="en-US" altLang="en-US" sz="3200" dirty="0">
                <a:latin typeface="Arial" panose="020B0604020202020204" pitchFamily="34" charset="0"/>
              </a:rPr>
              <a:t>	  </a:t>
            </a:r>
            <a:r>
              <a:rPr lang="en-US" altLang="en-US" sz="3200" dirty="0" smtClean="0">
                <a:latin typeface="Arial" panose="020B0604020202020204" pitchFamily="34" charset="0"/>
              </a:rPr>
              <a:t>    .</a:t>
            </a:r>
            <a:r>
              <a:rPr lang="en-US" altLang="en-US" sz="3200" dirty="0">
                <a:latin typeface="Arial" panose="020B0604020202020204" pitchFamily="34" charset="0"/>
              </a:rPr>
              <a:t>	 0	   </a:t>
            </a:r>
            <a:r>
              <a:rPr lang="en-US" altLang="en-US" sz="3200" dirty="0" smtClean="0">
                <a:latin typeface="Arial" panose="020B0604020202020204" pitchFamily="34" charset="0"/>
              </a:rPr>
              <a:t>  .      </a:t>
            </a:r>
            <a:r>
              <a:rPr lang="en-US" altLang="en-US" sz="3200" dirty="0">
                <a:latin typeface="Arial" panose="020B0604020202020204" pitchFamily="34" charset="0"/>
              </a:rPr>
              <a:t>1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50217" y="2590800"/>
            <a:ext cx="1828800" cy="3657600"/>
          </a:xfrm>
          <a:prstGeom prst="rect">
            <a:avLst/>
          </a:prstGeom>
          <a:solidFill>
            <a:srgbClr val="FFC000">
              <a:alpha val="18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90800" y="2590800"/>
            <a:ext cx="1828800" cy="3657600"/>
          </a:xfrm>
          <a:prstGeom prst="rect">
            <a:avLst/>
          </a:prstGeom>
          <a:solidFill>
            <a:srgbClr val="FFC000">
              <a:alpha val="18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443167" y="2575089"/>
            <a:ext cx="1828800" cy="3657600"/>
          </a:xfrm>
          <a:prstGeom prst="rect">
            <a:avLst/>
          </a:prstGeom>
          <a:solidFill>
            <a:srgbClr val="FFC000">
              <a:alpha val="18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271967" y="2575089"/>
            <a:ext cx="1828800" cy="3657600"/>
          </a:xfrm>
          <a:prstGeom prst="rect">
            <a:avLst/>
          </a:prstGeom>
          <a:solidFill>
            <a:srgbClr val="FFC000">
              <a:alpha val="18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/>
      <p:bldP spid="2" grpId="0" animBg="1"/>
      <p:bldP spid="6" grpId="0" animBg="1"/>
      <p:bldP spid="7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777836"/>
            <a:ext cx="7135221" cy="307700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421" y="103909"/>
            <a:ext cx="4079179" cy="2417023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228600" y="152400"/>
            <a:ext cx="1900683" cy="758825"/>
            <a:chOff x="228600" y="152400"/>
            <a:chExt cx="1900683" cy="758825"/>
          </a:xfrm>
        </p:grpSpPr>
        <p:pic>
          <p:nvPicPr>
            <p:cNvPr id="1028" name="Picture 4" descr="OXLOOP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600" y="152400"/>
              <a:ext cx="1445381" cy="758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1295400" y="203339"/>
              <a:ext cx="83388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/>
                <a:t>+ R</a:t>
              </a:r>
              <a:endParaRPr lang="en-US" dirty="0"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743200"/>
            <a:ext cx="8278380" cy="3705742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6200"/>
            <a:ext cx="8028940" cy="67233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62400" y="4038600"/>
            <a:ext cx="3505200" cy="1447800"/>
          </a:xfrm>
          <a:prstGeom prst="rect">
            <a:avLst/>
          </a:prstGeom>
          <a:solidFill>
            <a:schemeClr val="bg2">
              <a:alpha val="17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218919"/>
            <a:ext cx="8278496" cy="295820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95400" y="4953000"/>
            <a:ext cx="685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A Request for Comments (RFC) is a publication from the Internet Society (ISOC) and its associated bodies, most prominently the Internet Engineering Task Force (IETF), the principal technical development and standards-setting bodies for the Internet.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505200" y="2438400"/>
            <a:ext cx="2743200" cy="1738722"/>
          </a:xfrm>
          <a:prstGeom prst="rect">
            <a:avLst/>
          </a:prstGeom>
          <a:solidFill>
            <a:srgbClr val="FFC000">
              <a:alpha val="18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b="1" cap="small" dirty="0" smtClean="0"/>
              <a:t>Public vs Private IP Address</a:t>
            </a:r>
            <a:endParaRPr lang="en-US" cap="smal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2514600"/>
            <a:ext cx="4572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4400" b="1" dirty="0">
                <a:latin typeface="Calibri" panose="020F0502020204030204" charset="0"/>
                <a:cs typeface="Calibri" panose="020F0502020204030204" charset="0"/>
              </a:rPr>
              <a:t>CLASSFUL </a:t>
            </a:r>
            <a:endParaRPr lang="en-US" altLang="en-US" sz="4400" b="1" dirty="0">
              <a:latin typeface="Calibri" panose="020F0502020204030204" charset="0"/>
              <a:cs typeface="Calibri" panose="020F0502020204030204" charset="0"/>
            </a:endParaRPr>
          </a:p>
          <a:p>
            <a:pPr algn="ctr">
              <a:spcBef>
                <a:spcPct val="0"/>
              </a:spcBef>
            </a:pPr>
            <a:r>
              <a:rPr lang="en-US" altLang="en-US" sz="4400" b="1" dirty="0">
                <a:latin typeface="Calibri" panose="020F0502020204030204" charset="0"/>
                <a:cs typeface="Calibri" panose="020F0502020204030204" charset="0"/>
              </a:rPr>
              <a:t>ADDRESSING</a:t>
            </a:r>
            <a:endParaRPr lang="en-US" altLang="en-US" sz="44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626" y="4114800"/>
            <a:ext cx="7810500" cy="169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1260626" y="449759"/>
            <a:ext cx="737522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4400" b="1" cap="small" dirty="0">
                <a:latin typeface="Calibri" panose="020F0502020204030204" charset="0"/>
                <a:cs typeface="Calibri" panose="020F0502020204030204" charset="0"/>
              </a:rPr>
              <a:t>Occupation of the address space</a:t>
            </a:r>
            <a:endParaRPr lang="en-US" altLang="en-US" sz="4400" b="1" cap="small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1905000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800" dirty="0">
                <a:latin typeface="Arial" panose="020B0604020202020204" pitchFamily="34" charset="0"/>
              </a:rPr>
              <a:t>In classful addressing the address space is </a:t>
            </a:r>
            <a:endParaRPr lang="en-GB" sz="2800" dirty="0">
              <a:latin typeface="Arial" panose="020B0604020202020204" pitchFamily="34" charset="0"/>
            </a:endParaRPr>
          </a:p>
          <a:p>
            <a:pPr algn="ctr">
              <a:defRPr/>
            </a:pPr>
            <a:r>
              <a:rPr lang="en-GB" sz="2800" dirty="0">
                <a:latin typeface="Arial" panose="020B0604020202020204" pitchFamily="34" charset="0"/>
              </a:rPr>
              <a:t>divided into  5 classes:</a:t>
            </a:r>
            <a:endParaRPr lang="en-GB" sz="2800" dirty="0">
              <a:latin typeface="Arial" panose="020B0604020202020204" pitchFamily="34" charset="0"/>
            </a:endParaRPr>
          </a:p>
          <a:p>
            <a:pPr algn="ctr">
              <a:defRPr/>
            </a:pPr>
            <a:endParaRPr lang="en-GB" sz="2800" dirty="0">
              <a:latin typeface="Arial" panose="020B0604020202020204" pitchFamily="34" charset="0"/>
            </a:endParaRPr>
          </a:p>
          <a:p>
            <a:pPr algn="ctr">
              <a:defRPr/>
            </a:pPr>
            <a:r>
              <a:rPr lang="en-US" sz="28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A</a:t>
            </a:r>
            <a:r>
              <a:rPr lang="en-US" sz="2800" b="1" i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, </a:t>
            </a:r>
            <a:r>
              <a:rPr lang="en-US" sz="28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B</a:t>
            </a:r>
            <a:r>
              <a:rPr lang="en-US" sz="2800" b="1" i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, </a:t>
            </a:r>
            <a:r>
              <a:rPr lang="en-US" sz="28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</a:t>
            </a:r>
            <a:r>
              <a:rPr lang="en-US" sz="2800" b="1" i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, </a:t>
            </a:r>
            <a:r>
              <a:rPr lang="en-US" sz="28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D</a:t>
            </a:r>
            <a:r>
              <a:rPr lang="en-US" sz="2800" b="1" i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, &amp; </a:t>
            </a:r>
            <a:r>
              <a:rPr lang="en-US" sz="28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E</a:t>
            </a:r>
            <a:endParaRPr lang="en-US" sz="2800" b="1" i="1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238305"/>
            <a:ext cx="7080250" cy="274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Text Box 4"/>
          <p:cNvSpPr txBox="1">
            <a:spLocks noChangeArrowheads="1"/>
          </p:cNvSpPr>
          <p:nvPr/>
        </p:nvSpPr>
        <p:spPr bwMode="auto">
          <a:xfrm>
            <a:off x="120537" y="152400"/>
            <a:ext cx="907120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4000" b="1" cap="small" dirty="0">
                <a:latin typeface="Times New Roman" panose="02020603050405020304" pitchFamily="18" charset="0"/>
              </a:rPr>
              <a:t>Finding the class in binary notation</a:t>
            </a:r>
            <a:endParaRPr lang="en-US" altLang="en-US" sz="4000" b="1" cap="small" dirty="0">
              <a:latin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636838"/>
            <a:ext cx="7972425" cy="272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Text Box 4"/>
          <p:cNvSpPr txBox="1">
            <a:spLocks noChangeArrowheads="1"/>
          </p:cNvSpPr>
          <p:nvPr/>
        </p:nvSpPr>
        <p:spPr bwMode="auto">
          <a:xfrm>
            <a:off x="1785967" y="304800"/>
            <a:ext cx="5834033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4400" b="1" cap="small" dirty="0">
                <a:latin typeface="Calibri" panose="020F0502020204030204" charset="0"/>
                <a:cs typeface="Calibri" panose="020F0502020204030204" charset="0"/>
              </a:rPr>
              <a:t>Finding the address class</a:t>
            </a:r>
            <a:endParaRPr lang="en-US" altLang="en-US" sz="4400" b="1" cap="small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AutoShape 2"/>
          <p:cNvSpPr>
            <a:spLocks noChangeArrowheads="1"/>
          </p:cNvSpPr>
          <p:nvPr/>
        </p:nvSpPr>
        <p:spPr bwMode="auto">
          <a:xfrm>
            <a:off x="323850" y="1125538"/>
            <a:ext cx="8534400" cy="4419600"/>
          </a:xfrm>
          <a:prstGeom prst="verticalScroll">
            <a:avLst>
              <a:gd name="adj" fmla="val 12500"/>
            </a:avLst>
          </a:prstGeom>
          <a:solidFill>
            <a:srgbClr val="99CCFF">
              <a:alpha val="11000"/>
            </a:srgb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3600" dirty="0">
                <a:latin typeface="Calibri" panose="020F0502020204030204" charset="0"/>
                <a:cs typeface="Calibri" panose="020F0502020204030204" charset="0"/>
              </a:rPr>
              <a:t>Show that Class </a:t>
            </a:r>
            <a:r>
              <a:rPr lang="en-US" sz="36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lang="en-US" sz="3600" b="1" i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 </a:t>
            </a:r>
            <a:r>
              <a:rPr lang="en-US" sz="3600" i="1" dirty="0">
                <a:latin typeface="Calibri" panose="020F0502020204030204" charset="0"/>
                <a:cs typeface="Calibri" panose="020F0502020204030204" charset="0"/>
              </a:rPr>
              <a:t>has </a:t>
            </a:r>
            <a:endParaRPr lang="en-US" sz="3600" i="1" dirty="0">
              <a:latin typeface="Calibri" panose="020F0502020204030204" charset="0"/>
              <a:cs typeface="Calibri" panose="020F0502020204030204" charset="0"/>
            </a:endParaRPr>
          </a:p>
          <a:p>
            <a:pPr algn="ctr">
              <a:defRPr/>
            </a:pPr>
            <a:r>
              <a:rPr lang="en-US" sz="3600" i="1" dirty="0">
                <a:latin typeface="Calibri" panose="020F0502020204030204" charset="0"/>
                <a:cs typeface="Calibri" panose="020F0502020204030204" charset="0"/>
              </a:rPr>
              <a:t>2</a:t>
            </a:r>
            <a:r>
              <a:rPr lang="en-US" sz="3600" i="1" baseline="30000" dirty="0">
                <a:latin typeface="Calibri" panose="020F0502020204030204" charset="0"/>
                <a:cs typeface="Calibri" panose="020F0502020204030204" charset="0"/>
              </a:rPr>
              <a:t>31</a:t>
            </a:r>
            <a:r>
              <a:rPr lang="en-US" sz="3600" i="1" dirty="0">
                <a:latin typeface="Calibri" panose="020F0502020204030204" charset="0"/>
                <a:cs typeface="Calibri" panose="020F0502020204030204" charset="0"/>
              </a:rPr>
              <a:t> =</a:t>
            </a:r>
            <a:r>
              <a:rPr lang="en-US" sz="3600" b="1" i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sz="3600" dirty="0">
                <a:latin typeface="Calibri" panose="020F0502020204030204" charset="0"/>
                <a:cs typeface="Calibri" panose="020F0502020204030204" charset="0"/>
              </a:rPr>
              <a:t>2,147,483,648 </a:t>
            </a:r>
            <a:r>
              <a:rPr lang="en-US" sz="3600" dirty="0" smtClean="0">
                <a:latin typeface="Calibri" panose="020F0502020204030204" charset="0"/>
                <a:cs typeface="Calibri" panose="020F0502020204030204" charset="0"/>
              </a:rPr>
              <a:t>addresses</a:t>
            </a:r>
            <a:endParaRPr lang="en-US" sz="3600" dirty="0" smtClean="0">
              <a:latin typeface="Calibri" panose="020F0502020204030204" charset="0"/>
              <a:cs typeface="Calibri" panose="020F0502020204030204" charset="0"/>
            </a:endParaRPr>
          </a:p>
          <a:p>
            <a:pPr algn="ctr">
              <a:defRPr/>
            </a:pPr>
            <a:r>
              <a:rPr lang="en-US" sz="3600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Calibri" panose="020F0502020204030204" charset="0"/>
                <a:cs typeface="Calibri" panose="020F0502020204030204" charset="0"/>
              </a:rPr>
              <a:t>214 Crore+</a:t>
            </a:r>
            <a:endParaRPr lang="en-US" sz="3600" dirty="0"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3492832" y="152400"/>
            <a:ext cx="2196435" cy="830997"/>
          </a:xfrm>
          <a:prstGeom prst="rect">
            <a:avLst/>
          </a:prstGeom>
          <a:solidFill>
            <a:schemeClr val="bg1"/>
          </a:solidFill>
          <a:ln w="381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4800" b="1" cap="small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Example</a:t>
            </a:r>
            <a:endParaRPr lang="en-US" sz="4800" b="1" cap="small" dirty="0"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33400" y="1109827"/>
            <a:ext cx="9144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ts val="1100"/>
              </a:spcBef>
              <a:spcAft>
                <a:spcPts val="1100"/>
              </a:spcAft>
              <a:buClrTx/>
              <a:buFontTx/>
              <a:buNone/>
            </a:pPr>
            <a:r>
              <a:rPr lang="en-US" altLang="en-US" sz="3200" b="1" dirty="0">
                <a:solidFill>
                  <a:srgbClr val="002060"/>
                </a:solidFill>
                <a:latin typeface="Times" charset="0"/>
              </a:rPr>
              <a:t>0</a:t>
            </a:r>
            <a:r>
              <a:rPr lang="en-US" altLang="en-US" sz="3200" b="1" dirty="0">
                <a:solidFill>
                  <a:srgbClr val="FF3300"/>
                </a:solidFill>
                <a:latin typeface="Times" charset="0"/>
              </a:rPr>
              <a:t>1000000 </a:t>
            </a:r>
            <a:r>
              <a:rPr lang="en-US" altLang="en-US" sz="3200" b="1" dirty="0">
                <a:latin typeface="Times" charset="0"/>
              </a:rPr>
              <a:t>10101000</a:t>
            </a:r>
            <a:r>
              <a:rPr lang="en-US" altLang="en-US" sz="3200" b="1" dirty="0">
                <a:solidFill>
                  <a:srgbClr val="FF3300"/>
                </a:solidFill>
                <a:latin typeface="Times" charset="0"/>
              </a:rPr>
              <a:t> 00000000 </a:t>
            </a:r>
            <a:r>
              <a:rPr lang="en-US" altLang="en-US" sz="3200" b="1" dirty="0">
                <a:latin typeface="Times" charset="0"/>
              </a:rPr>
              <a:t>00000001</a:t>
            </a:r>
            <a:endParaRPr lang="en-US" altLang="en-US" sz="3200" b="1" dirty="0">
              <a:latin typeface="Times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2"/>
          <p:cNvSpPr txBox="1">
            <a:spLocks noChangeArrowheads="1"/>
          </p:cNvSpPr>
          <p:nvPr/>
        </p:nvSpPr>
        <p:spPr bwMode="auto">
          <a:xfrm>
            <a:off x="3803209" y="62955"/>
            <a:ext cx="2028119" cy="769441"/>
          </a:xfrm>
          <a:prstGeom prst="rect">
            <a:avLst/>
          </a:prstGeom>
          <a:solidFill>
            <a:schemeClr val="bg1"/>
          </a:solidFill>
          <a:ln w="381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4400" b="1" i="1" cap="small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Example</a:t>
            </a:r>
            <a:endParaRPr lang="en-US" sz="4400" b="1" i="1" cap="small" dirty="0"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6627" name="AutoShape 4"/>
          <p:cNvSpPr>
            <a:spLocks noChangeArrowheads="1"/>
          </p:cNvSpPr>
          <p:nvPr/>
        </p:nvSpPr>
        <p:spPr bwMode="auto">
          <a:xfrm>
            <a:off x="1306511" y="1143000"/>
            <a:ext cx="7021513" cy="2060575"/>
          </a:xfrm>
          <a:prstGeom prst="verticalScroll">
            <a:avLst>
              <a:gd name="adj" fmla="val 12500"/>
            </a:avLst>
          </a:prstGeom>
          <a:solidFill>
            <a:srgbClr val="66CCFF">
              <a:alpha val="13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Find the class of the following IP addresses</a:t>
            </a:r>
            <a:endParaRPr lang="en-GB" alt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 0</a:t>
            </a:r>
            <a:r>
              <a:rPr lang="en-US" altLang="en-US" sz="2400" dirty="0">
                <a:latin typeface="Arial" panose="020B0604020202020204" pitchFamily="34" charset="0"/>
              </a:rPr>
              <a:t>0000001  00001011   00001011 11101111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11000001  00001011   00001011 11101111</a:t>
            </a:r>
            <a:endParaRPr lang="en-GB" altLang="en-US" sz="2400" dirty="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26628" name="AutoShape 5"/>
          <p:cNvSpPr>
            <a:spLocks noChangeArrowheads="1"/>
          </p:cNvSpPr>
          <p:nvPr/>
        </p:nvSpPr>
        <p:spPr bwMode="auto">
          <a:xfrm>
            <a:off x="1143000" y="4114800"/>
            <a:ext cx="7021513" cy="2060575"/>
          </a:xfrm>
          <a:prstGeom prst="verticalScroll">
            <a:avLst>
              <a:gd name="adj" fmla="val 12500"/>
            </a:avLst>
          </a:prstGeom>
          <a:solidFill>
            <a:srgbClr val="FF0000">
              <a:alpha val="26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0</a:t>
            </a:r>
            <a:r>
              <a:rPr lang="en-US" altLang="en-US" sz="2400" dirty="0">
                <a:latin typeface="Arial" panose="020B0604020202020204" pitchFamily="34" charset="0"/>
              </a:rPr>
              <a:t>0000001  00001011   00001011 11101111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2400" dirty="0">
                <a:latin typeface="Arial" panose="020B0604020202020204" pitchFamily="34" charset="0"/>
              </a:rPr>
              <a:t>1</a:t>
            </a:r>
            <a:r>
              <a:rPr lang="en-GB" altLang="en-US" sz="2400" baseline="30000" dirty="0">
                <a:latin typeface="Arial" panose="020B0604020202020204" pitchFamily="34" charset="0"/>
              </a:rPr>
              <a:t>st</a:t>
            </a:r>
            <a:r>
              <a:rPr lang="en-GB" altLang="en-US" sz="2400" dirty="0">
                <a:latin typeface="Arial" panose="020B0604020202020204" pitchFamily="34" charset="0"/>
              </a:rPr>
              <a:t> is 0, hence it is Class A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11000001  00001011   00001011 11101111</a:t>
            </a:r>
            <a:endParaRPr lang="en-GB" altLang="en-US" sz="2400" dirty="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dirty="0">
                <a:solidFill>
                  <a:schemeClr val="hlink"/>
                </a:solidFill>
                <a:latin typeface="Arial" panose="020B0604020202020204" pitchFamily="34" charset="0"/>
              </a:rPr>
              <a:t>1</a:t>
            </a:r>
            <a:r>
              <a:rPr lang="en-GB" altLang="en-US" baseline="30000" dirty="0">
                <a:solidFill>
                  <a:schemeClr val="hlink"/>
                </a:solidFill>
                <a:latin typeface="Arial" panose="020B0604020202020204" pitchFamily="34" charset="0"/>
              </a:rPr>
              <a:t>st</a:t>
            </a:r>
            <a:r>
              <a:rPr lang="en-GB" altLang="en-US" dirty="0">
                <a:solidFill>
                  <a:schemeClr val="hlink"/>
                </a:solidFill>
                <a:latin typeface="Arial" panose="020B0604020202020204" pitchFamily="34" charset="0"/>
              </a:rPr>
              <a:t> and 2</a:t>
            </a:r>
            <a:r>
              <a:rPr lang="en-GB" altLang="en-US" baseline="30000" dirty="0">
                <a:solidFill>
                  <a:schemeClr val="hlink"/>
                </a:solidFill>
                <a:latin typeface="Arial" panose="020B0604020202020204" pitchFamily="34" charset="0"/>
              </a:rPr>
              <a:t>nd</a:t>
            </a:r>
            <a:r>
              <a:rPr lang="en-GB" altLang="en-US" dirty="0">
                <a:solidFill>
                  <a:schemeClr val="hlink"/>
                </a:solidFill>
                <a:latin typeface="Arial" panose="020B0604020202020204" pitchFamily="34" charset="0"/>
              </a:rPr>
              <a:t> bits are 1, and 3</a:t>
            </a:r>
            <a:r>
              <a:rPr lang="en-GB" altLang="en-US" baseline="30000" dirty="0">
                <a:solidFill>
                  <a:schemeClr val="hlink"/>
                </a:solidFill>
                <a:latin typeface="Arial" panose="020B0604020202020204" pitchFamily="34" charset="0"/>
              </a:rPr>
              <a:t>rd</a:t>
            </a:r>
            <a:r>
              <a:rPr lang="en-GB" altLang="en-US" dirty="0">
                <a:solidFill>
                  <a:schemeClr val="hlink"/>
                </a:solidFill>
                <a:latin typeface="Arial" panose="020B0604020202020204" pitchFamily="34" charset="0"/>
              </a:rPr>
              <a:t> bit is 0 hence, Class C </a:t>
            </a:r>
            <a:endParaRPr lang="en-GB" altLang="en-US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127375"/>
            <a:ext cx="7089775" cy="274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Text Box 4"/>
          <p:cNvSpPr txBox="1">
            <a:spLocks noChangeArrowheads="1"/>
          </p:cNvSpPr>
          <p:nvPr/>
        </p:nvSpPr>
        <p:spPr bwMode="auto">
          <a:xfrm>
            <a:off x="438782" y="228600"/>
            <a:ext cx="844423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4400" b="1" cap="small" dirty="0">
                <a:latin typeface="Calibri" panose="020F0502020204030204" charset="0"/>
                <a:cs typeface="Calibri" panose="020F0502020204030204" charset="0"/>
              </a:rPr>
              <a:t>Finding the class in decimal notation</a:t>
            </a:r>
            <a:endParaRPr lang="en-US" altLang="en-US" sz="4400" b="1" cap="small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38782" y="1030892"/>
            <a:ext cx="4572000" cy="369332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en-US" altLang="en-US" dirty="0">
                <a:latin typeface="Arial" panose="020B0604020202020204" pitchFamily="34" charset="0"/>
              </a:rPr>
              <a:t>0000000           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en-US" altLang="en-US" dirty="0">
                <a:latin typeface="Arial" panose="020B0604020202020204" pitchFamily="34" charset="0"/>
              </a:rPr>
              <a:t>1111111 (127)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8782" y="1467946"/>
            <a:ext cx="4572000" cy="369332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en-US" altLang="en-US" dirty="0">
                <a:latin typeface="Arial" panose="020B0604020202020204" pitchFamily="34" charset="0"/>
              </a:rPr>
              <a:t>000000 (128) 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en-US" altLang="en-US" dirty="0">
                <a:latin typeface="Arial" panose="020B0604020202020204" pitchFamily="34" charset="0"/>
              </a:rPr>
              <a:t>111111 (191)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367"/>
          <a:stretch>
            <a:fillRect/>
          </a:stretch>
        </p:blipFill>
        <p:spPr bwMode="auto">
          <a:xfrm>
            <a:off x="5105400" y="888166"/>
            <a:ext cx="1828800" cy="2104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438782" y="1921583"/>
            <a:ext cx="4572000" cy="369332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11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en-US" altLang="en-US" dirty="0">
                <a:latin typeface="Arial" panose="020B0604020202020204" pitchFamily="34" charset="0"/>
              </a:rPr>
              <a:t>00000 (192) 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11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en-US" altLang="en-US" dirty="0">
                <a:latin typeface="Arial" panose="020B0604020202020204" pitchFamily="34" charset="0"/>
              </a:rPr>
              <a:t>11111 (223)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AutoShape 4"/>
          <p:cNvSpPr>
            <a:spLocks noChangeArrowheads="1"/>
          </p:cNvSpPr>
          <p:nvPr/>
        </p:nvSpPr>
        <p:spPr bwMode="auto">
          <a:xfrm>
            <a:off x="304801" y="1295401"/>
            <a:ext cx="8408988" cy="2249488"/>
          </a:xfrm>
          <a:prstGeom prst="verticalScroll">
            <a:avLst>
              <a:gd name="adj" fmla="val 12500"/>
            </a:avLst>
          </a:prstGeom>
          <a:solidFill>
            <a:srgbClr val="66CCFF">
              <a:alpha val="22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Find the class of the following addresses</a:t>
            </a:r>
            <a:endParaRPr lang="en-GB" altLang="en-US" sz="2800" dirty="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158.223.1.108</a:t>
            </a:r>
            <a:endParaRPr lang="en-GB" altLang="en-US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227.13.14.88</a:t>
            </a:r>
            <a:endParaRPr lang="en-GB" altLang="en-US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latin typeface="Arial" panose="020B0604020202020204" pitchFamily="34" charset="0"/>
              </a:rPr>
              <a:t> </a:t>
            </a:r>
            <a:endParaRPr lang="en-US" altLang="en-US" sz="2800" dirty="0">
              <a:latin typeface="Arial" panose="020B0604020202020204" pitchFamily="34" charset="0"/>
            </a:endParaRPr>
          </a:p>
        </p:txBody>
      </p:sp>
      <p:sp>
        <p:nvSpPr>
          <p:cNvPr id="30724" name="AutoShape 5"/>
          <p:cNvSpPr>
            <a:spLocks noChangeArrowheads="1"/>
          </p:cNvSpPr>
          <p:nvPr/>
        </p:nvSpPr>
        <p:spPr bwMode="auto">
          <a:xfrm>
            <a:off x="268015" y="4114800"/>
            <a:ext cx="8445774" cy="2606675"/>
          </a:xfrm>
          <a:prstGeom prst="verticalScroll">
            <a:avLst>
              <a:gd name="adj" fmla="val 12500"/>
            </a:avLst>
          </a:prstGeom>
          <a:solidFill>
            <a:srgbClr val="FFC000">
              <a:alpha val="28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Char char="•"/>
            </a:pPr>
            <a:r>
              <a:rPr lang="en-GB" altLang="en-US" sz="2400" dirty="0">
                <a:latin typeface="Arial" panose="020B0604020202020204" pitchFamily="34" charset="0"/>
              </a:rPr>
              <a:t>158.223.1.108</a:t>
            </a:r>
            <a:endParaRPr lang="en-GB" altLang="en-US" sz="2400" dirty="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2400" dirty="0">
                <a:latin typeface="Arial" panose="020B0604020202020204" pitchFamily="34" charset="0"/>
              </a:rPr>
              <a:t>1</a:t>
            </a:r>
            <a:r>
              <a:rPr lang="en-GB" altLang="en-US" sz="2400" baseline="30000" dirty="0">
                <a:latin typeface="Arial" panose="020B0604020202020204" pitchFamily="34" charset="0"/>
              </a:rPr>
              <a:t>st</a:t>
            </a:r>
            <a:r>
              <a:rPr lang="en-GB" altLang="en-US" sz="2400" dirty="0">
                <a:latin typeface="Arial" panose="020B0604020202020204" pitchFamily="34" charset="0"/>
              </a:rPr>
              <a:t> byte = 158  (128&lt;158&lt;191)  class B</a:t>
            </a:r>
            <a:endParaRPr lang="en-GB" altLang="en-US" sz="2400" dirty="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Char char="•"/>
            </a:pPr>
            <a:r>
              <a:rPr lang="en-GB" altLang="en-US" sz="2400" dirty="0">
                <a:latin typeface="Arial" panose="020B0604020202020204" pitchFamily="34" charset="0"/>
              </a:rPr>
              <a:t>227.13.14.88</a:t>
            </a:r>
            <a:endParaRPr lang="en-GB" altLang="en-US" sz="2400" dirty="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2400" dirty="0">
                <a:latin typeface="Arial" panose="020B0604020202020204" pitchFamily="34" charset="0"/>
              </a:rPr>
              <a:t>1</a:t>
            </a:r>
            <a:r>
              <a:rPr lang="en-GB" altLang="en-US" sz="2400" baseline="30000" dirty="0">
                <a:latin typeface="Arial" panose="020B0604020202020204" pitchFamily="34" charset="0"/>
              </a:rPr>
              <a:t>st</a:t>
            </a:r>
            <a:r>
              <a:rPr lang="en-GB" altLang="en-US" sz="2400" dirty="0">
                <a:latin typeface="Arial" panose="020B0604020202020204" pitchFamily="34" charset="0"/>
              </a:rPr>
              <a:t> byte = 227 (224&lt;227&lt;239) class D</a:t>
            </a:r>
            <a:endParaRPr lang="en-GB" altLang="en-US" sz="2400" dirty="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Char char="•"/>
            </a:pPr>
            <a:endParaRPr lang="en-GB" altLang="en-US" sz="2400" dirty="0">
              <a:latin typeface="Arial" panose="020B0604020202020204" pitchFamily="34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492832" y="152400"/>
            <a:ext cx="2196435" cy="830997"/>
          </a:xfrm>
          <a:prstGeom prst="rect">
            <a:avLst/>
          </a:prstGeom>
          <a:solidFill>
            <a:schemeClr val="bg1"/>
          </a:solidFill>
          <a:ln w="381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4800" b="1" cap="small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Example</a:t>
            </a:r>
            <a:endParaRPr lang="en-US" sz="4800" b="1" cap="small" dirty="0"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AutoShap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b="1" cap="small" dirty="0"/>
              <a:t>Port number</a:t>
            </a:r>
            <a:endParaRPr lang="en-US" altLang="en-US" b="1" cap="small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685800" y="2366963"/>
            <a:ext cx="7772400" cy="3424237"/>
          </a:xfrm>
        </p:spPr>
        <p:txBody>
          <a:bodyPr/>
          <a:lstStyle/>
          <a:p>
            <a:pPr fontAlgn="auto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GB" altLang="en-US" b="1" dirty="0"/>
              <a:t>158.128.1.108:25</a:t>
            </a:r>
            <a:endParaRPr lang="en-GB" altLang="en-US" b="1" dirty="0"/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GB" altLang="en-US" dirty="0"/>
              <a:t>the for octet before colon is the IP address</a:t>
            </a:r>
            <a:endParaRPr lang="en-GB" altLang="en-US" dirty="0"/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GB" altLang="en-US" dirty="0"/>
              <a:t>The number of colon (25) is the port number </a:t>
            </a:r>
            <a:endParaRPr lang="en-GB" altLang="en-US" dirty="0"/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b="1" dirty="0"/>
              <a:t>16</a:t>
            </a:r>
            <a:r>
              <a:rPr lang="en-US" dirty="0"/>
              <a:t>-bit integer, so </a:t>
            </a:r>
            <a:r>
              <a:rPr lang="en-US" b="1" dirty="0"/>
              <a:t>65535</a:t>
            </a:r>
            <a:r>
              <a:rPr lang="en-US" dirty="0"/>
              <a:t>.</a:t>
            </a:r>
            <a:endParaRPr lang="en-US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477000" y="1143000"/>
            <a:ext cx="20329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Default Port:1-1024</a:t>
            </a:r>
            <a:endParaRPr lang="en-US" dirty="0"/>
          </a:p>
          <a:p>
            <a:endParaRPr lang="en-US" dirty="0"/>
          </a:p>
          <a:p>
            <a:r>
              <a:rPr lang="en-US" dirty="0"/>
              <a:t>Ping: 7</a:t>
            </a:r>
            <a:endParaRPr lang="en-US" dirty="0"/>
          </a:p>
          <a:p>
            <a:r>
              <a:rPr lang="en-US" dirty="0"/>
              <a:t>DHCP: 68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057400"/>
            <a:ext cx="8886825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ext Box 4"/>
          <p:cNvSpPr txBox="1">
            <a:spLocks noChangeArrowheads="1"/>
          </p:cNvSpPr>
          <p:nvPr/>
        </p:nvSpPr>
        <p:spPr bwMode="auto">
          <a:xfrm>
            <a:off x="2282608" y="152400"/>
            <a:ext cx="468038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4400" b="1" cap="small" dirty="0" err="1">
                <a:latin typeface="Times New Roman" panose="02020603050405020304" pitchFamily="18" charset="0"/>
              </a:rPr>
              <a:t>Netid</a:t>
            </a:r>
            <a:r>
              <a:rPr lang="en-US" altLang="en-US" sz="4400" b="1" cap="small" dirty="0">
                <a:latin typeface="Times New Roman" panose="02020603050405020304" pitchFamily="18" charset="0"/>
              </a:rPr>
              <a:t> and </a:t>
            </a:r>
            <a:r>
              <a:rPr lang="en-US" altLang="en-US" sz="4400" b="1" cap="small" dirty="0" err="1">
                <a:latin typeface="Times New Roman" panose="02020603050405020304" pitchFamily="18" charset="0"/>
              </a:rPr>
              <a:t>hostid</a:t>
            </a:r>
            <a:endParaRPr lang="en-US" altLang="en-US" sz="4400" b="1" cap="small" dirty="0">
              <a:latin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288"/>
          <a:stretch>
            <a:fillRect/>
          </a:stretch>
        </p:blipFill>
        <p:spPr bwMode="auto">
          <a:xfrm>
            <a:off x="1295400" y="1846618"/>
            <a:ext cx="7081200" cy="785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78"/>
          <a:stretch>
            <a:fillRect/>
          </a:stretch>
        </p:blipFill>
        <p:spPr bwMode="auto">
          <a:xfrm>
            <a:off x="1371600" y="2702752"/>
            <a:ext cx="7081200" cy="835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759"/>
          <a:stretch>
            <a:fillRect/>
          </a:stretch>
        </p:blipFill>
        <p:spPr bwMode="auto">
          <a:xfrm>
            <a:off x="1295400" y="990600"/>
            <a:ext cx="7081200" cy="856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lowchart: Magnetic Disk 4"/>
          <p:cNvSpPr/>
          <p:nvPr/>
        </p:nvSpPr>
        <p:spPr>
          <a:xfrm>
            <a:off x="3699164" y="4800600"/>
            <a:ext cx="1600200" cy="457200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Router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Down Arrow 6"/>
          <p:cNvSpPr/>
          <p:nvPr/>
        </p:nvSpPr>
        <p:spPr>
          <a:xfrm rot="16200000">
            <a:off x="1752600" y="3352800"/>
            <a:ext cx="609600" cy="3352800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299364" y="4038600"/>
            <a:ext cx="2320636" cy="9906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299364" y="5029200"/>
            <a:ext cx="232063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299364" y="5029200"/>
            <a:ext cx="2168236" cy="1143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9" y="5432388"/>
            <a:ext cx="3276600" cy="11249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extBox 1"/>
          <p:cNvSpPr txBox="1"/>
          <p:nvPr/>
        </p:nvSpPr>
        <p:spPr>
          <a:xfrm rot="20272071">
            <a:off x="5472104" y="4209343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pc="600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73.X.X.X</a:t>
            </a:r>
            <a:endParaRPr lang="en-US" spc="600" dirty="0"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 IP Block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8600" y="1981200"/>
            <a:ext cx="8229600" cy="2649209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31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2940</Words>
  <Application>WPS Presentation</Application>
  <PresentationFormat>On-screen Show (4:3)</PresentationFormat>
  <Paragraphs>249</Paragraphs>
  <Slides>31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Times</vt:lpstr>
      <vt:lpstr>Tw Cen MT</vt:lpstr>
      <vt:lpstr>Office Theme</vt:lpstr>
      <vt:lpstr>PowerPoint 演示文稿</vt:lpstr>
      <vt:lpstr>PowerPoint 演示文稿</vt:lpstr>
      <vt:lpstr>The Story</vt:lpstr>
      <vt:lpstr>Key functions of the network layer</vt:lpstr>
      <vt:lpstr>PowerPoint 演示文稿</vt:lpstr>
      <vt:lpstr>PowerPoint 演示文稿</vt:lpstr>
      <vt:lpstr>PowerPoint 演示文稿</vt:lpstr>
      <vt:lpstr>PowerPoint 演示文稿</vt:lpstr>
      <vt:lpstr>What is an IP Address? </vt:lpstr>
      <vt:lpstr>Types of IP Address</vt:lpstr>
      <vt:lpstr>IPv4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Port number</vt:lpstr>
      <vt:lpstr>PowerPoint 演示文稿</vt:lpstr>
      <vt:lpstr>PowerPoint 演示文稿</vt:lpstr>
      <vt:lpstr>RU IP Block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 all k-nearest neighbor queries in Hadoop</dc:title>
  <dc:creator>Administrator</dc:creator>
  <cp:lastModifiedBy>User</cp:lastModifiedBy>
  <cp:revision>992</cp:revision>
  <cp:lastPrinted>2017-11-05T03:12:00Z</cp:lastPrinted>
  <dcterms:created xsi:type="dcterms:W3CDTF">2006-08-16T00:00:00Z</dcterms:created>
  <dcterms:modified xsi:type="dcterms:W3CDTF">2026-04-09T05:38:10Z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32F365DB38A64867B65779927B524AC3_12</vt:lpwstr>
  </property>
</Properties>
</file>