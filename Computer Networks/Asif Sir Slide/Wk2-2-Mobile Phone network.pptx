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45" r:id="rId3"/>
    <p:sldId id="346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71" r:id="rId12"/>
    <p:sldId id="372" r:id="rId13"/>
    <p:sldId id="373" r:id="rId14"/>
    <p:sldId id="389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854" autoAdjust="0"/>
    <p:restoredTop sz="61265" autoAdjust="0"/>
  </p:normalViewPr>
  <p:slideViewPr>
    <p:cSldViewPr>
      <p:cViewPr varScale="1">
        <p:scale>
          <a:sx n="68" d="100"/>
          <a:sy n="68" d="100"/>
        </p:scale>
        <p:origin x="9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2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/>
          <a:lstStyle>
            <a:lvl1pPr algn="r">
              <a:defRPr sz="1100"/>
            </a:lvl1pPr>
          </a:lstStyle>
          <a:p>
            <a:fld id="{5CAE133A-4028-4E2B-B049-6F148B77E5AB}" type="datetime1">
              <a:rPr lang="en-US" smtClean="0"/>
              <a:t>29-Nov-25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79427"/>
          </a:xfrm>
          <a:prstGeom prst="rect">
            <a:avLst/>
          </a:prstGeom>
        </p:spPr>
        <p:txBody>
          <a:bodyPr vert="horz" lIns="82964" tIns="41482" rIns="82964" bIns="41482" rtlCol="0" anchor="b"/>
          <a:lstStyle>
            <a:lvl1pPr algn="r">
              <a:defRPr sz="1100"/>
            </a:lvl1pPr>
          </a:lstStyle>
          <a:p>
            <a:fld id="{4825AA9F-B079-466D-A19E-A0BED09FA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9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0" y="1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/>
          <a:lstStyle>
            <a:lvl1pPr algn="r">
              <a:defRPr sz="1200"/>
            </a:lvl1pPr>
          </a:lstStyle>
          <a:p>
            <a:fld id="{A9B5FCE6-2331-4AF4-8362-9D091070A463}" type="datetime1">
              <a:rPr lang="en-US" smtClean="0"/>
              <a:t>29-Nov-25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2313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7701" tIns="43851" rIns="87701" bIns="4385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vert="horz" lIns="87701" tIns="43851" rIns="87701" bIns="438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0" y="9119474"/>
            <a:ext cx="3169920" cy="480060"/>
          </a:xfrm>
          <a:prstGeom prst="rect">
            <a:avLst/>
          </a:prstGeom>
        </p:spPr>
        <p:txBody>
          <a:bodyPr vert="horz" lIns="87701" tIns="43851" rIns="87701" bIns="43851" rtlCol="0" anchor="b"/>
          <a:lstStyle>
            <a:lvl1pPr algn="r">
              <a:defRPr sz="1200"/>
            </a:lvl1pPr>
          </a:lstStyle>
          <a:p>
            <a:fld id="{7106D8DA-1A55-4414-9F6D-9B871CCC3B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3332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6D8DA-1A55-4414-9F6D-9B871CCC3BEB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5899B3EB-F4B9-4EC3-8874-9456869D1B5F}" type="datetime1">
              <a:rPr lang="en-US" smtClean="0"/>
              <a:t>29-Nov-25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23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CE520-94D8-471E-9246-3DA957E543CE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sm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913C-A7DD-4021-AFBC-947EB765CE4C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 smtClean="0"/>
              <a:t> 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264FA-CC1B-47DB-A93A-6B4BBC436045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BA4E8-8C0A-4D25-81B1-03C2082B47D6}" type="datetime1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1D4E8-1CCE-4EFF-A36C-E105DDD56AAD}" type="datetime1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1C7D-1228-46DC-9402-5957496C3C04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4DF6C-52F4-4529-BC53-6E2674900ED7}" type="datetime1">
              <a:rPr lang="en-US" smtClean="0"/>
              <a:t>29-Nov-25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8FFD2-C90D-4BD9-95AC-D49FE82B0BB0}" type="datetime1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B32C9-888E-4264-AE70-E187E0827B99}" type="datetime1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A059-0900-46A5-86CD-6CBACA225E83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0799-E2B8-4119-BEA9-5BBF8CE2B0FA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C945B-C34E-410F-BC8F-BE6BC04FBFD5}" type="datetime1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549" y="4859834"/>
            <a:ext cx="7239000" cy="8309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2800" cap="small" dirty="0"/>
              <a:t>Dr. Asif Zaman</a:t>
            </a:r>
          </a:p>
          <a:p>
            <a:pPr lvl="0" algn="ctr"/>
            <a:r>
              <a:rPr lang="en-US" cap="small" dirty="0" smtClean="0"/>
              <a:t>Professor</a:t>
            </a:r>
            <a:r>
              <a:rPr lang="en-US" cap="small" dirty="0"/>
              <a:t>, CSE, RU</a:t>
            </a:r>
            <a:endParaRPr lang="en-US" sz="1600" cap="small" dirty="0"/>
          </a:p>
        </p:txBody>
      </p:sp>
      <p:sp>
        <p:nvSpPr>
          <p:cNvPr id="6" name="TextBox 5"/>
          <p:cNvSpPr txBox="1"/>
          <p:nvPr/>
        </p:nvSpPr>
        <p:spPr>
          <a:xfrm>
            <a:off x="228598" y="363512"/>
            <a:ext cx="87249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ct val="50000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CSE3251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SzPct val="50000"/>
            </a:pPr>
            <a:r>
              <a:rPr lang="en-US" sz="48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150" y="2477464"/>
            <a:ext cx="1545795" cy="144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96628" y="6504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267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5" y="1295400"/>
            <a:ext cx="8787545" cy="4301767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B4BD60-2DD3-A14F-A6EE-02645817CAD3}"/>
              </a:ext>
            </a:extLst>
          </p:cNvPr>
          <p:cNvSpPr/>
          <p:nvPr/>
        </p:nvSpPr>
        <p:spPr>
          <a:xfrm>
            <a:off x="322927" y="2209800"/>
            <a:ext cx="8668139" cy="457200"/>
          </a:xfrm>
          <a:prstGeom prst="roundRect">
            <a:avLst/>
          </a:prstGeom>
          <a:solidFill>
            <a:schemeClr val="accent2">
              <a:alpha val="1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12A6-8BED-BF4C-9344-AFFF2414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 Reference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A6476D-76CA-BD4D-BA97-E7971F609F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01" y="1219200"/>
            <a:ext cx="4342133" cy="373170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09491-60EF-EA45-A66D-2A88B2CDF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r>
              <a:rPr lang="en-US" dirty="0"/>
              <a:t> </a:t>
            </a:r>
            <a:r>
              <a:rPr lang="en-US" dirty="0" smtClean="0"/>
              <a:t>of 21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B7D0F6-A198-2146-A54B-CE32D6856CDF}"/>
              </a:ext>
            </a:extLst>
          </p:cNvPr>
          <p:cNvSpPr/>
          <p:nvPr/>
        </p:nvSpPr>
        <p:spPr>
          <a:xfrm>
            <a:off x="762000" y="5536351"/>
            <a:ext cx="45745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ll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eople 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eem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o 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N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eed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D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ata </a:t>
            </a:r>
            <a:r>
              <a:rPr lang="en-US" sz="2400" b="1" cap="small" dirty="0">
                <a:solidFill>
                  <a:srgbClr val="FF0000"/>
                </a:solidFill>
                <a:latin typeface="arial" panose="020B0604020202020204" pitchFamily="34" charset="0"/>
              </a:rPr>
              <a:t>P</a:t>
            </a:r>
            <a:r>
              <a:rPr lang="en-US" sz="2400" b="1" cap="small" dirty="0">
                <a:solidFill>
                  <a:srgbClr val="222222"/>
                </a:solidFill>
                <a:latin typeface="arial" panose="020B0604020202020204" pitchFamily="34" charset="0"/>
              </a:rPr>
              <a:t>rocessing</a:t>
            </a:r>
            <a:endParaRPr lang="en-US" sz="2400" b="1" cap="small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F16413D-6AD4-AE49-8C78-B0930A43C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331" y="1430993"/>
            <a:ext cx="4656463" cy="371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54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800" b="1" dirty="0"/>
              <a:t>Network Interface Card </a:t>
            </a:r>
            <a:endParaRPr lang="en-US" sz="2800" dirty="0"/>
          </a:p>
          <a:p>
            <a:pPr fontAlgn="base"/>
            <a:r>
              <a:rPr lang="en-US" sz="2800" b="1" dirty="0"/>
              <a:t>Characteristics of NIC</a:t>
            </a:r>
          </a:p>
          <a:p>
            <a:pPr lvl="1"/>
            <a:r>
              <a:rPr lang="en-US" sz="2400" b="1" dirty="0"/>
              <a:t>Physical network </a:t>
            </a:r>
            <a:r>
              <a:rPr lang="en-US" sz="2400" b="1" dirty="0" smtClean="0"/>
              <a:t>address</a:t>
            </a:r>
          </a:p>
          <a:p>
            <a:pPr lvl="2"/>
            <a:r>
              <a:rPr lang="en-US" dirty="0"/>
              <a:t>Media Access Control (MAC) address. </a:t>
            </a:r>
            <a:endParaRPr lang="en-US" dirty="0" smtClean="0"/>
          </a:p>
          <a:p>
            <a:pPr lvl="2"/>
            <a:r>
              <a:rPr lang="en-US" dirty="0" smtClean="0"/>
              <a:t>MAC </a:t>
            </a:r>
            <a:r>
              <a:rPr lang="en-US" dirty="0"/>
              <a:t>addresses are six bytes </a:t>
            </a:r>
            <a:r>
              <a:rPr lang="en-US" dirty="0" smtClean="0"/>
              <a:t>long</a:t>
            </a:r>
          </a:p>
          <a:p>
            <a:pPr lvl="2"/>
            <a:r>
              <a:rPr lang="en-US" dirty="0"/>
              <a:t> </a:t>
            </a:r>
            <a:r>
              <a:rPr lang="en-US" dirty="0" smtClean="0"/>
              <a:t>00-00-86-47-F6-65</a:t>
            </a:r>
          </a:p>
          <a:p>
            <a:pPr lvl="1"/>
            <a:r>
              <a:rPr lang="en-US" sz="2400" b="1" dirty="0"/>
              <a:t>Network connection port</a:t>
            </a:r>
            <a:r>
              <a:rPr lang="en-US" sz="2400" dirty="0"/>
              <a:t> </a:t>
            </a:r>
            <a:endParaRPr lang="en-US" sz="2400" dirty="0" smtClean="0"/>
          </a:p>
          <a:p>
            <a:pPr lvl="1"/>
            <a:r>
              <a:rPr lang="en-US" sz="2400" b="1" dirty="0"/>
              <a:t>Status indicator lights</a:t>
            </a:r>
            <a:r>
              <a:rPr lang="en-US" sz="2400" dirty="0"/>
              <a:t> 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7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Hub &amp; Repeater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n-US" sz="2600" b="1" dirty="0"/>
              <a:t>What is a Hub?</a:t>
            </a:r>
          </a:p>
          <a:p>
            <a:endParaRPr lang="en-US" sz="2600" dirty="0" smtClean="0"/>
          </a:p>
          <a:p>
            <a:endParaRPr lang="en-US" sz="2600" dirty="0"/>
          </a:p>
          <a:p>
            <a:pPr fontAlgn="base"/>
            <a:r>
              <a:rPr lang="en-US" sz="2600" b="1" dirty="0"/>
              <a:t>Types of Hub</a:t>
            </a:r>
          </a:p>
          <a:p>
            <a:pPr lvl="1"/>
            <a:r>
              <a:rPr lang="en-US" sz="2400" b="1" dirty="0"/>
              <a:t>Active Hub: </a:t>
            </a:r>
            <a:r>
              <a:rPr lang="en-US" sz="2400" b="1" dirty="0" smtClean="0"/>
              <a:t>…</a:t>
            </a:r>
            <a:r>
              <a:rPr lang="en-US" sz="2400" dirty="0" smtClean="0"/>
              <a:t> </a:t>
            </a:r>
            <a:r>
              <a:rPr lang="en-US" sz="2400" dirty="0"/>
              <a:t>requires an external power </a:t>
            </a:r>
            <a:r>
              <a:rPr lang="en-US" sz="2400" dirty="0" smtClean="0"/>
              <a:t>supply</a:t>
            </a:r>
          </a:p>
          <a:p>
            <a:pPr lvl="1"/>
            <a:r>
              <a:rPr lang="en-US" sz="2400" b="1" dirty="0"/>
              <a:t>Passive </a:t>
            </a:r>
            <a:r>
              <a:rPr lang="en-US" sz="2400" b="1" dirty="0" smtClean="0"/>
              <a:t>Hub</a:t>
            </a:r>
          </a:p>
          <a:p>
            <a:pPr lvl="1"/>
            <a:r>
              <a:rPr lang="en-US" sz="2400" b="1" dirty="0"/>
              <a:t>Intelligent </a:t>
            </a:r>
            <a:r>
              <a:rPr lang="en-US" sz="2400" b="1" dirty="0" smtClean="0"/>
              <a:t>Hub</a:t>
            </a:r>
            <a:r>
              <a:rPr lang="en-US" sz="2400" b="1" dirty="0"/>
              <a:t> 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/>
            </a:r>
            <a:br>
              <a:rPr lang="en-US" sz="2600" dirty="0"/>
            </a:b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6211669"/>
            <a:ext cx="777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https://www.geeksforgeeks.org/difference-between-hub-and-repeater/</a:t>
            </a:r>
          </a:p>
        </p:txBody>
      </p:sp>
      <p:pic>
        <p:nvPicPr>
          <p:cNvPr id="1026" name="Picture 2" descr="Hub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600200"/>
            <a:ext cx="3426258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9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 &amp; Repeater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600" b="1" dirty="0"/>
              <a:t>What is a Repeater?</a:t>
            </a:r>
          </a:p>
          <a:p>
            <a:endParaRPr lang="en-US" sz="2600" dirty="0" smtClean="0"/>
          </a:p>
          <a:p>
            <a:endParaRPr lang="en-US" sz="2600" dirty="0"/>
          </a:p>
          <a:p>
            <a:endParaRPr lang="en-US" sz="2600" dirty="0" smtClean="0"/>
          </a:p>
          <a:p>
            <a:pPr fontAlgn="base"/>
            <a:r>
              <a:rPr lang="en-US" sz="2600" b="1" dirty="0"/>
              <a:t>Types of Repeater</a:t>
            </a:r>
          </a:p>
          <a:p>
            <a:pPr lvl="1"/>
            <a:r>
              <a:rPr lang="en-US" sz="2200" dirty="0"/>
              <a:t>Analog Repeater: </a:t>
            </a:r>
            <a:endParaRPr lang="en-US" sz="2200" dirty="0" smtClean="0"/>
          </a:p>
          <a:p>
            <a:pPr lvl="1"/>
            <a:r>
              <a:rPr lang="en-US" sz="2200" dirty="0"/>
              <a:t>Digital Repeater:</a:t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2052" name="Picture 4" descr="Repea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955" y="1969298"/>
            <a:ext cx="4879975" cy="188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038600" y="4035531"/>
            <a:ext cx="42672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Can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we use Hub or Repeater for securing our Network</a:t>
            </a: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Is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there any alternative for Hub and Repeater?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Explain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why the repeater is known as a level-1 relay</a:t>
            </a: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Are </a:t>
            </a:r>
            <a:r>
              <a:rPr lang="en-US" sz="2200" dirty="0">
                <a:solidFill>
                  <a:srgbClr val="FF0000"/>
                </a:solidFill>
                <a:latin typeface="+mj-lt"/>
              </a:rPr>
              <a:t>the switch and repeater the same</a:t>
            </a:r>
            <a:r>
              <a:rPr lang="en-US" sz="2200" dirty="0" smtClean="0">
                <a:solidFill>
                  <a:srgbClr val="FF0000"/>
                </a:solidFill>
                <a:latin typeface="+mj-lt"/>
              </a:rPr>
              <a:t>?</a:t>
            </a:r>
            <a:endParaRPr lang="en-US" sz="22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35042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Transceiver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smtClean="0"/>
              <a:t>A </a:t>
            </a:r>
            <a:r>
              <a:rPr lang="en-US" sz="2600" dirty="0"/>
              <a:t>transceiver is a </a:t>
            </a:r>
            <a:r>
              <a:rPr lang="en-US" sz="2600" dirty="0" err="1"/>
              <a:t>TRANSmitter</a:t>
            </a:r>
            <a:r>
              <a:rPr lang="en-US" sz="2600" dirty="0"/>
              <a:t> </a:t>
            </a:r>
            <a:r>
              <a:rPr lang="en-US" sz="2600" dirty="0" smtClean="0"/>
              <a:t>– receiver</a:t>
            </a:r>
          </a:p>
          <a:p>
            <a:r>
              <a:rPr lang="en-US" sz="2600" dirty="0" smtClean="0"/>
              <a:t>Mechanical Device</a:t>
            </a:r>
            <a:br>
              <a:rPr lang="en-US" sz="2600" dirty="0" smtClean="0"/>
            </a:br>
            <a:endParaRPr lang="en-US" sz="2600" dirty="0" smtClean="0"/>
          </a:p>
          <a:p>
            <a:r>
              <a:rPr lang="en-US" sz="2600" dirty="0"/>
              <a:t>Types of Transceivers</a:t>
            </a:r>
          </a:p>
          <a:p>
            <a:pPr lvl="1"/>
            <a:r>
              <a:rPr lang="en-US" sz="2600" dirty="0" smtClean="0"/>
              <a:t>RF </a:t>
            </a:r>
            <a:r>
              <a:rPr lang="en-US" sz="2600" dirty="0"/>
              <a:t>Transceivers</a:t>
            </a:r>
          </a:p>
          <a:p>
            <a:pPr lvl="1"/>
            <a:r>
              <a:rPr lang="en-US" sz="2600" dirty="0"/>
              <a:t>Fiber Optic Transceiver</a:t>
            </a:r>
          </a:p>
          <a:p>
            <a:pPr lvl="1"/>
            <a:r>
              <a:rPr lang="en-US" sz="2600" dirty="0"/>
              <a:t>Ethernet Transceivers</a:t>
            </a:r>
          </a:p>
          <a:p>
            <a:pPr lvl="1"/>
            <a:r>
              <a:rPr lang="en-US" sz="2600" dirty="0"/>
              <a:t>Wireless Transceivers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348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Transceiver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b="1" dirty="0"/>
              <a:t>Key Features and Functions of Transceivers </a:t>
            </a:r>
            <a:endParaRPr lang="en-US" sz="2600" b="1" dirty="0" smtClean="0"/>
          </a:p>
          <a:p>
            <a:pPr lvl="1"/>
            <a:r>
              <a:rPr lang="en-US" sz="2600" b="1" dirty="0"/>
              <a:t>Modulation and Demodulation: </a:t>
            </a:r>
            <a:endParaRPr lang="en-US" sz="2600" b="1" dirty="0" smtClean="0"/>
          </a:p>
          <a:p>
            <a:pPr lvl="2"/>
            <a:r>
              <a:rPr lang="en-US" sz="2600" dirty="0"/>
              <a:t> </a:t>
            </a:r>
            <a:r>
              <a:rPr lang="en-US" sz="2600" u="sng" dirty="0"/>
              <a:t>Modulation</a:t>
            </a:r>
            <a:r>
              <a:rPr lang="en-US" sz="2600" dirty="0"/>
              <a:t> involves encoding data onto a carrier signal for transmission, while demodulation extracts the original data from received signals</a:t>
            </a:r>
            <a:r>
              <a:rPr lang="en-US" sz="2600" dirty="0" smtClean="0"/>
              <a:t>.</a:t>
            </a:r>
          </a:p>
          <a:p>
            <a:pPr lvl="1"/>
            <a:r>
              <a:rPr lang="en-US" sz="2600" b="1" dirty="0"/>
              <a:t>Signal Amplification</a:t>
            </a:r>
            <a:r>
              <a:rPr lang="en-US" sz="2600" b="1" dirty="0" smtClean="0"/>
              <a:t>:</a:t>
            </a:r>
          </a:p>
          <a:p>
            <a:pPr lvl="1"/>
            <a:r>
              <a:rPr lang="en-US" sz="2600" b="1" dirty="0"/>
              <a:t>Frequency Conversion</a:t>
            </a:r>
            <a:r>
              <a:rPr lang="en-US" sz="2600" b="1" dirty="0" smtClean="0"/>
              <a:t>:</a:t>
            </a:r>
          </a:p>
          <a:p>
            <a:pPr lvl="1"/>
            <a:r>
              <a:rPr lang="en-US" sz="2600" b="1" dirty="0"/>
              <a:t>Signal Encoding/Decoding: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6080944"/>
            <a:ext cx="44492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https://www.geeksforgeeks.org/transceivers/</a:t>
            </a:r>
          </a:p>
        </p:txBody>
      </p:sp>
    </p:spTree>
    <p:extLst>
      <p:ext uri="{BB962C8B-B14F-4D97-AF65-F5344CB8AC3E}">
        <p14:creationId xmlns:p14="http://schemas.microsoft.com/office/powerpoint/2010/main" val="123938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Modulation + Demodulation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3074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19400"/>
            <a:ext cx="7315200" cy="2343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614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Serial vs Parallel Transmission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010"/>
          <a:stretch/>
        </p:blipFill>
        <p:spPr>
          <a:xfrm>
            <a:off x="1987484" y="1219200"/>
            <a:ext cx="5029200" cy="21570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t="12971"/>
          <a:stretch/>
        </p:blipFill>
        <p:spPr>
          <a:xfrm>
            <a:off x="1943881" y="3733801"/>
            <a:ext cx="5036810" cy="23622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958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 smtClean="0"/>
              <a:t>Mobile Phone System</a:t>
            </a:r>
            <a:endParaRPr lang="en-US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Mobile phones </a:t>
            </a:r>
            <a:r>
              <a:rPr lang="en-US" sz="2800" dirty="0"/>
              <a:t>should not be confused with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cordless phones</a:t>
            </a:r>
          </a:p>
          <a:p>
            <a:pPr>
              <a:lnSpc>
                <a:spcPct val="150000"/>
              </a:lnSpc>
            </a:pPr>
            <a:r>
              <a:rPr lang="en-US" sz="2800" dirty="0" smtClean="0"/>
              <a:t>…. it </a:t>
            </a:r>
            <a:r>
              <a:rPr lang="en-US" sz="2800" dirty="0"/>
              <a:t>is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interesting</a:t>
            </a:r>
            <a:r>
              <a:rPr lang="en-US" sz="2800" dirty="0"/>
              <a:t> to note how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political</a:t>
            </a:r>
            <a:r>
              <a:rPr lang="en-US" sz="2800" dirty="0"/>
              <a:t> and tiny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marketing</a:t>
            </a:r>
            <a:r>
              <a:rPr lang="en-US" sz="2800" dirty="0"/>
              <a:t> decisions can </a:t>
            </a:r>
            <a:r>
              <a:rPr lang="en-US" sz="2800" dirty="0" smtClean="0"/>
              <a:t>have a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huge</a:t>
            </a:r>
            <a:r>
              <a:rPr lang="en-US" sz="2800" dirty="0"/>
              <a:t>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impact</a:t>
            </a:r>
            <a:r>
              <a:rPr lang="en-US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48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r>
              <a:rPr lang="en-US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US vs Europe</a:t>
            </a:r>
          </a:p>
          <a:p>
            <a:pPr lvl="1"/>
            <a:r>
              <a:rPr lang="en-US" dirty="0" smtClean="0"/>
              <a:t>Purchased in California </a:t>
            </a:r>
            <a:r>
              <a:rPr lang="en-US" dirty="0"/>
              <a:t>also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worked</a:t>
            </a:r>
            <a:r>
              <a:rPr lang="en-US" dirty="0"/>
              <a:t> </a:t>
            </a:r>
            <a:r>
              <a:rPr lang="en-US" dirty="0" smtClean="0"/>
              <a:t>in New York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Europe</a:t>
            </a:r>
            <a:r>
              <a:rPr lang="en-US" dirty="0"/>
              <a:t>, every country </a:t>
            </a:r>
            <a:r>
              <a:rPr lang="en-US" dirty="0" smtClean="0"/>
              <a:t>devised its </a:t>
            </a:r>
            <a:r>
              <a:rPr lang="en-US" dirty="0"/>
              <a:t>own system, which resulted in a </a:t>
            </a:r>
            <a:r>
              <a:rPr lang="en-US" dirty="0" smtClean="0"/>
              <a:t>fiasco (mess/ disaster).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the U.S., mobile phones are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mixed</a:t>
            </a:r>
            <a:r>
              <a:rPr lang="en-US" dirty="0"/>
              <a:t> in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with</a:t>
            </a:r>
            <a:r>
              <a:rPr lang="en-US" dirty="0"/>
              <a:t>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regular</a:t>
            </a:r>
            <a:r>
              <a:rPr lang="en-US" dirty="0"/>
              <a:t> (fixed) </a:t>
            </a:r>
            <a:r>
              <a:rPr lang="en-US" dirty="0" smtClean="0"/>
              <a:t>telephones – (</a:t>
            </a:r>
            <a:r>
              <a:rPr lang="en-US" dirty="0"/>
              <a:t>212) </a:t>
            </a:r>
            <a:r>
              <a:rPr lang="en-US" dirty="0" smtClean="0"/>
              <a:t>234-5678</a:t>
            </a:r>
          </a:p>
          <a:p>
            <a:pPr lvl="1"/>
            <a:r>
              <a:rPr lang="en-US" dirty="0" smtClean="0"/>
              <a:t>In </a:t>
            </a:r>
            <a:r>
              <a:rPr lang="en-US" dirty="0"/>
              <a:t>Europe, mobile phone numbers have a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special</a:t>
            </a:r>
            <a:r>
              <a:rPr lang="en-US" dirty="0"/>
              <a:t>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area</a:t>
            </a:r>
            <a:r>
              <a:rPr lang="en-US" dirty="0"/>
              <a:t>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code</a:t>
            </a:r>
            <a:r>
              <a:rPr lang="en-US" dirty="0"/>
              <a:t> (</a:t>
            </a:r>
            <a:r>
              <a:rPr lang="en-US" dirty="0" smtClean="0"/>
              <a:t>analogous to </a:t>
            </a:r>
            <a:r>
              <a:rPr lang="en-US" dirty="0"/>
              <a:t>800 and 900 </a:t>
            </a:r>
            <a:r>
              <a:rPr lang="en-US" dirty="0" smtClean="0"/>
              <a:t>numbers)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…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prepaid</a:t>
            </a:r>
            <a:r>
              <a:rPr lang="en-US" dirty="0" smtClean="0"/>
              <a:t>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mobile</a:t>
            </a:r>
            <a:r>
              <a:rPr lang="en-US" dirty="0"/>
              <a:t> </a:t>
            </a:r>
            <a:r>
              <a:rPr lang="en-US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phones</a:t>
            </a:r>
            <a:r>
              <a:rPr lang="en-US" dirty="0"/>
              <a:t> in </a:t>
            </a:r>
            <a:r>
              <a:rPr lang="en-US" dirty="0">
                <a:solidFill>
                  <a:srgbClr val="FF0000"/>
                </a:solidFill>
              </a:rPr>
              <a:t>Europe</a:t>
            </a:r>
            <a:r>
              <a:rPr lang="en-US" dirty="0"/>
              <a:t> (up to 75% in some areas).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2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dirty="0"/>
              <a:t>Mobile Phone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Mobile phones (sometimes called cell phones)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three distinct generations</a:t>
            </a:r>
            <a:r>
              <a:rPr lang="en-US" sz="2800" dirty="0"/>
              <a:t>, widely called 1G, 2G, and 3G. The generations are: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Analog </a:t>
            </a:r>
            <a:r>
              <a:rPr lang="en-US" dirty="0"/>
              <a:t>voice.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Digital </a:t>
            </a:r>
            <a:r>
              <a:rPr lang="en-US" dirty="0"/>
              <a:t>voice.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Digital </a:t>
            </a:r>
            <a:r>
              <a:rPr lang="en-US" dirty="0"/>
              <a:t>voice and data (Internet, email,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1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r>
              <a:rPr lang="en-US" smtClean="0"/>
              <a:t> of 21</a:t>
            </a:r>
            <a:endParaRPr lang="en-US" dirty="0"/>
          </a:p>
        </p:txBody>
      </p:sp>
      <p:pic>
        <p:nvPicPr>
          <p:cNvPr id="1026" name="Picture 2" descr="https://www.exam-labs.com/blog/wp-content/uploads/2025/04/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7365"/>
            <a:ext cx="6095999" cy="685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78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/>
              <a:t>First-Generation (1G) Mobile Phones: Analog Voice</a:t>
            </a:r>
            <a:endParaRPr lang="en-US" sz="28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1946</a:t>
            </a:r>
            <a:r>
              <a:rPr lang="en-US" sz="2400" dirty="0"/>
              <a:t>, the first system for car-based </a:t>
            </a:r>
            <a:r>
              <a:rPr lang="en-US" sz="2400" dirty="0" smtClean="0"/>
              <a:t>telephones was </a:t>
            </a:r>
            <a:r>
              <a:rPr lang="en-US" sz="2400" dirty="0"/>
              <a:t>set up in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`</a:t>
            </a:r>
            <a:r>
              <a:rPr lang="en-US" sz="24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…single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large transmitter </a:t>
            </a:r>
            <a:r>
              <a:rPr lang="en-US" sz="2400" dirty="0"/>
              <a:t>on </a:t>
            </a:r>
            <a:r>
              <a:rPr lang="en-US" sz="2400" dirty="0" smtClean="0"/>
              <a:t>top of </a:t>
            </a:r>
            <a:r>
              <a:rPr lang="en-US" sz="2400" dirty="0"/>
              <a:t>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tall building </a:t>
            </a:r>
            <a:r>
              <a:rPr lang="en-US" sz="2400" dirty="0" smtClean="0"/>
              <a:t>+ 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had </a:t>
            </a:r>
            <a:r>
              <a:rPr lang="en-US" sz="2400" dirty="0"/>
              <a:t>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single channel</a:t>
            </a:r>
            <a:r>
              <a:rPr lang="en-US" sz="2400" dirty="0"/>
              <a:t>, used for both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sending</a:t>
            </a:r>
            <a:r>
              <a:rPr lang="en-US" sz="2400" dirty="0"/>
              <a:t> and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receiving</a:t>
            </a:r>
            <a:r>
              <a:rPr lang="en-US" sz="24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push-to-talk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systems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effectLst/>
              </a:rPr>
              <a:t>In 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1960s</a:t>
            </a:r>
            <a:r>
              <a:rPr lang="en-US" sz="2400" dirty="0">
                <a:effectLst/>
              </a:rPr>
              <a:t>,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IMTS</a:t>
            </a:r>
            <a:r>
              <a:rPr lang="en-US" sz="2400" dirty="0">
                <a:effectLst/>
              </a:rPr>
              <a:t> (Improved Mobile Telephone System</a:t>
            </a:r>
            <a:r>
              <a:rPr lang="en-US" sz="2400" dirty="0" smtClean="0">
                <a:effectLst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IMTS</a:t>
            </a:r>
            <a:r>
              <a:rPr lang="en-US" sz="2400" dirty="0">
                <a:effectLst/>
              </a:rPr>
              <a:t> supported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23</a:t>
            </a:r>
            <a:r>
              <a:rPr lang="en-US" sz="2400" dirty="0">
                <a:effectLst/>
              </a:rPr>
              <a:t> channels </a:t>
            </a:r>
            <a:r>
              <a:rPr lang="en-US" sz="2400" dirty="0" smtClean="0">
                <a:effectLst/>
              </a:rPr>
              <a:t>… </a:t>
            </a:r>
            <a:r>
              <a:rPr lang="en-US" sz="2400" dirty="0">
                <a:effectLst/>
              </a:rPr>
              <a:t>from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150 MHz to 450 </a:t>
            </a:r>
            <a:r>
              <a:rPr lang="en-US" sz="2400" b="1" dirty="0" err="1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MHz</a:t>
            </a:r>
            <a:r>
              <a:rPr lang="en-US" sz="2400" dirty="0" err="1">
                <a:effectLst/>
              </a:rPr>
              <a:t>.</a:t>
            </a:r>
            <a:endParaRPr lang="en-US" sz="24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04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Advanced Mobile Phone System (AMPS</a:t>
            </a:r>
            <a:r>
              <a:rPr lang="en-US" sz="2400" dirty="0" smtClean="0"/>
              <a:t>)- Bell labs</a:t>
            </a:r>
          </a:p>
          <a:p>
            <a:r>
              <a:rPr lang="en-US" sz="2400" dirty="0" smtClean="0"/>
              <a:t>Installed in 1982</a:t>
            </a:r>
          </a:p>
          <a:p>
            <a:pPr lvl="1"/>
            <a:r>
              <a:rPr lang="en-US" sz="2000" dirty="0" smtClean="0"/>
              <a:t>Europe – TACS</a:t>
            </a:r>
          </a:p>
          <a:p>
            <a:pPr lvl="1"/>
            <a:r>
              <a:rPr lang="en-US" sz="2000" dirty="0" smtClean="0"/>
              <a:t>Japan – MCS-L1</a:t>
            </a:r>
          </a:p>
          <a:p>
            <a:pPr lvl="1"/>
            <a:r>
              <a:rPr lang="en-US" sz="2000" dirty="0" smtClean="0"/>
              <a:t>Retired 2008</a:t>
            </a:r>
          </a:p>
          <a:p>
            <a:pPr lvl="1"/>
            <a:endParaRPr lang="en-US" sz="2000" dirty="0"/>
          </a:p>
          <a:p>
            <a:r>
              <a:rPr lang="en-US" sz="2400" dirty="0" smtClean="0"/>
              <a:t>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geographic region </a:t>
            </a:r>
            <a:r>
              <a:rPr lang="en-US" sz="2400" dirty="0"/>
              <a:t>is divided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up </a:t>
            </a:r>
            <a:r>
              <a:rPr lang="en-US" sz="2400" dirty="0"/>
              <a:t>into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cells</a:t>
            </a:r>
          </a:p>
          <a:p>
            <a:r>
              <a:rPr lang="en-US" sz="2400" dirty="0" smtClean="0"/>
              <a:t>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AMPS</a:t>
            </a:r>
            <a:r>
              <a:rPr lang="en-US" sz="2400" dirty="0"/>
              <a:t>, the </a:t>
            </a:r>
            <a:r>
              <a:rPr lang="en-US" sz="2400" dirty="0" smtClean="0"/>
              <a:t>cells are </a:t>
            </a:r>
            <a:r>
              <a:rPr lang="en-US" sz="2400" dirty="0"/>
              <a:t>typically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10 </a:t>
            </a:r>
            <a:r>
              <a:rPr lang="en-US" sz="2400" dirty="0"/>
              <a:t>to 20 km across;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digital systems, the cells are </a:t>
            </a:r>
            <a:r>
              <a:rPr lang="en-US" sz="2400" dirty="0" smtClean="0"/>
              <a:t>smaller</a:t>
            </a:r>
          </a:p>
          <a:p>
            <a:r>
              <a:rPr lang="en-US" sz="2400" dirty="0"/>
              <a:t>The key </a:t>
            </a:r>
            <a:r>
              <a:rPr lang="en-US" sz="2400" dirty="0" smtClean="0"/>
              <a:t>idea that </a:t>
            </a:r>
            <a:r>
              <a:rPr lang="en-US" sz="2400" dirty="0"/>
              <a:t>gives cellular </a:t>
            </a:r>
            <a:r>
              <a:rPr lang="en-US" sz="2400" dirty="0" smtClean="0"/>
              <a:t>systems  more capacity </a:t>
            </a:r>
            <a:r>
              <a:rPr lang="en-US" sz="2400" dirty="0"/>
              <a:t>than previous systems is the use </a:t>
            </a:r>
            <a:r>
              <a:rPr lang="en-US" sz="2400" dirty="0" smtClean="0"/>
              <a:t>of relatively </a:t>
            </a:r>
            <a:r>
              <a:rPr lang="en-US" sz="2400" dirty="0"/>
              <a:t>small cells and the reuse of transmission frequencies in nearby (but </a:t>
            </a:r>
            <a:r>
              <a:rPr lang="en-US" sz="2400" dirty="0" smtClean="0"/>
              <a:t>nonadjacent) </a:t>
            </a:r>
            <a:r>
              <a:rPr lang="en-US" sz="2400" dirty="0"/>
              <a:t>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6480" b="22922"/>
          <a:stretch/>
        </p:blipFill>
        <p:spPr>
          <a:xfrm>
            <a:off x="5334000" y="990600"/>
            <a:ext cx="3429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69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9" y="381000"/>
            <a:ext cx="5105400" cy="260883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38800" y="533400"/>
            <a:ext cx="3581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cells are </a:t>
            </a:r>
            <a:r>
              <a:rPr lang="en-US" sz="2800" dirty="0" smtClean="0"/>
              <a:t>normally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roughly</a:t>
            </a:r>
            <a:r>
              <a:rPr lang="en-US" sz="2800" dirty="0" smtClean="0"/>
              <a:t>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circular</a:t>
            </a:r>
            <a:r>
              <a:rPr lang="en-US" sz="2800" dirty="0"/>
              <a:t>, but they are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easier</a:t>
            </a:r>
            <a:r>
              <a:rPr lang="en-US" sz="2800" dirty="0"/>
              <a:t> to model as </a:t>
            </a:r>
            <a:r>
              <a:rPr lang="en-US" sz="28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hexagons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76600"/>
            <a:ext cx="8458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They are </a:t>
            </a:r>
            <a:r>
              <a:rPr lang="en-US" sz="32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grouped</a:t>
            </a:r>
            <a:r>
              <a:rPr lang="en-US" sz="3200" dirty="0"/>
              <a:t> in units of </a:t>
            </a:r>
            <a:r>
              <a:rPr lang="en-US" sz="32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seven cells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Each </a:t>
            </a:r>
            <a:r>
              <a:rPr lang="en-US" sz="32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letter</a:t>
            </a:r>
            <a:r>
              <a:rPr lang="en-US" sz="3200" dirty="0" smtClean="0"/>
              <a:t> </a:t>
            </a:r>
            <a:r>
              <a:rPr lang="en-US" sz="3200" dirty="0"/>
              <a:t>indicates a </a:t>
            </a:r>
            <a:r>
              <a:rPr lang="en-US" sz="32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group</a:t>
            </a:r>
            <a:r>
              <a:rPr lang="en-US" sz="3200" dirty="0"/>
              <a:t> of </a:t>
            </a:r>
            <a:r>
              <a:rPr lang="en-US" sz="32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frequencies</a:t>
            </a:r>
            <a:r>
              <a:rPr lang="en-US" sz="3200" dirty="0"/>
              <a:t>. </a:t>
            </a:r>
            <a:endParaRPr lang="en-US" sz="32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 smtClean="0"/>
              <a:t>… </a:t>
            </a:r>
            <a:r>
              <a:rPr lang="en-US" sz="3200" dirty="0"/>
              <a:t>there </a:t>
            </a:r>
            <a:r>
              <a:rPr lang="en-US" sz="3200" dirty="0" smtClean="0"/>
              <a:t>is a </a:t>
            </a:r>
            <a:r>
              <a:rPr lang="en-US" sz="3200" dirty="0"/>
              <a:t>buffer about two cells wide </a:t>
            </a:r>
            <a:r>
              <a:rPr lang="en-US" sz="3200" dirty="0" smtClean="0"/>
              <a:t>…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7433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57200"/>
            <a:ext cx="5486400" cy="5059363"/>
          </a:xfrm>
        </p:spPr>
        <p:txBody>
          <a:bodyPr>
            <a:noAutofit/>
          </a:bodyPr>
          <a:lstStyle/>
          <a:p>
            <a:r>
              <a:rPr lang="en-US" sz="2400" dirty="0"/>
              <a:t>At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the center of each cell </a:t>
            </a:r>
            <a:r>
              <a:rPr lang="en-US" sz="2400" dirty="0"/>
              <a:t>is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base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station</a:t>
            </a:r>
            <a:r>
              <a:rPr lang="en-US" sz="2400" dirty="0"/>
              <a:t> to which all the telephones in </a:t>
            </a:r>
            <a:r>
              <a:rPr lang="en-US" sz="2400" dirty="0" smtClean="0"/>
              <a:t>the cell </a:t>
            </a:r>
            <a:r>
              <a:rPr lang="en-US" sz="2400" dirty="0"/>
              <a:t>transmit.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base station consists of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computer</a:t>
            </a:r>
            <a:r>
              <a:rPr lang="en-US" sz="2400" dirty="0"/>
              <a:t> and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transmitter/receiver</a:t>
            </a:r>
            <a:r>
              <a:rPr lang="en-US" sz="2400" dirty="0" smtClean="0"/>
              <a:t> connected </a:t>
            </a:r>
            <a:r>
              <a:rPr lang="en-US" sz="2400" dirty="0"/>
              <a:t>to an antenna.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 small system</a:t>
            </a:r>
            <a:r>
              <a:rPr lang="en-US" sz="2400" dirty="0"/>
              <a:t>, all the base stations are connected </a:t>
            </a:r>
            <a:r>
              <a:rPr lang="en-US" sz="2400" dirty="0" smtClean="0"/>
              <a:t>to a </a:t>
            </a:r>
            <a:r>
              <a:rPr lang="en-US" sz="2400" dirty="0"/>
              <a:t>single device called an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MSC (Mobile Switching Center)</a:t>
            </a:r>
            <a:r>
              <a:rPr lang="en-US" sz="2400" dirty="0"/>
              <a:t> or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MTSO (Mobile Telephone Switching Office</a:t>
            </a:r>
            <a:r>
              <a:rPr lang="en-US" sz="2400" dirty="0"/>
              <a:t>). </a:t>
            </a:r>
            <a:endParaRPr lang="en-US" sz="2400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a larger one,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several MSCs may be needed</a:t>
            </a:r>
            <a:r>
              <a:rPr lang="en-US" sz="2400" dirty="0"/>
              <a:t>, </a:t>
            </a:r>
            <a:r>
              <a:rPr lang="en-US" sz="2400" dirty="0" smtClean="0"/>
              <a:t>all of </a:t>
            </a:r>
            <a:r>
              <a:rPr lang="en-US" sz="2400" dirty="0"/>
              <a:t>which are connected to a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second-level MSC,</a:t>
            </a:r>
            <a:r>
              <a:rPr lang="en-US" sz="2400" dirty="0"/>
              <a:t> and so on. 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6480" b="22922"/>
          <a:stretch/>
        </p:blipFill>
        <p:spPr>
          <a:xfrm>
            <a:off x="6343244" y="294743"/>
            <a:ext cx="2553511" cy="2667000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7073" y="3124200"/>
            <a:ext cx="3816927" cy="1435425"/>
          </a:xfrm>
          <a:prstGeom prst="rect">
            <a:avLst/>
          </a:prstGeom>
        </p:spPr>
      </p:pic>
      <p:sp>
        <p:nvSpPr>
          <p:cNvPr id="2" name="Hexagon 1"/>
          <p:cNvSpPr/>
          <p:nvPr/>
        </p:nvSpPr>
        <p:spPr>
          <a:xfrm>
            <a:off x="7006936" y="1209773"/>
            <a:ext cx="457200" cy="457200"/>
          </a:xfrm>
          <a:prstGeom prst="hexagon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8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6324600" cy="4525963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At any instant</a:t>
            </a:r>
            <a:r>
              <a:rPr lang="en-US" sz="2400" dirty="0"/>
              <a:t>, each mobile telephone is logically in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one specific cell </a:t>
            </a:r>
            <a:r>
              <a:rPr lang="en-US" sz="2400" dirty="0"/>
              <a:t>and </a:t>
            </a:r>
            <a:r>
              <a:rPr lang="en-US" sz="2400" dirty="0" smtClean="0"/>
              <a:t>under the </a:t>
            </a:r>
            <a:r>
              <a:rPr lang="en-US" sz="2400" dirty="0"/>
              <a:t>control of that cell’s base </a:t>
            </a:r>
            <a:r>
              <a:rPr lang="en-US" sz="2400" dirty="0" smtClean="0"/>
              <a:t>station.</a:t>
            </a:r>
          </a:p>
          <a:p>
            <a:r>
              <a:rPr lang="en-US" sz="2400" dirty="0" smtClean="0"/>
              <a:t>When </a:t>
            </a:r>
            <a:r>
              <a:rPr lang="en-US" sz="2400" dirty="0"/>
              <a:t>a mobile telephone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physically leaves </a:t>
            </a:r>
            <a:r>
              <a:rPr lang="en-US" sz="2400" dirty="0"/>
              <a:t>a </a:t>
            </a:r>
            <a:r>
              <a:rPr lang="en-US" sz="2400" dirty="0" smtClean="0"/>
              <a:t>cell ….</a:t>
            </a:r>
          </a:p>
          <a:p>
            <a:r>
              <a:rPr lang="en-US" sz="2400" dirty="0" smtClean="0"/>
              <a:t>….the </a:t>
            </a:r>
            <a:r>
              <a:rPr lang="en-US" sz="2400" dirty="0"/>
              <a:t>base station then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transfers ownership </a:t>
            </a:r>
            <a:r>
              <a:rPr lang="en-US" sz="2400" dirty="0"/>
              <a:t>to the cell </a:t>
            </a:r>
            <a:r>
              <a:rPr lang="en-US" sz="2400" dirty="0" smtClean="0"/>
              <a:t>getting the </a:t>
            </a:r>
            <a:r>
              <a:rPr lang="en-US" sz="2400" dirty="0"/>
              <a:t>strongest signal;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telephone is then informed of its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new boss</a:t>
            </a:r>
            <a:r>
              <a:rPr lang="en-US" sz="2400" dirty="0" smtClean="0"/>
              <a:t>,…</a:t>
            </a:r>
          </a:p>
          <a:p>
            <a:r>
              <a:rPr lang="en-US" sz="2400" dirty="0" smtClean="0"/>
              <a:t>This </a:t>
            </a:r>
            <a:r>
              <a:rPr lang="en-US" sz="2400" dirty="0"/>
              <a:t>process, called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handoff</a:t>
            </a:r>
            <a:r>
              <a:rPr lang="en-US" sz="2400" dirty="0"/>
              <a:t>, takes </a:t>
            </a:r>
            <a:r>
              <a:rPr lang="en-US" sz="2400" dirty="0" smtClean="0"/>
              <a:t>about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300 msec.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Channel assignment is done by 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MSC</a:t>
            </a:r>
            <a:r>
              <a:rPr lang="en-US" sz="2400" dirty="0"/>
              <a:t>, the nerve center of the system.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base stations </a:t>
            </a:r>
            <a:r>
              <a:rPr lang="en-US" sz="2400" dirty="0"/>
              <a:t>are really just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dumb rad</a:t>
            </a:r>
            <a:r>
              <a:rPr lang="en-US" sz="2400" dirty="0"/>
              <a:t>io relays.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r>
              <a:rPr lang="en-US" dirty="0" smtClean="0"/>
              <a:t> of 21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1371600"/>
            <a:ext cx="2908823" cy="3048000"/>
          </a:xfrm>
          <a:prstGeom prst="rect">
            <a:avLst/>
          </a:prstGeom>
        </p:spPr>
      </p:pic>
      <p:sp>
        <p:nvSpPr>
          <p:cNvPr id="6" name="Hexagon 5"/>
          <p:cNvSpPr/>
          <p:nvPr/>
        </p:nvSpPr>
        <p:spPr>
          <a:xfrm>
            <a:off x="7019827" y="2438400"/>
            <a:ext cx="457200" cy="457200"/>
          </a:xfrm>
          <a:prstGeom prst="hexagon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Hexagon 6"/>
          <p:cNvSpPr/>
          <p:nvPr/>
        </p:nvSpPr>
        <p:spPr>
          <a:xfrm>
            <a:off x="7016363" y="2895600"/>
            <a:ext cx="457200" cy="457200"/>
          </a:xfrm>
          <a:prstGeom prst="hexagon">
            <a:avLst/>
          </a:prstGeom>
          <a:solidFill>
            <a:srgbClr val="FF0000">
              <a:alpha val="2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92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AMPS</a:t>
            </a:r>
            <a:r>
              <a:rPr lang="en-US" sz="2400" dirty="0"/>
              <a:t> uses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FDM</a:t>
            </a:r>
            <a:r>
              <a:rPr lang="en-US" sz="2400" dirty="0"/>
              <a:t> to separate the </a:t>
            </a:r>
            <a:r>
              <a:rPr lang="en-US" sz="2400" dirty="0" smtClean="0"/>
              <a:t>channels</a:t>
            </a:r>
          </a:p>
          <a:p>
            <a:r>
              <a:rPr lang="en-US" sz="2400" dirty="0" smtClean="0"/>
              <a:t>..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832</a:t>
            </a:r>
            <a:r>
              <a:rPr lang="en-US" sz="2400" dirty="0" smtClean="0"/>
              <a:t> full-duplex channels,</a:t>
            </a:r>
          </a:p>
          <a:p>
            <a:r>
              <a:rPr lang="en-US" sz="2400" dirty="0" smtClean="0"/>
              <a:t>…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824 to 849 MHz </a:t>
            </a:r>
            <a:r>
              <a:rPr lang="en-US" sz="2400" dirty="0"/>
              <a:t>are used for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mobile to base station</a:t>
            </a:r>
            <a:r>
              <a:rPr lang="en-US" sz="2400" dirty="0" smtClean="0"/>
              <a:t>, </a:t>
            </a:r>
          </a:p>
          <a:p>
            <a:r>
              <a:rPr lang="en-US" sz="2400" dirty="0" smtClean="0"/>
              <a:t>…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869 to 894 MHz </a:t>
            </a:r>
            <a:r>
              <a:rPr lang="en-US" sz="2400" dirty="0"/>
              <a:t>are used for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base station to mobile</a:t>
            </a:r>
          </a:p>
          <a:p>
            <a:r>
              <a:rPr lang="en-US" sz="2400" dirty="0" smtClean="0"/>
              <a:t>…is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30 kHz </a:t>
            </a:r>
            <a:r>
              <a:rPr lang="en-US" sz="2400" dirty="0" smtClean="0"/>
              <a:t>wide</a:t>
            </a:r>
          </a:p>
          <a:p>
            <a:r>
              <a:rPr lang="en-US" sz="2400" dirty="0"/>
              <a:t>The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832</a:t>
            </a:r>
            <a:r>
              <a:rPr lang="en-US" sz="2400" dirty="0"/>
              <a:t> channels are divided into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four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categories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Control channels (base to mobile) </a:t>
            </a:r>
            <a:r>
              <a:rPr lang="en-US" sz="2400" dirty="0"/>
              <a:t>are used to manage the system.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Paging channels (base to mobile) </a:t>
            </a:r>
            <a:r>
              <a:rPr lang="en-US" sz="2400" dirty="0" smtClean="0"/>
              <a:t>alert mobile </a:t>
            </a:r>
            <a:r>
              <a:rPr lang="en-US" sz="2400" dirty="0"/>
              <a:t>users to calls for them.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Access channels (bidirectional</a:t>
            </a:r>
            <a:r>
              <a:rPr lang="en-US" sz="2400" dirty="0"/>
              <a:t>) are used for </a:t>
            </a:r>
            <a:r>
              <a:rPr lang="en-US" sz="2400" dirty="0" smtClean="0"/>
              <a:t>call setup </a:t>
            </a:r>
            <a:r>
              <a:rPr lang="en-US" sz="2400" dirty="0"/>
              <a:t>and channel assignment. </a:t>
            </a:r>
            <a:endParaRPr lang="en-US" sz="24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Finally</a:t>
            </a:r>
            <a:r>
              <a:rPr lang="en-US" sz="2400" dirty="0"/>
              <a:t>,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data</a:t>
            </a:r>
            <a:r>
              <a:rPr lang="en-US" sz="2400" dirty="0"/>
              <a:t> 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channels</a:t>
            </a:r>
            <a:r>
              <a:rPr lang="en-US" sz="2400" dirty="0"/>
              <a:t> (</a:t>
            </a: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bidirectional</a:t>
            </a:r>
            <a:r>
              <a:rPr lang="en-US" sz="2400" dirty="0"/>
              <a:t>) carry voice</a:t>
            </a:r>
            <a:r>
              <a:rPr lang="en-US" sz="2400" dirty="0" smtClean="0"/>
              <a:t>,  fax</a:t>
            </a:r>
            <a:r>
              <a:rPr lang="en-US" sz="2400" dirty="0"/>
              <a:t>, or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57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1" cap="small" dirty="0" smtClean="0"/>
              <a:t>Second-Generation (2G) Mobile Phones: Digital Voice</a:t>
            </a:r>
            <a:endParaRPr lang="en-US" sz="2800" cap="smal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03" y="1476801"/>
            <a:ext cx="8229600" cy="4525963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1G</a:t>
            </a:r>
            <a:r>
              <a:rPr lang="en-US" sz="2400" dirty="0" smtClean="0"/>
              <a:t>: Analog voice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2G</a:t>
            </a:r>
            <a:r>
              <a:rPr lang="en-US" sz="2400" dirty="0" smtClean="0"/>
              <a:t>: Digital voice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It provides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capacity gains </a:t>
            </a:r>
            <a:r>
              <a:rPr lang="en-US" sz="2400" dirty="0" smtClean="0"/>
              <a:t>by allowing voice signals to be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digitized</a:t>
            </a:r>
            <a:r>
              <a:rPr lang="en-US" sz="2400" dirty="0" smtClean="0"/>
              <a:t> and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compressed</a:t>
            </a:r>
            <a:r>
              <a:rPr lang="en-US" sz="2400" dirty="0" smtClean="0"/>
              <a:t>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It improves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security</a:t>
            </a:r>
            <a:r>
              <a:rPr lang="en-US" sz="2400" dirty="0" smtClean="0"/>
              <a:t> by allowing voice and control signals to be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encrypted</a:t>
            </a:r>
            <a:r>
              <a:rPr lang="en-US" sz="2400" dirty="0" smtClean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smtClean="0"/>
              <a:t>Finally, it enables new services such as 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text messaging</a:t>
            </a:r>
          </a:p>
          <a:p>
            <a:pPr marL="400050"/>
            <a:endParaRPr lang="en-US" sz="2400" dirty="0" smtClean="0"/>
          </a:p>
          <a:p>
            <a:pPr marL="400050"/>
            <a:r>
              <a:rPr lang="en-US" sz="2400" dirty="0" smtClean="0"/>
              <a:t>…</a:t>
            </a:r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no worldwide standardization </a:t>
            </a:r>
            <a:r>
              <a:rPr lang="en-US" sz="2400" dirty="0" smtClean="0"/>
              <a:t>during the second</a:t>
            </a:r>
          </a:p>
          <a:p>
            <a:pPr marL="400050"/>
            <a:endParaRPr lang="en-US" sz="2400" dirty="0" smtClean="0"/>
          </a:p>
          <a:p>
            <a:pPr marL="400050"/>
            <a:r>
              <a:rPr lang="en-US" sz="2400" b="1" dirty="0" smtClean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DAMPS (Digital Advanced Mobile Phone System) - </a:t>
            </a:r>
            <a:r>
              <a:rPr lang="en-US" sz="2400" dirty="0" smtClean="0">
                <a:effectLst/>
              </a:rPr>
              <a:t>coexists with AMPS and uses TDM to place multiple calls on the same frequency channel</a:t>
            </a:r>
            <a:endParaRPr lang="en-US" sz="240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r>
              <a:rPr lang="en-US" dirty="0" smtClean="0"/>
              <a:t> of 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8153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524000"/>
            <a:ext cx="6248400" cy="23498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r>
              <a:rPr lang="en-US" dirty="0" smtClean="0"/>
              <a:t> of 21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42991" y="457200"/>
            <a:ext cx="8343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GSM</a:t>
            </a:r>
            <a:r>
              <a:rPr lang="en-US" sz="2400" dirty="0"/>
              <a:t> (Global System for Mobile communications</a:t>
            </a:r>
            <a:r>
              <a:rPr lang="en-US" sz="2400" dirty="0" smtClean="0"/>
              <a:t>) –Europe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CDMA</a:t>
            </a:r>
            <a:r>
              <a:rPr lang="en-US" sz="2400" dirty="0"/>
              <a:t> (Code Division Multiple Access</a:t>
            </a:r>
            <a:r>
              <a:rPr lang="en-US" sz="2400" dirty="0" smtClean="0"/>
              <a:t>) - US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342990" y="3962400"/>
            <a:ext cx="83673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SIM</a:t>
            </a:r>
            <a:r>
              <a:rPr lang="en-US" sz="2400" dirty="0"/>
              <a:t> card, short for Subscriber Identity </a:t>
            </a:r>
            <a:r>
              <a:rPr lang="en-US" sz="2400" dirty="0" smtClean="0"/>
              <a:t>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BSC</a:t>
            </a:r>
            <a:r>
              <a:rPr lang="en-US" sz="2400" dirty="0"/>
              <a:t> (</a:t>
            </a:r>
            <a:r>
              <a:rPr lang="en-US" sz="2400" dirty="0" smtClean="0"/>
              <a:t>Base Station </a:t>
            </a:r>
            <a:r>
              <a:rPr lang="en-US" sz="2400" dirty="0"/>
              <a:t>Controller</a:t>
            </a:r>
            <a:r>
              <a:rPr lang="en-US" sz="24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BTS</a:t>
            </a:r>
            <a:r>
              <a:rPr lang="en-US" sz="2400" dirty="0"/>
              <a:t> </a:t>
            </a:r>
            <a:r>
              <a:rPr lang="en-US" sz="2400" dirty="0" smtClean="0"/>
              <a:t>- Base </a:t>
            </a:r>
            <a:r>
              <a:rPr lang="en-US" sz="2400" dirty="0"/>
              <a:t>Transceiver </a:t>
            </a:r>
            <a:r>
              <a:rPr lang="en-US" sz="2400" dirty="0" smtClean="0"/>
              <a:t>Station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VLR</a:t>
            </a:r>
            <a:r>
              <a:rPr lang="en-US" sz="2400" dirty="0"/>
              <a:t> (Visitor Location </a:t>
            </a:r>
            <a:r>
              <a:rPr lang="en-US" sz="2400" dirty="0" smtClean="0"/>
              <a:t>Register)- database </a:t>
            </a:r>
            <a:r>
              <a:rPr lang="en-US" sz="2400" dirty="0"/>
              <a:t>of nearby mobiles that are associated with </a:t>
            </a:r>
            <a:r>
              <a:rPr lang="en-US" sz="2400" dirty="0" smtClean="0"/>
              <a:t>the cells </a:t>
            </a:r>
            <a:r>
              <a:rPr lang="en-US" sz="2400" dirty="0"/>
              <a:t>it </a:t>
            </a:r>
            <a:r>
              <a:rPr lang="en-US" sz="2400" dirty="0" smtClean="0"/>
              <a:t>manages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ffectLst>
                  <a:glow rad="228600">
                    <a:schemeClr val="accent6">
                      <a:satMod val="175000"/>
                      <a:alpha val="40000"/>
                    </a:schemeClr>
                  </a:glow>
                </a:effectLst>
              </a:rPr>
              <a:t>HLR</a:t>
            </a:r>
            <a:r>
              <a:rPr lang="en-US" sz="2400" dirty="0"/>
              <a:t> (Home Location Register</a:t>
            </a:r>
            <a:r>
              <a:rPr lang="en-US" sz="2400" dirty="0" smtClean="0"/>
              <a:t>) - a </a:t>
            </a:r>
            <a:r>
              <a:rPr lang="en-US" sz="2400" dirty="0"/>
              <a:t>database in the mobile network that gives the last known </a:t>
            </a:r>
            <a:r>
              <a:rPr lang="en-US" sz="2400" dirty="0" smtClean="0"/>
              <a:t>location of </a:t>
            </a:r>
            <a:r>
              <a:rPr lang="en-US" sz="2400" dirty="0"/>
              <a:t>each mobile. </a:t>
            </a:r>
          </a:p>
        </p:txBody>
      </p:sp>
    </p:spTree>
    <p:extLst>
      <p:ext uri="{BB962C8B-B14F-4D97-AF65-F5344CB8AC3E}">
        <p14:creationId xmlns:p14="http://schemas.microsoft.com/office/powerpoint/2010/main" val="196573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40580</TotalTime>
  <Words>960</Words>
  <Application>Microsoft Office PowerPoint</Application>
  <PresentationFormat>On-screen Show (4:3)</PresentationFormat>
  <Paragraphs>151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OSI Reference Model</vt:lpstr>
      <vt:lpstr>NIC</vt:lpstr>
      <vt:lpstr>Hub &amp; Repeater</vt:lpstr>
      <vt:lpstr>Hub &amp; Repeater</vt:lpstr>
      <vt:lpstr>Transceiver</vt:lpstr>
      <vt:lpstr>Transceiver</vt:lpstr>
      <vt:lpstr>Modem</vt:lpstr>
      <vt:lpstr>Serial vs Parallel Transmission</vt:lpstr>
      <vt:lpstr>Mobile Phone System</vt:lpstr>
      <vt:lpstr>PowerPoint Presentation</vt:lpstr>
      <vt:lpstr>Mobile Phone System</vt:lpstr>
      <vt:lpstr>PowerPoint Presentation</vt:lpstr>
      <vt:lpstr>First-Generation (1G) Mobile Phones: Analog Voice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Second-Generation (2G) Mobile Phones: Digital Voice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Processing all k-nearest neighbor queries in Hadoop</dc:title>
  <dc:creator>Administrator</dc:creator>
  <cp:lastModifiedBy>Dr. ASIF ZAMAN</cp:lastModifiedBy>
  <cp:revision>867</cp:revision>
  <cp:lastPrinted>2017-11-05T03:12:43Z</cp:lastPrinted>
  <dcterms:created xsi:type="dcterms:W3CDTF">2006-08-16T00:00:00Z</dcterms:created>
  <dcterms:modified xsi:type="dcterms:W3CDTF">2025-11-29T12:28:15Z</dcterms:modified>
</cp:coreProperties>
</file>