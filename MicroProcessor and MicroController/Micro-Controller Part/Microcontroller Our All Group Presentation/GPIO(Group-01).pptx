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ebas Neue Bold" charset="1" panose="020B0606020202050201"/>
      <p:regular r:id="rId18"/>
    </p:embeddedFont>
    <p:embeddedFont>
      <p:font typeface="TT Fors" charset="1" panose="020B0003030001020000"/>
      <p:regular r:id="rId19"/>
    </p:embeddedFont>
    <p:embeddedFont>
      <p:font typeface="TT Fors Bold" charset="1" panose="020B0003030001020000"/>
      <p:regular r:id="rId20"/>
    </p:embeddedFont>
    <p:embeddedFont>
      <p:font typeface="League Spartan" charset="1" panose="00000800000000000000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66518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916760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479057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10306" t="0" r="-10306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038225" y="1228725"/>
            <a:ext cx="6949329" cy="132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30"/>
              </a:lnSpc>
            </a:pPr>
            <a:r>
              <a:rPr lang="en-US" sz="10031" spc="-200" b="true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TITLE: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502700" y="-4791631"/>
            <a:ext cx="4598385" cy="6853961"/>
          </a:xfrm>
          <a:custGeom>
            <a:avLst/>
            <a:gdLst/>
            <a:ahLst/>
            <a:cxnLst/>
            <a:rect r="r" b="b" t="t" l="l"/>
            <a:pathLst>
              <a:path h="6853961" w="4598385">
                <a:moveTo>
                  <a:pt x="0" y="0"/>
                </a:moveTo>
                <a:lnTo>
                  <a:pt x="4598385" y="0"/>
                </a:lnTo>
                <a:lnTo>
                  <a:pt x="4598385" y="6853962"/>
                </a:lnTo>
                <a:lnTo>
                  <a:pt x="0" y="6853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343591" y="8957310"/>
            <a:ext cx="3321592" cy="4950883"/>
          </a:xfrm>
          <a:custGeom>
            <a:avLst/>
            <a:gdLst/>
            <a:ahLst/>
            <a:cxnLst/>
            <a:rect r="r" b="b" t="t" l="l"/>
            <a:pathLst>
              <a:path h="4950883" w="3321592">
                <a:moveTo>
                  <a:pt x="0" y="0"/>
                </a:moveTo>
                <a:lnTo>
                  <a:pt x="3321592" y="0"/>
                </a:lnTo>
                <a:lnTo>
                  <a:pt x="3321592" y="4950883"/>
                </a:lnTo>
                <a:lnTo>
                  <a:pt x="0" y="49508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38225" y="2733778"/>
            <a:ext cx="8636483" cy="960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5"/>
              </a:lnSpc>
            </a:pPr>
            <a:r>
              <a:rPr lang="en-US" sz="3695" spc="184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GENERAL PURPOSE INPUT/OUTPUT (GPIO) PINS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8225" y="6189962"/>
            <a:ext cx="4079365" cy="52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b="true" sz="39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Presented by 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983730"/>
            <a:ext cx="7644931" cy="201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Plabon Dey-2210776118</a:t>
            </a:r>
          </a:p>
          <a:p>
            <a:pPr algn="l">
              <a:lnSpc>
                <a:spcPts val="3959"/>
              </a:lnSpc>
            </a:pPr>
            <a:r>
              <a:rPr lang="en-US" sz="3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Md. Akibuzzaman-2210976128</a:t>
            </a:r>
          </a:p>
          <a:p>
            <a:pPr algn="l">
              <a:lnSpc>
                <a:spcPts val="3959"/>
              </a:lnSpc>
            </a:pPr>
            <a:r>
              <a:rPr lang="en-US" sz="3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Md. Ruhul Amin-2210776147</a:t>
            </a:r>
          </a:p>
          <a:p>
            <a:pPr algn="l">
              <a:lnSpc>
                <a:spcPts val="3959"/>
              </a:lnSpc>
            </a:pPr>
            <a:r>
              <a:rPr lang="en-US" sz="3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Mahfuzur Rahman-2110976149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168757"/>
            <a:ext cx="4079365" cy="52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 b="true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Course name 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7674" y="4989811"/>
            <a:ext cx="8878535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 Microprocessor and Microcontroller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719" y="-3719573"/>
            <a:ext cx="11892632" cy="17726146"/>
          </a:xfrm>
          <a:custGeom>
            <a:avLst/>
            <a:gdLst/>
            <a:ahLst/>
            <a:cxnLst/>
            <a:rect r="r" b="b" t="t" l="l"/>
            <a:pathLst>
              <a:path h="17726146" w="11892632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65183" y="1028700"/>
            <a:ext cx="8229600" cy="82296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C1D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27481" y="1590998"/>
            <a:ext cx="7105005" cy="7105005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2881" t="0" r="-22881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17082" y="4648407"/>
            <a:ext cx="243630" cy="24363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89218" y="896418"/>
            <a:ext cx="8636483" cy="84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6"/>
              </a:lnSpc>
            </a:pPr>
            <a:r>
              <a:rPr lang="en-US" sz="6400" spc="-128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 to GPIO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17793" y="1857491"/>
            <a:ext cx="8818354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GPIO stands for General Purpose Input/Output, which are programmable pins on a microcontroller used to interact with external devices.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4771" y="4500982"/>
            <a:ext cx="770445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GPIO pins can send or receive digital signals.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7068" y="5106137"/>
            <a:ext cx="780789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They connect the microcontroller to external hardware.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4543" y="6148705"/>
            <a:ext cx="771468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Each pin can be controlled individually using software.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6368" y="3765653"/>
            <a:ext cx="4079365" cy="52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 b="true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Key Points: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98032" y="7658735"/>
            <a:ext cx="4079365" cy="52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 b="true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Purpose: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8032" y="8298814"/>
            <a:ext cx="9324674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Allows communication between the microcontroller and external components.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17082" y="5292087"/>
            <a:ext cx="243630" cy="24363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17082" y="6282055"/>
            <a:ext cx="243630" cy="243630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7794B6">
                <a:alpha val="100000"/>
              </a:srgbClr>
            </a:gs>
            <a:gs pos="100000">
              <a:srgbClr val="DFFAFF">
                <a:alpha val="100000"/>
              </a:srgbClr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03005" y="822560"/>
            <a:ext cx="14475420" cy="7654280"/>
          </a:xfrm>
          <a:custGeom>
            <a:avLst/>
            <a:gdLst/>
            <a:ahLst/>
            <a:cxnLst/>
            <a:rect r="r" b="b" t="t" l="l"/>
            <a:pathLst>
              <a:path h="7654280" w="14475420">
                <a:moveTo>
                  <a:pt x="0" y="0"/>
                </a:moveTo>
                <a:lnTo>
                  <a:pt x="14475420" y="0"/>
                </a:lnTo>
                <a:lnTo>
                  <a:pt x="14475420" y="7654280"/>
                </a:lnTo>
                <a:lnTo>
                  <a:pt x="0" y="7654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07" r="0" b="-30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-1971257" y="3121144"/>
            <a:ext cx="7623294" cy="3088098"/>
          </a:xfrm>
          <a:custGeom>
            <a:avLst/>
            <a:gdLst/>
            <a:ahLst/>
            <a:cxnLst/>
            <a:rect r="r" b="b" t="t" l="l"/>
            <a:pathLst>
              <a:path h="3088098" w="7623294">
                <a:moveTo>
                  <a:pt x="0" y="0"/>
                </a:moveTo>
                <a:lnTo>
                  <a:pt x="7623294" y="0"/>
                </a:lnTo>
                <a:lnTo>
                  <a:pt x="7623294" y="3088098"/>
                </a:lnTo>
                <a:lnTo>
                  <a:pt x="0" y="3088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42" t="0" r="0" b="-614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8764907"/>
            <a:ext cx="1828800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Block Representation of the STM32F103C8T6 Microcontroller Built on the ARM Cortex-M3 Architecture.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105613"/>
            <a:ext cx="16230600" cy="2670810"/>
            <a:chOff x="0" y="0"/>
            <a:chExt cx="4274726" cy="7034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703423"/>
            </a:xfrm>
            <a:custGeom>
              <a:avLst/>
              <a:gdLst/>
              <a:ahLst/>
              <a:cxnLst/>
              <a:rect r="r" b="b" t="t" l="l"/>
              <a:pathLst>
                <a:path h="703423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679573"/>
                  </a:lnTo>
                  <a:cubicBezTo>
                    <a:pt x="4274726" y="685899"/>
                    <a:pt x="4272213" y="691965"/>
                    <a:pt x="4267741" y="696438"/>
                  </a:cubicBezTo>
                  <a:cubicBezTo>
                    <a:pt x="4263268" y="700910"/>
                    <a:pt x="4257201" y="703423"/>
                    <a:pt x="4250876" y="703423"/>
                  </a:cubicBezTo>
                  <a:lnTo>
                    <a:pt x="23850" y="703423"/>
                  </a:lnTo>
                  <a:cubicBezTo>
                    <a:pt x="17524" y="703423"/>
                    <a:pt x="11458" y="700910"/>
                    <a:pt x="6985" y="696438"/>
                  </a:cubicBezTo>
                  <a:cubicBezTo>
                    <a:pt x="2513" y="691965"/>
                    <a:pt x="0" y="685899"/>
                    <a:pt x="0" y="67957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274726" cy="703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3972" y="2865618"/>
            <a:ext cx="3415090" cy="673407"/>
            <a:chOff x="0" y="0"/>
            <a:chExt cx="899448" cy="177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9448" cy="177358"/>
            </a:xfrm>
            <a:custGeom>
              <a:avLst/>
              <a:gdLst/>
              <a:ahLst/>
              <a:cxnLst/>
              <a:rect r="r" b="b" t="t" l="l"/>
              <a:pathLst>
                <a:path h="177358" w="899448">
                  <a:moveTo>
                    <a:pt x="0" y="0"/>
                  </a:moveTo>
                  <a:lnTo>
                    <a:pt x="899448" y="0"/>
                  </a:lnTo>
                  <a:lnTo>
                    <a:pt x="899448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899448" cy="177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10695" y="2982612"/>
            <a:ext cx="2821644" cy="42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7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Available Ports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3972" y="3726008"/>
            <a:ext cx="10871822" cy="402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50"/>
              </a:lnSpc>
            </a:pPr>
            <a:r>
              <a:rPr lang="en-US" sz="2600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GPIOA, GPIOB, GPIOC, GPIOD, GPIOE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51143" y="953568"/>
            <a:ext cx="12831273" cy="84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6"/>
              </a:lnSpc>
            </a:pPr>
            <a:r>
              <a:rPr lang="en-US" sz="6400" spc="-128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GP</a:t>
            </a:r>
            <a:r>
              <a:rPr lang="en-US" sz="6400" spc="-128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IO Ports and Pins in STM32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047738"/>
            <a:ext cx="7162144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99"/>
              </a:lnSpc>
            </a:pPr>
            <a:r>
              <a:rPr lang="en-US" sz="31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GPIO pins are organized into ports.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5847" y="4246879"/>
            <a:ext cx="1566586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Each port contains 16 pins.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Each pin is identified by port name and number.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6608427"/>
            <a:ext cx="16230600" cy="2456917"/>
            <a:chOff x="0" y="0"/>
            <a:chExt cx="4274726" cy="6470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274726" cy="647089"/>
            </a:xfrm>
            <a:custGeom>
              <a:avLst/>
              <a:gdLst/>
              <a:ahLst/>
              <a:cxnLst/>
              <a:rect r="r" b="b" t="t" l="l"/>
              <a:pathLst>
                <a:path h="647089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623239"/>
                  </a:lnTo>
                  <a:cubicBezTo>
                    <a:pt x="4274726" y="629565"/>
                    <a:pt x="4272213" y="635631"/>
                    <a:pt x="4267741" y="640104"/>
                  </a:cubicBezTo>
                  <a:cubicBezTo>
                    <a:pt x="4263268" y="644576"/>
                    <a:pt x="4257201" y="647089"/>
                    <a:pt x="4250876" y="647089"/>
                  </a:cubicBezTo>
                  <a:lnTo>
                    <a:pt x="23850" y="647089"/>
                  </a:lnTo>
                  <a:cubicBezTo>
                    <a:pt x="17524" y="647089"/>
                    <a:pt x="11458" y="644576"/>
                    <a:pt x="6985" y="640104"/>
                  </a:cubicBezTo>
                  <a:cubicBezTo>
                    <a:pt x="2513" y="635631"/>
                    <a:pt x="0" y="629565"/>
                    <a:pt x="0" y="623239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274726" cy="647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13972" y="6290773"/>
            <a:ext cx="3415090" cy="673407"/>
            <a:chOff x="0" y="0"/>
            <a:chExt cx="899448" cy="17735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99448" cy="177358"/>
            </a:xfrm>
            <a:custGeom>
              <a:avLst/>
              <a:gdLst/>
              <a:ahLst/>
              <a:cxnLst/>
              <a:rect r="r" b="b" t="t" l="l"/>
              <a:pathLst>
                <a:path h="177358" w="899448">
                  <a:moveTo>
                    <a:pt x="0" y="0"/>
                  </a:moveTo>
                  <a:lnTo>
                    <a:pt x="899448" y="0"/>
                  </a:lnTo>
                  <a:lnTo>
                    <a:pt x="899448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899448" cy="177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477345" y="6357448"/>
            <a:ext cx="2821644" cy="42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7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5847" y="7218027"/>
            <a:ext cx="10871822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PA0, PA1, PA2 … PA15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PB0, PB1, PB2 … PB15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3022" y="8246727"/>
            <a:ext cx="1087182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Each pin can be configured independently.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719" y="-3719573"/>
            <a:ext cx="11892632" cy="17726146"/>
          </a:xfrm>
          <a:custGeom>
            <a:avLst/>
            <a:gdLst/>
            <a:ahLst/>
            <a:cxnLst/>
            <a:rect r="r" b="b" t="t" l="l"/>
            <a:pathLst>
              <a:path h="17726146" w="11892632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9218" y="896418"/>
            <a:ext cx="13230777" cy="84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6"/>
              </a:lnSpc>
            </a:pPr>
            <a:r>
              <a:rPr lang="en-US" sz="6400" spc="-128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GP</a:t>
            </a:r>
            <a:r>
              <a:rPr lang="en-US" sz="6400" spc="-128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IO Operating Modes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17793" y="2362316"/>
            <a:ext cx="17150862" cy="669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79"/>
              </a:lnSpc>
            </a:pPr>
            <a:r>
              <a:rPr lang="en-US" sz="4699" b="true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GPIO pins support four main modes:</a:t>
            </a:r>
          </a:p>
          <a:p>
            <a:pPr algn="just">
              <a:lnSpc>
                <a:spcPts val="6579"/>
              </a:lnSpc>
            </a:pPr>
          </a:p>
          <a:p>
            <a:pPr algn="just" marL="885182" indent="-442591" lvl="1">
              <a:lnSpc>
                <a:spcPts val="5739"/>
              </a:lnSpc>
              <a:buAutoNum type="arabicPeriod" startAt="1"/>
            </a:pPr>
            <a:r>
              <a:rPr lang="en-US" b="true" sz="40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Input Mode</a:t>
            </a:r>
            <a:r>
              <a:rPr lang="en-US" sz="40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 – Reads signals from external devices</a:t>
            </a:r>
          </a:p>
          <a:p>
            <a:pPr algn="just" marL="885182" indent="-442591" lvl="1">
              <a:lnSpc>
                <a:spcPts val="5739"/>
              </a:lnSpc>
              <a:buAutoNum type="arabicPeriod" startAt="1"/>
            </a:pPr>
            <a:r>
              <a:rPr lang="en-US" b="true" sz="40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Output Mode</a:t>
            </a:r>
            <a:r>
              <a:rPr lang="en-US" sz="40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 – Sends signals to external devices</a:t>
            </a:r>
          </a:p>
          <a:p>
            <a:pPr algn="just" marL="885182" indent="-442591" lvl="1">
              <a:lnSpc>
                <a:spcPts val="5739"/>
              </a:lnSpc>
              <a:buAutoNum type="arabicPeriod" startAt="1"/>
            </a:pPr>
            <a:r>
              <a:rPr lang="en-US" b="true" sz="40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Alternate Function Mode</a:t>
            </a:r>
            <a:r>
              <a:rPr lang="en-US" sz="40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 – Used for communication peripherals</a:t>
            </a:r>
          </a:p>
          <a:p>
            <a:pPr algn="just" marL="885182" indent="-442591" lvl="1">
              <a:lnSpc>
                <a:spcPts val="5739"/>
              </a:lnSpc>
              <a:buAutoNum type="arabicPeriod" startAt="1"/>
            </a:pPr>
            <a:r>
              <a:rPr lang="en-US" b="true" sz="40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Analog Mode</a:t>
            </a:r>
            <a:r>
              <a:rPr lang="en-US" sz="40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 – Used for analog signal processing</a:t>
            </a:r>
          </a:p>
          <a:p>
            <a:pPr algn="just">
              <a:lnSpc>
                <a:spcPts val="5739"/>
              </a:lnSpc>
            </a:pPr>
          </a:p>
          <a:p>
            <a:pPr algn="just">
              <a:lnSpc>
                <a:spcPts val="5739"/>
              </a:lnSpc>
            </a:pPr>
            <a:r>
              <a:rPr lang="en-US" sz="40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These modes provide flexibility in hardware interfacing.</a:t>
            </a:r>
          </a:p>
          <a:p>
            <a:pPr algn="just">
              <a:lnSpc>
                <a:spcPts val="573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342978"/>
            <a:ext cx="16230600" cy="1244011"/>
            <a:chOff x="0" y="0"/>
            <a:chExt cx="4274726" cy="3276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327641"/>
            </a:xfrm>
            <a:custGeom>
              <a:avLst/>
              <a:gdLst/>
              <a:ahLst/>
              <a:cxnLst/>
              <a:rect r="r" b="b" t="t" l="l"/>
              <a:pathLst>
                <a:path h="327641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303791"/>
                  </a:lnTo>
                  <a:cubicBezTo>
                    <a:pt x="4274726" y="310116"/>
                    <a:pt x="4272213" y="316183"/>
                    <a:pt x="4267741" y="320655"/>
                  </a:cubicBezTo>
                  <a:cubicBezTo>
                    <a:pt x="4263268" y="325128"/>
                    <a:pt x="4257201" y="327641"/>
                    <a:pt x="4250876" y="327641"/>
                  </a:cubicBezTo>
                  <a:lnTo>
                    <a:pt x="23850" y="327641"/>
                  </a:lnTo>
                  <a:cubicBezTo>
                    <a:pt x="17524" y="327641"/>
                    <a:pt x="11458" y="325128"/>
                    <a:pt x="6985" y="320655"/>
                  </a:cubicBezTo>
                  <a:cubicBezTo>
                    <a:pt x="2513" y="316183"/>
                    <a:pt x="0" y="310116"/>
                    <a:pt x="0" y="303791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274726" cy="32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3972" y="2016141"/>
            <a:ext cx="3415090" cy="673407"/>
            <a:chOff x="0" y="0"/>
            <a:chExt cx="899448" cy="177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99448" cy="177358"/>
            </a:xfrm>
            <a:custGeom>
              <a:avLst/>
              <a:gdLst/>
              <a:ahLst/>
              <a:cxnLst/>
              <a:rect r="r" b="b" t="t" l="l"/>
              <a:pathLst>
                <a:path h="177358" w="899448">
                  <a:moveTo>
                    <a:pt x="0" y="0"/>
                  </a:moveTo>
                  <a:lnTo>
                    <a:pt x="899448" y="0"/>
                  </a:lnTo>
                  <a:lnTo>
                    <a:pt x="899448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899448" cy="177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10695" y="2109616"/>
            <a:ext cx="282164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9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Purpose: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3497" y="2851473"/>
            <a:ext cx="1087182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Used to receive signals from external devices.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51143" y="953568"/>
            <a:ext cx="12831273" cy="84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6"/>
              </a:lnSpc>
            </a:pPr>
            <a:r>
              <a:rPr lang="en-US" sz="6400" spc="-128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Input Mode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4354864"/>
            <a:ext cx="16230600" cy="2228629"/>
            <a:chOff x="0" y="0"/>
            <a:chExt cx="4274726" cy="5869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74726" cy="586964"/>
            </a:xfrm>
            <a:custGeom>
              <a:avLst/>
              <a:gdLst/>
              <a:ahLst/>
              <a:cxnLst/>
              <a:rect r="r" b="b" t="t" l="l"/>
              <a:pathLst>
                <a:path h="586964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63114"/>
                  </a:lnTo>
                  <a:cubicBezTo>
                    <a:pt x="4274726" y="569440"/>
                    <a:pt x="4272213" y="575506"/>
                    <a:pt x="4267741" y="579979"/>
                  </a:cubicBezTo>
                  <a:cubicBezTo>
                    <a:pt x="4263268" y="584451"/>
                    <a:pt x="4257201" y="586964"/>
                    <a:pt x="4250876" y="586964"/>
                  </a:cubicBezTo>
                  <a:lnTo>
                    <a:pt x="23850" y="586964"/>
                  </a:lnTo>
                  <a:cubicBezTo>
                    <a:pt x="17524" y="586964"/>
                    <a:pt x="11458" y="584451"/>
                    <a:pt x="6985" y="579979"/>
                  </a:cubicBezTo>
                  <a:cubicBezTo>
                    <a:pt x="2513" y="575506"/>
                    <a:pt x="0" y="569440"/>
                    <a:pt x="0" y="563114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274726" cy="586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3972" y="3993870"/>
            <a:ext cx="3415090" cy="673407"/>
            <a:chOff x="0" y="0"/>
            <a:chExt cx="899448" cy="1773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9448" cy="177358"/>
            </a:xfrm>
            <a:custGeom>
              <a:avLst/>
              <a:gdLst/>
              <a:ahLst/>
              <a:cxnLst/>
              <a:rect r="r" b="b" t="t" l="l"/>
              <a:pathLst>
                <a:path h="177358" w="899448">
                  <a:moveTo>
                    <a:pt x="0" y="0"/>
                  </a:moveTo>
                  <a:lnTo>
                    <a:pt x="899448" y="0"/>
                  </a:lnTo>
                  <a:lnTo>
                    <a:pt x="899448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899448" cy="177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477345" y="4082289"/>
            <a:ext cx="2821644" cy="42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7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Applications: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5847" y="4895878"/>
            <a:ext cx="10871822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Reading button input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Receiving sensor signals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Detecting digital signals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8700" y="7269293"/>
            <a:ext cx="16230600" cy="2228629"/>
            <a:chOff x="0" y="0"/>
            <a:chExt cx="4274726" cy="5869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74726" cy="586964"/>
            </a:xfrm>
            <a:custGeom>
              <a:avLst/>
              <a:gdLst/>
              <a:ahLst/>
              <a:cxnLst/>
              <a:rect r="r" b="b" t="t" l="l"/>
              <a:pathLst>
                <a:path h="586964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63114"/>
                  </a:lnTo>
                  <a:cubicBezTo>
                    <a:pt x="4274726" y="569440"/>
                    <a:pt x="4272213" y="575506"/>
                    <a:pt x="4267741" y="579979"/>
                  </a:cubicBezTo>
                  <a:cubicBezTo>
                    <a:pt x="4263268" y="584451"/>
                    <a:pt x="4257201" y="586964"/>
                    <a:pt x="4250876" y="586964"/>
                  </a:cubicBezTo>
                  <a:lnTo>
                    <a:pt x="23850" y="586964"/>
                  </a:lnTo>
                  <a:cubicBezTo>
                    <a:pt x="17524" y="586964"/>
                    <a:pt x="11458" y="584451"/>
                    <a:pt x="6985" y="579979"/>
                  </a:cubicBezTo>
                  <a:cubicBezTo>
                    <a:pt x="2513" y="575506"/>
                    <a:pt x="0" y="569440"/>
                    <a:pt x="0" y="563114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4274726" cy="586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23497" y="6951639"/>
            <a:ext cx="3415090" cy="673407"/>
            <a:chOff x="0" y="0"/>
            <a:chExt cx="899448" cy="17735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99448" cy="177358"/>
            </a:xfrm>
            <a:custGeom>
              <a:avLst/>
              <a:gdLst/>
              <a:ahLst/>
              <a:cxnLst/>
              <a:rect r="r" b="b" t="t" l="l"/>
              <a:pathLst>
                <a:path h="177358" w="899448">
                  <a:moveTo>
                    <a:pt x="0" y="0"/>
                  </a:moveTo>
                  <a:lnTo>
                    <a:pt x="899448" y="0"/>
                  </a:lnTo>
                  <a:lnTo>
                    <a:pt x="899448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99448" cy="177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610695" y="7078793"/>
            <a:ext cx="2821644" cy="42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7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23497" y="7710771"/>
            <a:ext cx="14410284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Button pressed → GPIO reads HIGH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Button released → GPIO reads LOW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This allows </a:t>
            </a: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the microcontroller to detect external events.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719" y="-3719573"/>
            <a:ext cx="11892632" cy="17726146"/>
          </a:xfrm>
          <a:custGeom>
            <a:avLst/>
            <a:gdLst/>
            <a:ahLst/>
            <a:cxnLst/>
            <a:rect r="r" b="b" t="t" l="l"/>
            <a:pathLst>
              <a:path h="17726146" w="11892632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9218" y="896418"/>
            <a:ext cx="13230777" cy="84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6"/>
              </a:lnSpc>
            </a:pPr>
            <a:r>
              <a:rPr lang="en-US" sz="6400" spc="-128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Output Mode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342978"/>
            <a:ext cx="16230600" cy="1244011"/>
            <a:chOff x="0" y="0"/>
            <a:chExt cx="4274726" cy="3276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327641"/>
            </a:xfrm>
            <a:custGeom>
              <a:avLst/>
              <a:gdLst/>
              <a:ahLst/>
              <a:cxnLst/>
              <a:rect r="r" b="b" t="t" l="l"/>
              <a:pathLst>
                <a:path h="327641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303791"/>
                  </a:lnTo>
                  <a:cubicBezTo>
                    <a:pt x="4274726" y="310116"/>
                    <a:pt x="4272213" y="316183"/>
                    <a:pt x="4267741" y="320655"/>
                  </a:cubicBezTo>
                  <a:cubicBezTo>
                    <a:pt x="4263268" y="325128"/>
                    <a:pt x="4257201" y="327641"/>
                    <a:pt x="4250876" y="327641"/>
                  </a:cubicBezTo>
                  <a:lnTo>
                    <a:pt x="23850" y="327641"/>
                  </a:lnTo>
                  <a:cubicBezTo>
                    <a:pt x="17524" y="327641"/>
                    <a:pt x="11458" y="325128"/>
                    <a:pt x="6985" y="320655"/>
                  </a:cubicBezTo>
                  <a:cubicBezTo>
                    <a:pt x="2513" y="316183"/>
                    <a:pt x="0" y="310116"/>
                    <a:pt x="0" y="303791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274726" cy="32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3972" y="2016141"/>
            <a:ext cx="3415090" cy="673407"/>
            <a:chOff x="0" y="0"/>
            <a:chExt cx="899448" cy="1773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99448" cy="177358"/>
            </a:xfrm>
            <a:custGeom>
              <a:avLst/>
              <a:gdLst/>
              <a:ahLst/>
              <a:cxnLst/>
              <a:rect r="r" b="b" t="t" l="l"/>
              <a:pathLst>
                <a:path h="177358" w="899448">
                  <a:moveTo>
                    <a:pt x="0" y="0"/>
                  </a:moveTo>
                  <a:lnTo>
                    <a:pt x="899448" y="0"/>
                  </a:lnTo>
                  <a:lnTo>
                    <a:pt x="899448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899448" cy="177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610695" y="2109616"/>
            <a:ext cx="282164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9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Purpose: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3497" y="2851473"/>
            <a:ext cx="1087182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Used to send signals to external devices.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4354864"/>
            <a:ext cx="16230600" cy="2228629"/>
            <a:chOff x="0" y="0"/>
            <a:chExt cx="4274726" cy="5869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74726" cy="586964"/>
            </a:xfrm>
            <a:custGeom>
              <a:avLst/>
              <a:gdLst/>
              <a:ahLst/>
              <a:cxnLst/>
              <a:rect r="r" b="b" t="t" l="l"/>
              <a:pathLst>
                <a:path h="586964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63114"/>
                  </a:lnTo>
                  <a:cubicBezTo>
                    <a:pt x="4274726" y="569440"/>
                    <a:pt x="4272213" y="575506"/>
                    <a:pt x="4267741" y="579979"/>
                  </a:cubicBezTo>
                  <a:cubicBezTo>
                    <a:pt x="4263268" y="584451"/>
                    <a:pt x="4257201" y="586964"/>
                    <a:pt x="4250876" y="586964"/>
                  </a:cubicBezTo>
                  <a:lnTo>
                    <a:pt x="23850" y="586964"/>
                  </a:lnTo>
                  <a:cubicBezTo>
                    <a:pt x="17524" y="586964"/>
                    <a:pt x="11458" y="584451"/>
                    <a:pt x="6985" y="579979"/>
                  </a:cubicBezTo>
                  <a:cubicBezTo>
                    <a:pt x="2513" y="575506"/>
                    <a:pt x="0" y="569440"/>
                    <a:pt x="0" y="563114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274726" cy="586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13972" y="3993870"/>
            <a:ext cx="3415090" cy="673407"/>
            <a:chOff x="0" y="0"/>
            <a:chExt cx="899448" cy="1773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9448" cy="177358"/>
            </a:xfrm>
            <a:custGeom>
              <a:avLst/>
              <a:gdLst/>
              <a:ahLst/>
              <a:cxnLst/>
              <a:rect r="r" b="b" t="t" l="l"/>
              <a:pathLst>
                <a:path h="177358" w="899448">
                  <a:moveTo>
                    <a:pt x="0" y="0"/>
                  </a:moveTo>
                  <a:lnTo>
                    <a:pt x="899448" y="0"/>
                  </a:lnTo>
                  <a:lnTo>
                    <a:pt x="899448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99448" cy="177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477345" y="4082289"/>
            <a:ext cx="2821644" cy="42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7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Applications: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28700" y="7269293"/>
            <a:ext cx="16230600" cy="2560470"/>
            <a:chOff x="0" y="0"/>
            <a:chExt cx="4274726" cy="67436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274726" cy="674363"/>
            </a:xfrm>
            <a:custGeom>
              <a:avLst/>
              <a:gdLst/>
              <a:ahLst/>
              <a:cxnLst/>
              <a:rect r="r" b="b" t="t" l="l"/>
              <a:pathLst>
                <a:path h="674363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650513"/>
                  </a:lnTo>
                  <a:cubicBezTo>
                    <a:pt x="4274726" y="656838"/>
                    <a:pt x="4272213" y="662904"/>
                    <a:pt x="4267741" y="667377"/>
                  </a:cubicBezTo>
                  <a:cubicBezTo>
                    <a:pt x="4263268" y="671850"/>
                    <a:pt x="4257201" y="674363"/>
                    <a:pt x="4250876" y="674363"/>
                  </a:cubicBezTo>
                  <a:lnTo>
                    <a:pt x="23850" y="674363"/>
                  </a:lnTo>
                  <a:cubicBezTo>
                    <a:pt x="17524" y="674363"/>
                    <a:pt x="11458" y="671850"/>
                    <a:pt x="6985" y="667377"/>
                  </a:cubicBezTo>
                  <a:cubicBezTo>
                    <a:pt x="2513" y="662904"/>
                    <a:pt x="0" y="656838"/>
                    <a:pt x="0" y="650513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4274726" cy="6743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23497" y="6951639"/>
            <a:ext cx="3415090" cy="673407"/>
            <a:chOff x="0" y="0"/>
            <a:chExt cx="899448" cy="1773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99448" cy="177358"/>
            </a:xfrm>
            <a:custGeom>
              <a:avLst/>
              <a:gdLst/>
              <a:ahLst/>
              <a:cxnLst/>
              <a:rect r="r" b="b" t="t" l="l"/>
              <a:pathLst>
                <a:path h="177358" w="899448">
                  <a:moveTo>
                    <a:pt x="0" y="0"/>
                  </a:moveTo>
                  <a:lnTo>
                    <a:pt x="899448" y="0"/>
                  </a:lnTo>
                  <a:lnTo>
                    <a:pt x="899448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99448" cy="177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610695" y="7078793"/>
            <a:ext cx="2821644" cy="42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7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5847" y="4895878"/>
            <a:ext cx="10871822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LED control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Relay control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Motor control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23497" y="7710771"/>
            <a:ext cx="14410284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Example: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GPIO HIGH → LED ON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GPIO LOW → LED OFF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This allows </a:t>
            </a: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the microcontroller to control external hardware.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56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100000">
            <a:off x="-3464289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8100000">
            <a:off x="16132630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613309"/>
            <a:ext cx="16230600" cy="1244011"/>
            <a:chOff x="0" y="0"/>
            <a:chExt cx="4274726" cy="3276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327641"/>
            </a:xfrm>
            <a:custGeom>
              <a:avLst/>
              <a:gdLst/>
              <a:ahLst/>
              <a:cxnLst/>
              <a:rect r="r" b="b" t="t" l="l"/>
              <a:pathLst>
                <a:path h="327641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303791"/>
                  </a:lnTo>
                  <a:cubicBezTo>
                    <a:pt x="4274726" y="310116"/>
                    <a:pt x="4272213" y="316183"/>
                    <a:pt x="4267741" y="320655"/>
                  </a:cubicBezTo>
                  <a:cubicBezTo>
                    <a:pt x="4263268" y="325128"/>
                    <a:pt x="4257201" y="327641"/>
                    <a:pt x="4250876" y="327641"/>
                  </a:cubicBezTo>
                  <a:lnTo>
                    <a:pt x="23850" y="327641"/>
                  </a:lnTo>
                  <a:cubicBezTo>
                    <a:pt x="17524" y="327641"/>
                    <a:pt x="11458" y="325128"/>
                    <a:pt x="6985" y="320655"/>
                  </a:cubicBezTo>
                  <a:cubicBezTo>
                    <a:pt x="2513" y="316183"/>
                    <a:pt x="0" y="310116"/>
                    <a:pt x="0" y="303791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274726" cy="32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4390719"/>
            <a:ext cx="16230600" cy="966604"/>
            <a:chOff x="0" y="0"/>
            <a:chExt cx="4274726" cy="2545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74726" cy="254579"/>
            </a:xfrm>
            <a:custGeom>
              <a:avLst/>
              <a:gdLst/>
              <a:ahLst/>
              <a:cxnLst/>
              <a:rect r="r" b="b" t="t" l="l"/>
              <a:pathLst>
                <a:path h="254579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230729"/>
                  </a:lnTo>
                  <a:cubicBezTo>
                    <a:pt x="4274726" y="237054"/>
                    <a:pt x="4272213" y="243121"/>
                    <a:pt x="4267741" y="247593"/>
                  </a:cubicBezTo>
                  <a:cubicBezTo>
                    <a:pt x="4263268" y="252066"/>
                    <a:pt x="4257201" y="254579"/>
                    <a:pt x="4250876" y="254579"/>
                  </a:cubicBezTo>
                  <a:lnTo>
                    <a:pt x="23850" y="254579"/>
                  </a:lnTo>
                  <a:cubicBezTo>
                    <a:pt x="17524" y="254579"/>
                    <a:pt x="11458" y="252066"/>
                    <a:pt x="6985" y="247593"/>
                  </a:cubicBezTo>
                  <a:cubicBezTo>
                    <a:pt x="2513" y="243121"/>
                    <a:pt x="0" y="237054"/>
                    <a:pt x="0" y="230729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4274726" cy="254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13972" y="4015614"/>
            <a:ext cx="3415090" cy="673407"/>
            <a:chOff x="0" y="0"/>
            <a:chExt cx="899448" cy="17735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99448" cy="177358"/>
            </a:xfrm>
            <a:custGeom>
              <a:avLst/>
              <a:gdLst/>
              <a:ahLst/>
              <a:cxnLst/>
              <a:rect r="r" b="b" t="t" l="l"/>
              <a:pathLst>
                <a:path h="177358" w="899448">
                  <a:moveTo>
                    <a:pt x="0" y="0"/>
                  </a:moveTo>
                  <a:lnTo>
                    <a:pt x="899448" y="0"/>
                  </a:lnTo>
                  <a:lnTo>
                    <a:pt x="899448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899448" cy="177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1743398"/>
            <a:ext cx="16230600" cy="725119"/>
            <a:chOff x="0" y="0"/>
            <a:chExt cx="2533171" cy="1131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33171" cy="113172"/>
            </a:xfrm>
            <a:custGeom>
              <a:avLst/>
              <a:gdLst/>
              <a:ahLst/>
              <a:cxnLst/>
              <a:rect r="r" b="b" t="t" l="l"/>
              <a:pathLst>
                <a:path h="113172" w="2533171">
                  <a:moveTo>
                    <a:pt x="47700" y="0"/>
                  </a:moveTo>
                  <a:lnTo>
                    <a:pt x="2485471" y="0"/>
                  </a:lnTo>
                  <a:cubicBezTo>
                    <a:pt x="2498122" y="0"/>
                    <a:pt x="2510255" y="5025"/>
                    <a:pt x="2519200" y="13971"/>
                  </a:cubicBezTo>
                  <a:cubicBezTo>
                    <a:pt x="2528145" y="22916"/>
                    <a:pt x="2533171" y="35049"/>
                    <a:pt x="2533171" y="47700"/>
                  </a:cubicBezTo>
                  <a:lnTo>
                    <a:pt x="2533171" y="65473"/>
                  </a:lnTo>
                  <a:cubicBezTo>
                    <a:pt x="2533171" y="78123"/>
                    <a:pt x="2528145" y="90256"/>
                    <a:pt x="2519200" y="99201"/>
                  </a:cubicBezTo>
                  <a:cubicBezTo>
                    <a:pt x="2510255" y="108147"/>
                    <a:pt x="2498122" y="113172"/>
                    <a:pt x="2485471" y="113172"/>
                  </a:cubicBezTo>
                  <a:lnTo>
                    <a:pt x="47700" y="113172"/>
                  </a:lnTo>
                  <a:cubicBezTo>
                    <a:pt x="35049" y="113172"/>
                    <a:pt x="22916" y="108147"/>
                    <a:pt x="13971" y="99201"/>
                  </a:cubicBezTo>
                  <a:cubicBezTo>
                    <a:pt x="5025" y="90256"/>
                    <a:pt x="0" y="78123"/>
                    <a:pt x="0" y="65473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2C4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533171" cy="113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66192" y="896418"/>
            <a:ext cx="16312158" cy="84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6"/>
              </a:lnSpc>
            </a:pPr>
            <a:r>
              <a:rPr lang="en-US" sz="6400" spc="-128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Alterna</a:t>
            </a:r>
            <a:r>
              <a:rPr lang="en-US" sz="6400" spc="-128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 Function and Analog Mode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79604" y="1821099"/>
            <a:ext cx="1509976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9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Alternate Function Mode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3497" y="2800044"/>
            <a:ext cx="14735401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Used when GPIO works with internal peripherals such as: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UART ,SPI ,I2C ,Timers ,PWM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77345" y="4082289"/>
            <a:ext cx="2821644" cy="42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7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29720" y="4686300"/>
            <a:ext cx="1473540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PA2 → UART Transmit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66192" y="5595448"/>
            <a:ext cx="16230600" cy="725119"/>
            <a:chOff x="0" y="0"/>
            <a:chExt cx="2533171" cy="11317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33171" cy="113172"/>
            </a:xfrm>
            <a:custGeom>
              <a:avLst/>
              <a:gdLst/>
              <a:ahLst/>
              <a:cxnLst/>
              <a:rect r="r" b="b" t="t" l="l"/>
              <a:pathLst>
                <a:path h="113172" w="2533171">
                  <a:moveTo>
                    <a:pt x="47700" y="0"/>
                  </a:moveTo>
                  <a:lnTo>
                    <a:pt x="2485471" y="0"/>
                  </a:lnTo>
                  <a:cubicBezTo>
                    <a:pt x="2498122" y="0"/>
                    <a:pt x="2510255" y="5025"/>
                    <a:pt x="2519200" y="13971"/>
                  </a:cubicBezTo>
                  <a:cubicBezTo>
                    <a:pt x="2528145" y="22916"/>
                    <a:pt x="2533171" y="35049"/>
                    <a:pt x="2533171" y="47700"/>
                  </a:cubicBezTo>
                  <a:lnTo>
                    <a:pt x="2533171" y="65473"/>
                  </a:lnTo>
                  <a:cubicBezTo>
                    <a:pt x="2533171" y="78123"/>
                    <a:pt x="2528145" y="90256"/>
                    <a:pt x="2519200" y="99201"/>
                  </a:cubicBezTo>
                  <a:cubicBezTo>
                    <a:pt x="2510255" y="108147"/>
                    <a:pt x="2498122" y="113172"/>
                    <a:pt x="2485471" y="113172"/>
                  </a:cubicBezTo>
                  <a:lnTo>
                    <a:pt x="47700" y="113172"/>
                  </a:lnTo>
                  <a:cubicBezTo>
                    <a:pt x="35049" y="113172"/>
                    <a:pt x="22916" y="108147"/>
                    <a:pt x="13971" y="99201"/>
                  </a:cubicBezTo>
                  <a:cubicBezTo>
                    <a:pt x="5025" y="90256"/>
                    <a:pt x="0" y="78123"/>
                    <a:pt x="0" y="65473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2C4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533171" cy="113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79604" y="5681173"/>
            <a:ext cx="1509976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9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Analog Mode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14186" y="6558693"/>
            <a:ext cx="16230600" cy="803876"/>
            <a:chOff x="0" y="0"/>
            <a:chExt cx="4274726" cy="21172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74726" cy="211721"/>
            </a:xfrm>
            <a:custGeom>
              <a:avLst/>
              <a:gdLst/>
              <a:ahLst/>
              <a:cxnLst/>
              <a:rect r="r" b="b" t="t" l="l"/>
              <a:pathLst>
                <a:path h="211721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187871"/>
                  </a:lnTo>
                  <a:cubicBezTo>
                    <a:pt x="4274726" y="194196"/>
                    <a:pt x="4272213" y="200262"/>
                    <a:pt x="4267741" y="204735"/>
                  </a:cubicBezTo>
                  <a:cubicBezTo>
                    <a:pt x="4263268" y="209208"/>
                    <a:pt x="4257201" y="211721"/>
                    <a:pt x="4250876" y="211721"/>
                  </a:cubicBezTo>
                  <a:lnTo>
                    <a:pt x="23850" y="211721"/>
                  </a:lnTo>
                  <a:cubicBezTo>
                    <a:pt x="17524" y="211721"/>
                    <a:pt x="11458" y="209208"/>
                    <a:pt x="6985" y="204735"/>
                  </a:cubicBezTo>
                  <a:cubicBezTo>
                    <a:pt x="2513" y="200262"/>
                    <a:pt x="0" y="194196"/>
                    <a:pt x="0" y="187871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4274726" cy="211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342547" y="6692043"/>
            <a:ext cx="1473540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Used for analog signal processing.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14186" y="8158871"/>
            <a:ext cx="16230600" cy="966604"/>
            <a:chOff x="0" y="0"/>
            <a:chExt cx="4274726" cy="25457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274726" cy="254579"/>
            </a:xfrm>
            <a:custGeom>
              <a:avLst/>
              <a:gdLst/>
              <a:ahLst/>
              <a:cxnLst/>
              <a:rect r="r" b="b" t="t" l="l"/>
              <a:pathLst>
                <a:path h="254579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230729"/>
                  </a:lnTo>
                  <a:cubicBezTo>
                    <a:pt x="4274726" y="237054"/>
                    <a:pt x="4272213" y="243121"/>
                    <a:pt x="4267741" y="247593"/>
                  </a:cubicBezTo>
                  <a:cubicBezTo>
                    <a:pt x="4263268" y="252066"/>
                    <a:pt x="4257201" y="254579"/>
                    <a:pt x="4250876" y="254579"/>
                  </a:cubicBezTo>
                  <a:lnTo>
                    <a:pt x="23850" y="254579"/>
                  </a:lnTo>
                  <a:cubicBezTo>
                    <a:pt x="17524" y="254579"/>
                    <a:pt x="11458" y="252066"/>
                    <a:pt x="6985" y="247593"/>
                  </a:cubicBezTo>
                  <a:cubicBezTo>
                    <a:pt x="2513" y="243121"/>
                    <a:pt x="0" y="237054"/>
                    <a:pt x="0" y="230729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4274726" cy="254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77345" y="7781669"/>
            <a:ext cx="3415090" cy="673407"/>
            <a:chOff x="0" y="0"/>
            <a:chExt cx="899448" cy="17735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99448" cy="177358"/>
            </a:xfrm>
            <a:custGeom>
              <a:avLst/>
              <a:gdLst/>
              <a:ahLst/>
              <a:cxnLst/>
              <a:rect r="r" b="b" t="t" l="l"/>
              <a:pathLst>
                <a:path h="177358" w="899448">
                  <a:moveTo>
                    <a:pt x="0" y="0"/>
                  </a:moveTo>
                  <a:lnTo>
                    <a:pt x="899448" y="0"/>
                  </a:lnTo>
                  <a:lnTo>
                    <a:pt x="899448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899448" cy="177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477345" y="7953119"/>
            <a:ext cx="2821644" cy="42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7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7345" y="8531276"/>
            <a:ext cx="1473540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Reading sensor voltage using ADC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C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397719" y="-3719573"/>
            <a:ext cx="11892632" cy="17726146"/>
          </a:xfrm>
          <a:custGeom>
            <a:avLst/>
            <a:gdLst/>
            <a:ahLst/>
            <a:cxnLst/>
            <a:rect r="r" b="b" t="t" l="l"/>
            <a:pathLst>
              <a:path h="17726146" w="11892632">
                <a:moveTo>
                  <a:pt x="0" y="0"/>
                </a:moveTo>
                <a:lnTo>
                  <a:pt x="11892632" y="0"/>
                </a:lnTo>
                <a:lnTo>
                  <a:pt x="11892632" y="17726146"/>
                </a:lnTo>
                <a:lnTo>
                  <a:pt x="0" y="17726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9218" y="896418"/>
            <a:ext cx="16193644" cy="84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6"/>
              </a:lnSpc>
            </a:pPr>
            <a:r>
              <a:rPr lang="en-US" sz="6400" spc="-128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Pull-Up, Pull-Down and </a:t>
            </a:r>
            <a:r>
              <a:rPr lang="en-US" sz="6400" spc="-128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Output Types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2342978"/>
            <a:ext cx="16230600" cy="2365870"/>
            <a:chOff x="0" y="0"/>
            <a:chExt cx="4274726" cy="6231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623110"/>
            </a:xfrm>
            <a:custGeom>
              <a:avLst/>
              <a:gdLst/>
              <a:ahLst/>
              <a:cxnLst/>
              <a:rect r="r" b="b" t="t" l="l"/>
              <a:pathLst>
                <a:path h="623110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599260"/>
                  </a:lnTo>
                  <a:cubicBezTo>
                    <a:pt x="4274726" y="605585"/>
                    <a:pt x="4272213" y="611652"/>
                    <a:pt x="4267741" y="616124"/>
                  </a:cubicBezTo>
                  <a:cubicBezTo>
                    <a:pt x="4263268" y="620597"/>
                    <a:pt x="4257201" y="623110"/>
                    <a:pt x="4250876" y="623110"/>
                  </a:cubicBezTo>
                  <a:lnTo>
                    <a:pt x="23850" y="623110"/>
                  </a:lnTo>
                  <a:cubicBezTo>
                    <a:pt x="17524" y="623110"/>
                    <a:pt x="11458" y="620597"/>
                    <a:pt x="6985" y="616124"/>
                  </a:cubicBezTo>
                  <a:cubicBezTo>
                    <a:pt x="2513" y="611652"/>
                    <a:pt x="0" y="605585"/>
                    <a:pt x="0" y="599260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4274726" cy="623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3972" y="2147716"/>
            <a:ext cx="7214667" cy="541833"/>
            <a:chOff x="0" y="0"/>
            <a:chExt cx="1900159" cy="1427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0159" cy="142705"/>
            </a:xfrm>
            <a:custGeom>
              <a:avLst/>
              <a:gdLst/>
              <a:ahLst/>
              <a:cxnLst/>
              <a:rect r="r" b="b" t="t" l="l"/>
              <a:pathLst>
                <a:path h="142705" w="1900159">
                  <a:moveTo>
                    <a:pt x="0" y="0"/>
                  </a:moveTo>
                  <a:lnTo>
                    <a:pt x="1900159" y="0"/>
                  </a:lnTo>
                  <a:lnTo>
                    <a:pt x="1900159" y="142705"/>
                  </a:lnTo>
                  <a:lnTo>
                    <a:pt x="0" y="142705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1900159" cy="1427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98665" y="2147716"/>
            <a:ext cx="6917944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9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Pull-Up and Pull-Down Resistors: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3497" y="2851473"/>
            <a:ext cx="10871822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Used to ensure stable input signals.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Pull-Up → Default HIGH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Pull-Down → Default LOW</a:t>
            </a:r>
          </a:p>
          <a:p>
            <a:pPr algn="just">
              <a:lnSpc>
                <a:spcPts val="3749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028700" y="5970008"/>
            <a:ext cx="16230600" cy="3148857"/>
            <a:chOff x="0" y="0"/>
            <a:chExt cx="4274726" cy="8293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74726" cy="829328"/>
            </a:xfrm>
            <a:custGeom>
              <a:avLst/>
              <a:gdLst/>
              <a:ahLst/>
              <a:cxnLst/>
              <a:rect r="r" b="b" t="t" l="l"/>
              <a:pathLst>
                <a:path h="829328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805479"/>
                  </a:lnTo>
                  <a:cubicBezTo>
                    <a:pt x="4274726" y="811804"/>
                    <a:pt x="4272213" y="817870"/>
                    <a:pt x="4267741" y="822343"/>
                  </a:cubicBezTo>
                  <a:cubicBezTo>
                    <a:pt x="4263268" y="826816"/>
                    <a:pt x="4257201" y="829328"/>
                    <a:pt x="4250876" y="829328"/>
                  </a:cubicBezTo>
                  <a:lnTo>
                    <a:pt x="23850" y="829328"/>
                  </a:lnTo>
                  <a:cubicBezTo>
                    <a:pt x="17524" y="829328"/>
                    <a:pt x="11458" y="826816"/>
                    <a:pt x="6985" y="822343"/>
                  </a:cubicBezTo>
                  <a:cubicBezTo>
                    <a:pt x="2513" y="817870"/>
                    <a:pt x="0" y="811804"/>
                    <a:pt x="0" y="805479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4274726" cy="829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23497" y="5651823"/>
            <a:ext cx="3415090" cy="673407"/>
            <a:chOff x="0" y="0"/>
            <a:chExt cx="899448" cy="17735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99448" cy="177358"/>
            </a:xfrm>
            <a:custGeom>
              <a:avLst/>
              <a:gdLst/>
              <a:ahLst/>
              <a:cxnLst/>
              <a:rect r="r" b="b" t="t" l="l"/>
              <a:pathLst>
                <a:path h="177358" w="899448">
                  <a:moveTo>
                    <a:pt x="0" y="0"/>
                  </a:moveTo>
                  <a:lnTo>
                    <a:pt x="899448" y="0"/>
                  </a:lnTo>
                  <a:lnTo>
                    <a:pt x="899448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99448" cy="177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610695" y="5702673"/>
            <a:ext cx="2821644" cy="42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7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Output Types: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23497" y="6371141"/>
            <a:ext cx="14410284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Push-Pull: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Standard</a:t>
            </a: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 output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Used</a:t>
            </a: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 for LEDs and g</a:t>
            </a: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eneral output</a:t>
            </a:r>
          </a:p>
          <a:p>
            <a:pPr algn="just">
              <a:lnSpc>
                <a:spcPts val="3749"/>
              </a:lnSpc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Open-Drain: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Used for communication protocols like I2C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342978"/>
            <a:ext cx="16230600" cy="3014345"/>
            <a:chOff x="0" y="0"/>
            <a:chExt cx="4274726" cy="79390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793902"/>
            </a:xfrm>
            <a:custGeom>
              <a:avLst/>
              <a:gdLst/>
              <a:ahLst/>
              <a:cxnLst/>
              <a:rect r="r" b="b" t="t" l="l"/>
              <a:pathLst>
                <a:path h="793902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770052"/>
                  </a:lnTo>
                  <a:cubicBezTo>
                    <a:pt x="4274726" y="776377"/>
                    <a:pt x="4272213" y="782443"/>
                    <a:pt x="4267741" y="786916"/>
                  </a:cubicBezTo>
                  <a:cubicBezTo>
                    <a:pt x="4263268" y="791389"/>
                    <a:pt x="4257201" y="793902"/>
                    <a:pt x="4250876" y="793902"/>
                  </a:cubicBezTo>
                  <a:lnTo>
                    <a:pt x="23850" y="793902"/>
                  </a:lnTo>
                  <a:cubicBezTo>
                    <a:pt x="17524" y="793902"/>
                    <a:pt x="11458" y="791389"/>
                    <a:pt x="6985" y="786916"/>
                  </a:cubicBezTo>
                  <a:cubicBezTo>
                    <a:pt x="2513" y="782443"/>
                    <a:pt x="0" y="776377"/>
                    <a:pt x="0" y="770052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274726" cy="793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13972" y="2119141"/>
            <a:ext cx="9279240" cy="570408"/>
            <a:chOff x="0" y="0"/>
            <a:chExt cx="2443915" cy="1502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3915" cy="150231"/>
            </a:xfrm>
            <a:custGeom>
              <a:avLst/>
              <a:gdLst/>
              <a:ahLst/>
              <a:cxnLst/>
              <a:rect r="r" b="b" t="t" l="l"/>
              <a:pathLst>
                <a:path h="150231" w="2443915">
                  <a:moveTo>
                    <a:pt x="0" y="0"/>
                  </a:moveTo>
                  <a:lnTo>
                    <a:pt x="2443915" y="0"/>
                  </a:lnTo>
                  <a:lnTo>
                    <a:pt x="2443915" y="150231"/>
                  </a:lnTo>
                  <a:lnTo>
                    <a:pt x="0" y="150231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2443915" cy="150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10695" y="2109616"/>
            <a:ext cx="490106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9"/>
              </a:lnSpc>
            </a:pPr>
            <a:r>
              <a:rPr lang="en-US" b="true" sz="29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Common Applications: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3497" y="2851473"/>
            <a:ext cx="10871822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LED control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Button input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Sensor interfacing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Communication interfaces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Motor control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2700000">
            <a:off x="16077641" y="-3942177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2"/>
                </a:lnTo>
                <a:lnTo>
                  <a:pt x="0" y="85257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2700000">
            <a:off x="-3464289" y="6664482"/>
            <a:ext cx="5719997" cy="8525741"/>
          </a:xfrm>
          <a:custGeom>
            <a:avLst/>
            <a:gdLst/>
            <a:ahLst/>
            <a:cxnLst/>
            <a:rect r="r" b="b" t="t" l="l"/>
            <a:pathLst>
              <a:path h="8525741" w="5719997">
                <a:moveTo>
                  <a:pt x="0" y="0"/>
                </a:moveTo>
                <a:lnTo>
                  <a:pt x="5719997" y="0"/>
                </a:lnTo>
                <a:lnTo>
                  <a:pt x="5719997" y="8525741"/>
                </a:lnTo>
                <a:lnTo>
                  <a:pt x="0" y="85257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03737" y="842444"/>
            <a:ext cx="14229746" cy="84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36"/>
              </a:lnSpc>
            </a:pPr>
            <a:r>
              <a:rPr lang="en-US" sz="6400" spc="-128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GPIO</a:t>
            </a:r>
            <a:r>
              <a:rPr lang="en-US" sz="6400" spc="-128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Applications and Example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8700" y="6299811"/>
            <a:ext cx="16230600" cy="2958489"/>
            <a:chOff x="0" y="0"/>
            <a:chExt cx="4274726" cy="7791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274726" cy="779190"/>
            </a:xfrm>
            <a:custGeom>
              <a:avLst/>
              <a:gdLst/>
              <a:ahLst/>
              <a:cxnLst/>
              <a:rect r="r" b="b" t="t" l="l"/>
              <a:pathLst>
                <a:path h="779190" w="4274726">
                  <a:moveTo>
                    <a:pt x="23850" y="0"/>
                  </a:moveTo>
                  <a:lnTo>
                    <a:pt x="4250876" y="0"/>
                  </a:lnTo>
                  <a:cubicBezTo>
                    <a:pt x="4257201" y="0"/>
                    <a:pt x="4263268" y="2513"/>
                    <a:pt x="4267741" y="6985"/>
                  </a:cubicBezTo>
                  <a:cubicBezTo>
                    <a:pt x="4272213" y="11458"/>
                    <a:pt x="4274726" y="17524"/>
                    <a:pt x="4274726" y="23850"/>
                  </a:cubicBezTo>
                  <a:lnTo>
                    <a:pt x="4274726" y="755341"/>
                  </a:lnTo>
                  <a:cubicBezTo>
                    <a:pt x="4274726" y="761666"/>
                    <a:pt x="4272213" y="767732"/>
                    <a:pt x="4267741" y="772205"/>
                  </a:cubicBezTo>
                  <a:cubicBezTo>
                    <a:pt x="4263268" y="776678"/>
                    <a:pt x="4257201" y="779190"/>
                    <a:pt x="4250876" y="779190"/>
                  </a:cubicBezTo>
                  <a:lnTo>
                    <a:pt x="23850" y="779190"/>
                  </a:lnTo>
                  <a:cubicBezTo>
                    <a:pt x="17524" y="779190"/>
                    <a:pt x="11458" y="776678"/>
                    <a:pt x="6985" y="772205"/>
                  </a:cubicBezTo>
                  <a:cubicBezTo>
                    <a:pt x="2513" y="767732"/>
                    <a:pt x="0" y="761666"/>
                    <a:pt x="0" y="755341"/>
                  </a:cubicBezTo>
                  <a:lnTo>
                    <a:pt x="0" y="23850"/>
                  </a:lnTo>
                  <a:cubicBezTo>
                    <a:pt x="0" y="17524"/>
                    <a:pt x="2513" y="11458"/>
                    <a:pt x="6985" y="6985"/>
                  </a:cubicBezTo>
                  <a:cubicBezTo>
                    <a:pt x="11458" y="2513"/>
                    <a:pt x="17524" y="0"/>
                    <a:pt x="23850" y="0"/>
                  </a:cubicBezTo>
                  <a:close/>
                </a:path>
              </a:pathLst>
            </a:custGeom>
            <a:ln w="38100" cap="rnd">
              <a:solidFill>
                <a:srgbClr val="F3F6FA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274726" cy="7791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52072" y="5947873"/>
            <a:ext cx="3415090" cy="673407"/>
            <a:chOff x="0" y="0"/>
            <a:chExt cx="899448" cy="1773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9448" cy="177358"/>
            </a:xfrm>
            <a:custGeom>
              <a:avLst/>
              <a:gdLst/>
              <a:ahLst/>
              <a:cxnLst/>
              <a:rect r="r" b="b" t="t" l="l"/>
              <a:pathLst>
                <a:path h="177358" w="899448">
                  <a:moveTo>
                    <a:pt x="0" y="0"/>
                  </a:moveTo>
                  <a:lnTo>
                    <a:pt x="899448" y="0"/>
                  </a:lnTo>
                  <a:lnTo>
                    <a:pt x="899448" y="177358"/>
                  </a:lnTo>
                  <a:lnTo>
                    <a:pt x="0" y="177358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899448" cy="1773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8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610695" y="6041366"/>
            <a:ext cx="2821644" cy="429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7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Example: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10695" y="6907031"/>
            <a:ext cx="14410284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9"/>
              </a:lnSpc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Steps: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Configure GPIO pin as output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Set pin HIGH → LED ON</a:t>
            </a:r>
          </a:p>
          <a:p>
            <a:pPr algn="just" marL="647698" indent="-323849" lvl="1">
              <a:lnSpc>
                <a:spcPts val="3749"/>
              </a:lnSpc>
              <a:buFont typeface="Arial"/>
              <a:buChar char="•"/>
            </a:pPr>
            <a:r>
              <a:rPr lang="en-US" sz="2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Set pin LOW → LED OFF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105400"/>
            <a:ext cx="8851838" cy="1284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4"/>
              </a:lnSpc>
            </a:pPr>
            <a:r>
              <a:rPr lang="en-US" b="true" sz="9600" spc="-192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Conclusion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578356">
            <a:off x="9920585" y="-3427759"/>
            <a:ext cx="8920669" cy="13296389"/>
          </a:xfrm>
          <a:custGeom>
            <a:avLst/>
            <a:gdLst/>
            <a:ahLst/>
            <a:cxnLst/>
            <a:rect r="r" b="b" t="t" l="l"/>
            <a:pathLst>
              <a:path h="13296389" w="8920669">
                <a:moveTo>
                  <a:pt x="0" y="0"/>
                </a:moveTo>
                <a:lnTo>
                  <a:pt x="8920668" y="0"/>
                </a:lnTo>
                <a:lnTo>
                  <a:pt x="8920668" y="13296390"/>
                </a:lnTo>
                <a:lnTo>
                  <a:pt x="0" y="132963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146461" y="1028700"/>
            <a:ext cx="8229600" cy="822960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708759" y="1590998"/>
            <a:ext cx="7105005" cy="710500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40429" t="0" r="-40429" b="0"/>
              </a:stretch>
            </a:blipFill>
            <a:ln w="238125" cap="sq">
              <a:solidFill>
                <a:srgbClr val="262262"/>
              </a:solidFill>
              <a:prstDash val="solid"/>
              <a:miter/>
            </a:ln>
          </p:spPr>
        </p:sp>
      </p:grpSp>
      <p:sp>
        <p:nvSpPr>
          <p:cNvPr name="Freeform 9" id="9"/>
          <p:cNvSpPr/>
          <p:nvPr/>
        </p:nvSpPr>
        <p:spPr>
          <a:xfrm flipH="false" flipV="false" rot="-8100000">
            <a:off x="-3712870" y="-4896225"/>
            <a:ext cx="7425739" cy="11068175"/>
          </a:xfrm>
          <a:custGeom>
            <a:avLst/>
            <a:gdLst/>
            <a:ahLst/>
            <a:cxnLst/>
            <a:rect r="r" b="b" t="t" l="l"/>
            <a:pathLst>
              <a:path h="11068175" w="7425739">
                <a:moveTo>
                  <a:pt x="0" y="0"/>
                </a:moveTo>
                <a:lnTo>
                  <a:pt x="7425740" y="0"/>
                </a:lnTo>
                <a:lnTo>
                  <a:pt x="7425740" y="11068176"/>
                </a:lnTo>
                <a:lnTo>
                  <a:pt x="0" y="110681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6585897"/>
            <a:ext cx="10117761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GPIO pins are essential for microcontroller operation.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They allow communication with external devices.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GPIO supports multiple modes for different applications.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GPIO is widely used in embedded systems for control and interfacing.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423133"/>
            <a:ext cx="8605034" cy="2160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73"/>
              </a:lnSpc>
            </a:pPr>
            <a:r>
              <a:rPr lang="en-US" sz="16134" spc="-322" b="true">
                <a:solidFill>
                  <a:srgbClr val="F3F6FA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665183" y="-1364650"/>
            <a:ext cx="8732754" cy="13016300"/>
          </a:xfrm>
          <a:custGeom>
            <a:avLst/>
            <a:gdLst/>
            <a:ahLst/>
            <a:cxnLst/>
            <a:rect r="r" b="b" t="t" l="l"/>
            <a:pathLst>
              <a:path h="13016300" w="8732754">
                <a:moveTo>
                  <a:pt x="0" y="0"/>
                </a:moveTo>
                <a:lnTo>
                  <a:pt x="8732754" y="0"/>
                </a:lnTo>
                <a:lnTo>
                  <a:pt x="8732754" y="13016300"/>
                </a:lnTo>
                <a:lnTo>
                  <a:pt x="0" y="13016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6108247"/>
            <a:ext cx="6244110" cy="60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88"/>
              </a:lnSpc>
              <a:spcBef>
                <a:spcPct val="0"/>
              </a:spcBef>
            </a:pPr>
            <a:r>
              <a:rPr lang="en-US" sz="3563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Md</a:t>
            </a:r>
            <a:r>
              <a:rPr lang="en-US" sz="3563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. Akibuzzaman-2210976128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502700" y="-4791631"/>
            <a:ext cx="4598385" cy="6853961"/>
          </a:xfrm>
          <a:custGeom>
            <a:avLst/>
            <a:gdLst/>
            <a:ahLst/>
            <a:cxnLst/>
            <a:rect r="r" b="b" t="t" l="l"/>
            <a:pathLst>
              <a:path h="6853961" w="4598385">
                <a:moveTo>
                  <a:pt x="0" y="0"/>
                </a:moveTo>
                <a:lnTo>
                  <a:pt x="4598385" y="0"/>
                </a:lnTo>
                <a:lnTo>
                  <a:pt x="4598385" y="6853962"/>
                </a:lnTo>
                <a:lnTo>
                  <a:pt x="0" y="6853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43591" y="8957310"/>
            <a:ext cx="3321592" cy="4950883"/>
          </a:xfrm>
          <a:custGeom>
            <a:avLst/>
            <a:gdLst/>
            <a:ahLst/>
            <a:cxnLst/>
            <a:rect r="r" b="b" t="t" l="l"/>
            <a:pathLst>
              <a:path h="4950883" w="3321592">
                <a:moveTo>
                  <a:pt x="0" y="0"/>
                </a:moveTo>
                <a:lnTo>
                  <a:pt x="3321592" y="0"/>
                </a:lnTo>
                <a:lnTo>
                  <a:pt x="3321592" y="4950883"/>
                </a:lnTo>
                <a:lnTo>
                  <a:pt x="0" y="49508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493896"/>
            <a:ext cx="4079365" cy="52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b="true" sz="3999">
                <a:solidFill>
                  <a:srgbClr val="F3F6FA"/>
                </a:solidFill>
                <a:latin typeface="TT Fors Bold"/>
                <a:ea typeface="TT Fors Bold"/>
                <a:cs typeface="TT Fors Bold"/>
                <a:sym typeface="TT Fors Bold"/>
              </a:rPr>
              <a:t>Presented by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5411018"/>
            <a:ext cx="7644931" cy="525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9"/>
              </a:lnSpc>
            </a:pPr>
            <a:r>
              <a:rPr lang="en-US" sz="3999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Plabon Dey-2210776118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884510"/>
            <a:ext cx="6244110" cy="60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88"/>
              </a:lnSpc>
              <a:spcBef>
                <a:spcPct val="0"/>
              </a:spcBef>
            </a:pPr>
            <a:r>
              <a:rPr lang="en-US" sz="3563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Md</a:t>
            </a:r>
            <a:r>
              <a:rPr lang="en-US" sz="3563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. Ruhul Amin-2210776147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7660773"/>
            <a:ext cx="7429257" cy="60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88"/>
              </a:lnSpc>
              <a:spcBef>
                <a:spcPct val="0"/>
              </a:spcBef>
            </a:pPr>
            <a:r>
              <a:rPr lang="en-US" sz="3563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M</a:t>
            </a:r>
            <a:r>
              <a:rPr lang="en-US" sz="3563">
                <a:solidFill>
                  <a:srgbClr val="F3F6FA"/>
                </a:solidFill>
                <a:latin typeface="TT Fors"/>
                <a:ea typeface="TT Fors"/>
                <a:cs typeface="TT Fors"/>
                <a:sym typeface="TT Fors"/>
              </a:rPr>
              <a:t>ahfuzur Rahman-2110976149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DAHCt1A68Hc</dc:identifier>
  <dcterms:modified xsi:type="dcterms:W3CDTF">2011-08-01T06:04:30Z</dcterms:modified>
  <cp:revision>1</cp:revision>
  <dc:title>Microcontroller Presentation</dc:title>
</cp:coreProperties>
</file>