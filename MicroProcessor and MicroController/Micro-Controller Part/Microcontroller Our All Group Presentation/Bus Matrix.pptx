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77" r:id="rId6"/>
    <p:sldId id="296" r:id="rId7"/>
    <p:sldId id="305" r:id="rId8"/>
    <p:sldId id="297" r:id="rId9"/>
    <p:sldId id="302" r:id="rId10"/>
    <p:sldId id="304" r:id="rId11"/>
    <p:sldId id="306" r:id="rId12"/>
    <p:sldId id="307" r:id="rId13"/>
    <p:sldId id="308" r:id="rId14"/>
    <p:sldId id="27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6F3"/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9639D4-E3E2-4D34-9284-5A2195B3D0D7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 showGuides="1">
      <p:cViewPr varScale="1">
        <p:scale>
          <a:sx n="80" d="100"/>
          <a:sy n="80" d="100"/>
        </p:scale>
        <p:origin x="782" y="67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/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>
            <a:fillRect/>
          </a:stretch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/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>
            <a:fillRect/>
          </a:stretch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/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/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/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/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/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/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/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/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/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/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/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/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/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/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/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Graphic 1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>
            <a:fillRect/>
          </a:stretch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/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/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/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/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/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rke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/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/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/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/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/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>
            <a:fillRect/>
          </a:stretch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/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>
            <a:fillRect/>
          </a:stretch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/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/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/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/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/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/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/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/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/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/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/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/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/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/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/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/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/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/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am Slide 4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/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am Slide 8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/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/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/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/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/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/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/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/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/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/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/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/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/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/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/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/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/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/>
          <p:cNvCxnSpPr/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5550" y="2591161"/>
            <a:ext cx="8239882" cy="1714139"/>
          </a:xfrm>
          <a:solidFill>
            <a:schemeClr val="bg1"/>
          </a:solidFill>
        </p:spPr>
        <p:txBody>
          <a:bodyPr anchor="t"/>
          <a:lstStyle/>
          <a:p>
            <a:pPr algn="ctr"/>
            <a:r>
              <a:rPr lang="en-US" sz="5400" dirty="0"/>
              <a:t>Welcome to </a:t>
            </a:r>
            <a:br>
              <a:rPr lang="en-US" sz="5400" dirty="0"/>
            </a:br>
            <a:r>
              <a:rPr lang="en-US" sz="5400" dirty="0"/>
              <a:t>our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0007" y="4930461"/>
            <a:ext cx="4941770" cy="1271110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en-US" sz="2000" dirty="0"/>
              <a:t>Presented by </a:t>
            </a:r>
            <a:r>
              <a:rPr lang="en-US" sz="2000" b="1" dirty="0"/>
              <a:t>Group 6</a:t>
            </a:r>
            <a:r>
              <a:rPr lang="en-US" sz="2000" dirty="0"/>
              <a:t>:</a:t>
            </a:r>
          </a:p>
          <a:p>
            <a:pPr>
              <a:spcBef>
                <a:spcPts val="0"/>
              </a:spcBef>
            </a:pPr>
            <a:r>
              <a:rPr lang="en-US" dirty="0" err="1"/>
              <a:t>Raisul</a:t>
            </a:r>
            <a:r>
              <a:rPr lang="en-US" dirty="0"/>
              <a:t> Islam - 2111176139</a:t>
            </a:r>
          </a:p>
          <a:p>
            <a:pPr>
              <a:spcBef>
                <a:spcPts val="0"/>
              </a:spcBef>
            </a:pPr>
            <a:r>
              <a:rPr lang="en-US" dirty="0"/>
              <a:t>Most Rima Khatun – 2112376130</a:t>
            </a:r>
          </a:p>
          <a:p>
            <a:pPr>
              <a:spcBef>
                <a:spcPts val="0"/>
              </a:spcBef>
            </a:pPr>
            <a:r>
              <a:rPr lang="en-US" dirty="0"/>
              <a:t>Tasnim Tahmina Jarin – 2212076115</a:t>
            </a:r>
          </a:p>
          <a:p>
            <a:pPr>
              <a:spcBef>
                <a:spcPts val="0"/>
              </a:spcBef>
            </a:pPr>
            <a:r>
              <a:rPr lang="en-US" dirty="0"/>
              <a:t>Tabassum Nishat Aitee - 2212076113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>
              <a:spcBef>
                <a:spcPts val="0"/>
              </a:spcBef>
            </a:pP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52AFD9-74FB-03F2-2025-4214392E42BC}"/>
              </a:ext>
            </a:extLst>
          </p:cNvPr>
          <p:cNvCxnSpPr>
            <a:cxnSpLocks/>
          </p:cNvCxnSpPr>
          <p:nvPr/>
        </p:nvCxnSpPr>
        <p:spPr>
          <a:xfrm flipH="1">
            <a:off x="6200775" y="4838700"/>
            <a:ext cx="600075" cy="180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BDB48C-2E53-B499-B2C0-A8B8AAF5F452}"/>
              </a:ext>
            </a:extLst>
          </p:cNvPr>
          <p:cNvCxnSpPr>
            <a:cxnSpLocks/>
          </p:cNvCxnSpPr>
          <p:nvPr/>
        </p:nvCxnSpPr>
        <p:spPr>
          <a:xfrm>
            <a:off x="6900007" y="4838700"/>
            <a:ext cx="0" cy="13239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498" y="650055"/>
            <a:ext cx="3171825" cy="1325563"/>
          </a:xfrm>
        </p:spPr>
        <p:txBody>
          <a:bodyPr/>
          <a:lstStyle/>
          <a:p>
            <a:r>
              <a:rPr lang="en-US" dirty="0"/>
              <a:t>What is bus?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1333498" y="2495912"/>
            <a:ext cx="3516293" cy="2519363"/>
          </a:xfrm>
        </p:spPr>
        <p:txBody>
          <a:bodyPr>
            <a:noAutofit/>
          </a:bodyPr>
          <a:lstStyle/>
          <a:p>
            <a:r>
              <a:rPr lang="en-US" sz="1800" dirty="0"/>
              <a:t>The </a:t>
            </a:r>
            <a:r>
              <a:rPr lang="en-US" sz="1800" b="1" dirty="0"/>
              <a:t>Bus Matrix</a:t>
            </a:r>
            <a:r>
              <a:rPr lang="en-US" sz="1800" dirty="0"/>
              <a:t> is an internal interconnection system that connects multiple bus masters (CPU, DMA) to multiple bus slaves (Flash, SRAM, peripherals) and manages data transfer between them efficiently.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6476999" y="299472"/>
            <a:ext cx="5284469" cy="1524735"/>
          </a:xfrm>
        </p:spPr>
        <p:txBody>
          <a:bodyPr/>
          <a:lstStyle/>
          <a:p>
            <a:pPr algn="ctr"/>
            <a:r>
              <a:rPr lang="en-US" dirty="0"/>
              <a:t>Bus matrix in STM32F103XX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3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 l="6228"/>
          <a:stretch>
            <a:fillRect/>
          </a:stretch>
        </p:blipFill>
        <p:spPr>
          <a:xfrm>
            <a:off x="366219" y="0"/>
            <a:ext cx="5729781" cy="6858000"/>
          </a:xfrm>
          <a:prstGeom prst="rect">
            <a:avLst/>
          </a:prstGeom>
        </p:spPr>
      </p:pic>
      <p:sp>
        <p:nvSpPr>
          <p:cNvPr id="11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816359" y="2499820"/>
            <a:ext cx="460574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There are seven types of bus: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P-Bus (Private bus)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I-Bus (Instruction bus)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D-Bus (Data bus)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Bus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AHB (Advanced High-Performance Bus)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APB1 (Advanced Peripheral Bus 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APB2 (Advanced Peripheral Bus 2)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30500" y="473228"/>
            <a:ext cx="7671777" cy="1204912"/>
          </a:xfrm>
        </p:spPr>
        <p:txBody>
          <a:bodyPr anchor="t">
            <a:normAutofit/>
          </a:bodyPr>
          <a:lstStyle/>
          <a:p>
            <a:pPr algn="ctr"/>
            <a:r>
              <a:rPr lang="en-US" b="1" dirty="0"/>
              <a:t> P-Bus (Private Peripheral Bus / PPB)</a:t>
            </a:r>
            <a:endParaRPr lang="en-US" dirty="0"/>
          </a:p>
        </p:txBody>
      </p:sp>
      <p:sp>
        <p:nvSpPr>
          <p:cNvPr id="11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44226" y="1396285"/>
            <a:ext cx="4674350" cy="473975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/>
              <a:t>Purpose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To access core internal peripherals.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Where It Connects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Inside Cortex-M3 only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Debug Control Registers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Does not go to AHB or APB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Working Procedure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When CPU needs to handle an interrupt, access NVIC register, use trace or debug, the communication happens internally through P-bus.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It stays: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CPU       P-Bu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       Core peripherals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4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 l="14261" t="5547" r="26637" b="60866"/>
          <a:stretch>
            <a:fillRect/>
          </a:stretch>
        </p:blipFill>
        <p:spPr>
          <a:xfrm>
            <a:off x="6508316" y="1311803"/>
            <a:ext cx="5190344" cy="4234393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7650866" y="1400537"/>
            <a:ext cx="2905245" cy="914400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glow rad="101600">
              <a:srgbClr val="FF0000">
                <a:alpha val="40000"/>
              </a:srgbClr>
            </a:glo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3F2C1EF-DDA9-14E6-9810-03A8E4F25DB1}"/>
              </a:ext>
            </a:extLst>
          </p:cNvPr>
          <p:cNvCxnSpPr>
            <a:cxnSpLocks/>
          </p:cNvCxnSpPr>
          <p:nvPr/>
        </p:nvCxnSpPr>
        <p:spPr>
          <a:xfrm>
            <a:off x="1952625" y="5934075"/>
            <a:ext cx="35242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FCB265-BA00-B2F5-ABFC-31B5C2166E96}"/>
              </a:ext>
            </a:extLst>
          </p:cNvPr>
          <p:cNvCxnSpPr>
            <a:cxnSpLocks/>
          </p:cNvCxnSpPr>
          <p:nvPr/>
        </p:nvCxnSpPr>
        <p:spPr>
          <a:xfrm>
            <a:off x="3095625" y="5953125"/>
            <a:ext cx="35242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-130175" y="377825"/>
            <a:ext cx="6092825" cy="709930"/>
          </a:xfrm>
        </p:spPr>
        <p:txBody>
          <a:bodyPr/>
          <a:lstStyle/>
          <a:p>
            <a:pPr algn="ctr"/>
            <a:r>
              <a:rPr lang="en-US" b="1" dirty="0"/>
              <a:t> </a:t>
            </a:r>
            <a:r>
              <a:rPr lang="en-US" sz="2800" b="1" dirty="0"/>
              <a:t>I-Bus (Instruction Bus)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5</a:t>
            </a:fld>
            <a:endParaRPr lang="en-US" dirty="0"/>
          </a:p>
        </p:txBody>
      </p:sp>
      <p:sp>
        <p:nvSpPr>
          <p:cNvPr id="11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19127" y="1227415"/>
            <a:ext cx="7477124" cy="51282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/>
              <a:t>Purpose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To fetch program instructions from memory.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Where It Connects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Cortex-M3 CPU (Instruction Fetch Unit)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Flash Memory 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Working Procedure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CPU needs next instruction.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Instruction address is sent via I-Bus.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Bus Matrix forwards request to Flash.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Flash sends instruction back.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CPU executes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l="18812" t="5547" r="26637" b="60866"/>
          <a:stretch>
            <a:fillRect/>
          </a:stretch>
        </p:blipFill>
        <p:spPr>
          <a:xfrm>
            <a:off x="6615579" y="959484"/>
            <a:ext cx="4975818" cy="441695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650865" y="1597307"/>
            <a:ext cx="3067292" cy="856526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glow rad="101600">
              <a:srgbClr val="FF0000">
                <a:alpha val="40000"/>
              </a:srgbClr>
            </a:glo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-345190" y="230025"/>
            <a:ext cx="5819775" cy="710178"/>
          </a:xfrm>
        </p:spPr>
        <p:txBody>
          <a:bodyPr/>
          <a:lstStyle/>
          <a:p>
            <a:pPr algn="ctr"/>
            <a:r>
              <a:rPr lang="en-US" b="1" dirty="0"/>
              <a:t>  D-Bus (Data Bus)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6</a:t>
            </a:fld>
            <a:endParaRPr lang="en-US" dirty="0"/>
          </a:p>
        </p:txBody>
      </p:sp>
      <p:sp>
        <p:nvSpPr>
          <p:cNvPr id="11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57083" y="831959"/>
            <a:ext cx="5913870" cy="59340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/>
              <a:t>Purpose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To transfer data between CPU and memory/peripherals.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Where It Connects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Cortex-M3 CPU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Bus Matrix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SRAM, Flash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Peripherals (through AHB → APB bridge)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Working Procedure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CPU performs read/write operation.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Data address sent via D-Bus.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Bus Matrix routes to correct slave:                       SRAM, Flash, APB bridge</a:t>
            </a:r>
          </a:p>
          <a:p>
            <a:pPr marL="285750" lvl="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Data is transferred.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l="18812" t="5546" r="26637" b="46565"/>
          <a:stretch>
            <a:fillRect/>
          </a:stretch>
        </p:blipFill>
        <p:spPr>
          <a:xfrm>
            <a:off x="6492470" y="226106"/>
            <a:ext cx="5071562" cy="6405788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233390" y="1402019"/>
            <a:ext cx="3589721" cy="914400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glow rad="101600">
              <a:srgbClr val="FF0000">
                <a:alpha val="40000"/>
              </a:srgbClr>
            </a:glo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-318943" y="112388"/>
            <a:ext cx="8979905" cy="710178"/>
          </a:xfrm>
        </p:spPr>
        <p:txBody>
          <a:bodyPr/>
          <a:lstStyle/>
          <a:p>
            <a:pPr algn="ctr"/>
            <a:r>
              <a:rPr lang="en-US" b="1" dirty="0"/>
              <a:t>   System Bus (S-Bus)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7</a:t>
            </a:fld>
            <a:endParaRPr lang="en-US" dirty="0"/>
          </a:p>
        </p:txBody>
      </p:sp>
      <p:sp>
        <p:nvSpPr>
          <p:cNvPr id="11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19151" y="862538"/>
            <a:ext cx="5168179" cy="563231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 dirty="0"/>
              <a:t>Purpose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When the CPU wants to access system components like GPIO, ADC, USART, Timers, RCC etc.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 dirty="0"/>
              <a:t>Where It Connects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Cortex-M3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Bus Matrix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AHB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 dirty="0"/>
              <a:t>Working Procedure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CPU executes an instruction to access a peripheral.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CPU sends the address and control signal through the System Bus.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request goes to the Bus Matrix.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Bus Matrix forwards it to AHB.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AHB sends it to APB1 or APB2 through a bridge.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peripheral performs the read/write operation.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l="18812" t="5547" r="26637" b="60866"/>
          <a:stretch>
            <a:fillRect/>
          </a:stretch>
        </p:blipFill>
        <p:spPr>
          <a:xfrm>
            <a:off x="6678592" y="1469985"/>
            <a:ext cx="4771704" cy="4248212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002682" y="3136891"/>
            <a:ext cx="3842795" cy="914400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glow rad="101600">
              <a:srgbClr val="FF0000">
                <a:alpha val="40000"/>
              </a:srgbClr>
            </a:glo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599523" y="136525"/>
            <a:ext cx="8979905" cy="710178"/>
          </a:xfrm>
        </p:spPr>
        <p:txBody>
          <a:bodyPr/>
          <a:lstStyle/>
          <a:p>
            <a:pPr algn="ctr"/>
            <a:r>
              <a:rPr lang="en-US" b="1" dirty="0"/>
              <a:t>AHB (Advanced High-Performance Bus)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8</a:t>
            </a:fld>
            <a:endParaRPr lang="en-US" dirty="0"/>
          </a:p>
        </p:txBody>
      </p:sp>
      <p:sp>
        <p:nvSpPr>
          <p:cNvPr id="11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76979" y="906601"/>
            <a:ext cx="5791199" cy="53553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 dirty="0"/>
              <a:t>Purpose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Main high-speed backbone bus of STM32.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AHB is the main high-speed highway that transfers data between CPU, memory, DMA and APB bridges inside the STM32F103xx.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 dirty="0"/>
              <a:t>Where It Connects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Bus Matrix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Flash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SRAM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DMA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AHB → APB1 bridge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AHB → APB2 bridge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 dirty="0"/>
              <a:t>Working Procedure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CPU or DMA sends a request to the Bus Matrix.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Bus Matrix forwards it to AHB.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AHB transfers data at high speed (up to 72 MHz).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AHB sends the data to: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         Flash/SRAM Or to APB1/APB2 through bridges.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l="24371" t="10855" r="18395" b="48512"/>
          <a:stretch>
            <a:fillRect/>
          </a:stretch>
        </p:blipFill>
        <p:spPr>
          <a:xfrm>
            <a:off x="6868178" y="1342510"/>
            <a:ext cx="4589793" cy="4711706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 rot="5400000">
            <a:off x="7393253" y="3527463"/>
            <a:ext cx="3061653" cy="914400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glow rad="101600">
              <a:srgbClr val="FF0000">
                <a:alpha val="40000"/>
              </a:srgbClr>
            </a:glo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-866724" y="48691"/>
            <a:ext cx="8979905" cy="710178"/>
          </a:xfrm>
        </p:spPr>
        <p:txBody>
          <a:bodyPr/>
          <a:lstStyle/>
          <a:p>
            <a:pPr algn="ctr"/>
            <a:r>
              <a:rPr lang="en-US" sz="2800" b="1" dirty="0"/>
              <a:t>APB1 (Advanced Peripheral Bus 1)</a:t>
            </a: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9</a:t>
            </a:fld>
            <a:endParaRPr lang="en-US" dirty="0"/>
          </a:p>
        </p:txBody>
      </p:sp>
      <p:sp>
        <p:nvSpPr>
          <p:cNvPr id="11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38274" y="674668"/>
            <a:ext cx="6313707" cy="654025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 dirty="0"/>
              <a:t>Purpose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To connect low-speed peripherals.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APB1 handles low-speed peripherals by receiving requests from AHB and forwarding them to communication and timer modules.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 dirty="0"/>
              <a:t>Where It Connects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Through AHB → APB1 Bridge Connected to: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ym typeface="+mn-ea"/>
              </a:rPr>
              <a:t>TIM2, TIM3, TIM4</a:t>
            </a:r>
            <a:endParaRPr lang="en-US" sz="1800" dirty="0"/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ym typeface="+mn-ea"/>
              </a:rPr>
              <a:t>USART2, USART3</a:t>
            </a:r>
            <a:endParaRPr lang="en-US" sz="1800" dirty="0"/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ym typeface="+mn-ea"/>
              </a:rPr>
              <a:t>SPI2</a:t>
            </a:r>
            <a:endParaRPr lang="en-US" sz="1800" dirty="0"/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ym typeface="+mn-ea"/>
              </a:rPr>
              <a:t>I2C1, I2C2</a:t>
            </a:r>
            <a:endParaRPr lang="en-US" sz="1800" dirty="0"/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ym typeface="+mn-ea"/>
              </a:rPr>
              <a:t>CAN</a:t>
            </a:r>
            <a:endParaRPr lang="en-US" sz="1800" dirty="0"/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ym typeface="+mn-ea"/>
              </a:rPr>
              <a:t>USB</a:t>
            </a:r>
            <a:endParaRPr lang="en-US" sz="1800" dirty="0"/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ym typeface="+mn-ea"/>
              </a:rPr>
              <a:t>WWDG</a:t>
            </a:r>
            <a:endParaRPr lang="en-US" sz="18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 dirty="0"/>
              <a:t>Working Procedure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CPU sends request through System bus.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Bus matrix → AHB.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AHB → APB1 bridge converts protocol.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Address delivers data to low speed peripheral.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Peripheral register accessed.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Data returned to CPU.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l="46484" t="22940" r="-1035" b="9302"/>
          <a:stretch>
            <a:fillRect/>
          </a:stretch>
        </p:blipFill>
        <p:spPr>
          <a:xfrm>
            <a:off x="7292156" y="182041"/>
            <a:ext cx="4771704" cy="6356871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 rot="5400000">
            <a:off x="6182259" y="3267622"/>
            <a:ext cx="4757194" cy="155679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glow rad="101600">
              <a:srgbClr val="FF0000">
                <a:alpha val="40000"/>
              </a:srgbClr>
            </a:glo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-1009359" y="96124"/>
            <a:ext cx="8979905" cy="710178"/>
          </a:xfrm>
        </p:spPr>
        <p:txBody>
          <a:bodyPr/>
          <a:lstStyle/>
          <a:p>
            <a:pPr algn="ctr"/>
            <a:r>
              <a:rPr lang="en-US" sz="2800" b="1" dirty="0"/>
              <a:t>APB2 (Advanced Peripheral Bus 2)</a:t>
            </a: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10</a:t>
            </a:fld>
            <a:endParaRPr lang="en-US" dirty="0"/>
          </a:p>
        </p:txBody>
      </p:sp>
      <p:sp>
        <p:nvSpPr>
          <p:cNvPr id="11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95325" y="979468"/>
            <a:ext cx="6010275" cy="563231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 dirty="0"/>
              <a:t>Purpose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To connect high-speed peripherals.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/>
              <a:t>APB2 manages high-speed peripherals and operates at higher frequency for faster response.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.</a:t>
            </a:r>
            <a:r>
              <a:rPr lang="en-US" sz="2400" b="1" dirty="0"/>
              <a:t>Where It Connects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Through AHB → APB2 Bridge Connected to: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ym typeface="+mn-ea"/>
              </a:rPr>
              <a:t>GPIOA–E</a:t>
            </a:r>
            <a:endParaRPr lang="en-US" sz="1800" dirty="0"/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ym typeface="+mn-ea"/>
              </a:rPr>
              <a:t>TIM1</a:t>
            </a:r>
            <a:endParaRPr lang="en-US" sz="1800" dirty="0"/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ym typeface="+mn-ea"/>
              </a:rPr>
              <a:t>USART1</a:t>
            </a:r>
            <a:endParaRPr lang="en-US" sz="1800" dirty="0"/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ym typeface="+mn-ea"/>
              </a:rPr>
              <a:t>SPI1</a:t>
            </a:r>
            <a:endParaRPr lang="en-US" sz="1800" dirty="0"/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ym typeface="+mn-ea"/>
              </a:rPr>
              <a:t>ADC1, ADC2</a:t>
            </a:r>
            <a:endParaRPr lang="en-US" sz="18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1" dirty="0"/>
              <a:t>Working Procedure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CPU sends request through System bus.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Bus matrix → AHB.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AHB → APB2 bridge converts protocol.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Address delivers data to high speed peripheral.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Peripheral register accessed.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Data returned to CPU.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l="14611" t="21370" r="35768" b="7893"/>
          <a:stretch>
            <a:fillRect/>
          </a:stretch>
        </p:blipFill>
        <p:spPr>
          <a:xfrm>
            <a:off x="8242740" y="627499"/>
            <a:ext cx="3452027" cy="609397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 rot="5400000">
            <a:off x="8308823" y="3890227"/>
            <a:ext cx="4234259" cy="914400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glow rad="101600">
              <a:srgbClr val="FF0000">
                <a:alpha val="40000"/>
              </a:srgbClr>
            </a:glo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0" y="2981325"/>
            <a:ext cx="8029575" cy="1470817"/>
          </a:xfrm>
          <a:solidFill>
            <a:schemeClr val="bg1"/>
          </a:solidFill>
        </p:spPr>
        <p:txBody>
          <a:bodyPr/>
          <a:lstStyle/>
          <a:p>
            <a:r>
              <a:rPr lang="en-US" sz="9600" dirty="0"/>
              <a:t> THANK YOU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0417175" y="6356350"/>
            <a:ext cx="1774825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8E6F91-0F21-4684-659C-7BA28EA8B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664" y="3311920"/>
            <a:ext cx="735591" cy="8096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FFFA3F-0FB5-4ED3-8906-A15B16577F44}">
  <ds:schemaRefs/>
</ds:datastoreItem>
</file>

<file path=customXml/itemProps2.xml><?xml version="1.0" encoding="utf-8"?>
<ds:datastoreItem xmlns:ds="http://schemas.openxmlformats.org/officeDocument/2006/customXml" ds:itemID="{4E18436D-DA32-4E27-AC64-8FFEDA5218F9}">
  <ds:schemaRefs/>
</ds:datastoreItem>
</file>

<file path=customXml/itemProps3.xml><?xml version="1.0" encoding="utf-8"?>
<ds:datastoreItem xmlns:ds="http://schemas.openxmlformats.org/officeDocument/2006/customXml" ds:itemID="{6966C46A-DC57-4209-80CD-9FE6C93151F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104</TotalTime>
  <Words>696</Words>
  <Application>Microsoft Office PowerPoint</Application>
  <PresentationFormat>Widescreen</PresentationFormat>
  <Paragraphs>133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Tenorite</vt:lpstr>
      <vt:lpstr>Monoline</vt:lpstr>
      <vt:lpstr>Welcome to  our presentation</vt:lpstr>
      <vt:lpstr>What is bus?</vt:lpstr>
      <vt:lpstr>Bus matrix in STM32F103XX</vt:lpstr>
      <vt:lpstr> P-Bus (Private Peripheral Bus / PPB)</vt:lpstr>
      <vt:lpstr> I-Bus (Instruction Bus) </vt:lpstr>
      <vt:lpstr>  D-Bus (Data Bus)</vt:lpstr>
      <vt:lpstr>   System Bus (S-Bus)</vt:lpstr>
      <vt:lpstr>AHB (Advanced High-Performance Bus)</vt:lpstr>
      <vt:lpstr>APB1 (Advanced Peripheral Bus 1)</vt:lpstr>
      <vt:lpstr>APB2 (Advanced Peripheral Bus 2)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Tabassum Nishat Aitee</dc:creator>
  <cp:lastModifiedBy>Tabassum Nishat Aitee</cp:lastModifiedBy>
  <cp:revision>6</cp:revision>
  <dcterms:created xsi:type="dcterms:W3CDTF">2026-03-03T15:34:00Z</dcterms:created>
  <dcterms:modified xsi:type="dcterms:W3CDTF">2026-03-04T06:40:10Z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EC68AAD4D9C44B0ABF880FC670B0CA1A_12</vt:lpwstr>
  </property>
  <property fmtid="{D5CDD505-2E9C-101B-9397-08002B2CF9AE}" pid="4" name="KSOProductBuildVer">
    <vt:lpwstr>1033-12.2.0.23196</vt:lpwstr>
  </property>
</Properties>
</file>