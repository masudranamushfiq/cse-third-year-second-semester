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sldIdLst>
    <p:sldId id="276" r:id="rId2"/>
    <p:sldId id="256" r:id="rId3"/>
    <p:sldId id="257" r:id="rId4"/>
    <p:sldId id="258" r:id="rId5"/>
    <p:sldId id="259" r:id="rId6"/>
    <p:sldId id="27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miur Rahman" initials="SR" lastIdx="1" clrIdx="0">
    <p:extLst>
      <p:ext uri="{19B8F6BF-5375-455C-9EA6-DF929625EA0E}">
        <p15:presenceInfo xmlns:p15="http://schemas.microsoft.com/office/powerpoint/2012/main" userId="45be2f6f6183537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20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5T06:18:47.612" idx="1">
    <p:pos x="6398" y="-4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9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97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2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0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2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1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5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8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6">
                <a:lumMod val="75000"/>
              </a:schemeClr>
            </a:gs>
            <a:gs pos="74000">
              <a:schemeClr val="accent5">
                <a:lumMod val="60000"/>
                <a:lumOff val="40000"/>
              </a:schemeClr>
            </a:gs>
            <a:gs pos="8300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4" descr="A bouquet of flowers">
            <a:extLst>
              <a:ext uri="{FF2B5EF4-FFF2-40B4-BE49-F238E27FC236}">
                <a16:creationId xmlns:a16="http://schemas.microsoft.com/office/drawing/2014/main" id="{774AFDB6-F45B-4499-946D-1588A156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55454"/>
            <a:ext cx="9144000" cy="5272597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CC24148-EF82-43A7-B139-26CC74343472}"/>
              </a:ext>
            </a:extLst>
          </p:cNvPr>
          <p:cNvSpPr txBox="1">
            <a:spLocks/>
          </p:cNvSpPr>
          <p:nvPr/>
        </p:nvSpPr>
        <p:spPr>
          <a:xfrm>
            <a:off x="1408176" y="1463040"/>
            <a:ext cx="6327648" cy="2180543"/>
          </a:xfrm>
          <a:prstGeom prst="rect">
            <a:avLst/>
          </a:prstGeom>
        </p:spPr>
        <p:txBody>
          <a:bodyPr/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B032BF06-9769-4792-BEBB-A668C829C7E5}"/>
              </a:ext>
            </a:extLst>
          </p:cNvPr>
          <p:cNvSpPr txBox="1">
            <a:spLocks/>
          </p:cNvSpPr>
          <p:nvPr/>
        </p:nvSpPr>
        <p:spPr>
          <a:xfrm>
            <a:off x="1911096" y="3995928"/>
            <a:ext cx="5321808" cy="824404"/>
          </a:xfrm>
          <a:prstGeom prst="rect">
            <a:avLst/>
          </a:prstGeom>
        </p:spPr>
        <p:txBody>
          <a:bodyPr/>
          <a:lstStyle>
            <a:lvl1pPr marL="2583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965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441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823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6299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334" indent="0">
              <a:buNone/>
            </a:pPr>
            <a:r>
              <a:rPr lang="en-US" dirty="0"/>
              <a:t>​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748DD9A3-51C6-4EAC-A34D-EF6B65BE9943}"/>
              </a:ext>
            </a:extLst>
          </p:cNvPr>
          <p:cNvSpPr txBox="1">
            <a:spLocks/>
          </p:cNvSpPr>
          <p:nvPr/>
        </p:nvSpPr>
        <p:spPr>
          <a:xfrm>
            <a:off x="2120239" y="2091753"/>
            <a:ext cx="2572697" cy="790632"/>
          </a:xfrm>
          <a:prstGeom prst="rect">
            <a:avLst/>
          </a:prstGeom>
        </p:spPr>
        <p:txBody>
          <a:bodyPr/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Group -11</a:t>
            </a:r>
            <a:br>
              <a:rPr lang="en-US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E37A8B9-67E6-4688-B7D6-8C3736C48723}"/>
              </a:ext>
            </a:extLst>
          </p:cNvPr>
          <p:cNvSpPr txBox="1">
            <a:spLocks/>
          </p:cNvSpPr>
          <p:nvPr/>
        </p:nvSpPr>
        <p:spPr>
          <a:xfrm>
            <a:off x="745684" y="3353386"/>
            <a:ext cx="5321808" cy="1795566"/>
          </a:xfrm>
          <a:prstGeom prst="rect">
            <a:avLst/>
          </a:prstGeom>
        </p:spPr>
        <p:txBody>
          <a:bodyPr/>
          <a:lstStyle>
            <a:lvl1pPr marL="2583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965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441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823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6299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2210176143 - Md Fayed Hasan</a:t>
            </a:r>
          </a:p>
          <a:p>
            <a:r>
              <a:rPr lang="en-US" dirty="0">
                <a:solidFill>
                  <a:srgbClr val="00B050"/>
                </a:solidFill>
              </a:rPr>
              <a:t>2110676137 - Momin </a:t>
            </a:r>
            <a:r>
              <a:rPr lang="en-US" dirty="0" err="1">
                <a:solidFill>
                  <a:srgbClr val="00B050"/>
                </a:solidFill>
              </a:rPr>
              <a:t>Sarker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2110476113 - Md Shamim Reza</a:t>
            </a:r>
          </a:p>
          <a:p>
            <a:r>
              <a:rPr lang="en-US" dirty="0">
                <a:solidFill>
                  <a:srgbClr val="00B050"/>
                </a:solidFill>
              </a:rPr>
              <a:t>2110276105 - Md ​Shamiur Rahman </a:t>
            </a:r>
            <a:r>
              <a:rPr lang="en-US" dirty="0" err="1">
                <a:solidFill>
                  <a:srgbClr val="00B050"/>
                </a:solidFill>
              </a:rPr>
              <a:t>Sefat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D418F5-6996-4416-B24E-AE7F52DE2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0" y="2927427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laque 18">
            <a:extLst>
              <a:ext uri="{FF2B5EF4-FFF2-40B4-BE49-F238E27FC236}">
                <a16:creationId xmlns:a16="http://schemas.microsoft.com/office/drawing/2014/main" id="{23D4B5D4-2CCC-44CA-98B9-45FE9D962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961" y="1248234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CF3C4B-6DD1-41A9-8910-083943B3F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9821" y="2828010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557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AniMe Matrix - MB_EN" panose="00000500000000000000" pitchFamily="2" charset="0"/>
              </a:rPr>
              <a:t>Topic</a:t>
            </a:r>
            <a:endParaRPr i="1" dirty="0">
              <a:latin typeface="AniMe Matrix - MB_EN" panose="000005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021" y="1864629"/>
            <a:ext cx="7373164" cy="1504839"/>
          </a:xfrm>
        </p:spPr>
        <p:txBody>
          <a:bodyPr>
            <a:normAutofit/>
          </a:bodyPr>
          <a:lstStyle/>
          <a:p>
            <a:r>
              <a:rPr sz="2400" dirty="0">
                <a:latin typeface="High Tower Text" panose="02040502050506030303" pitchFamily="18" charset="0"/>
              </a:rPr>
              <a:t>ADC</a:t>
            </a:r>
            <a:r>
              <a:rPr lang="en-US" sz="2400" dirty="0">
                <a:latin typeface="High Tower Text" panose="02040502050506030303" pitchFamily="18" charset="0"/>
              </a:rPr>
              <a:t> with</a:t>
            </a:r>
            <a:r>
              <a:rPr sz="2400" dirty="0">
                <a:latin typeface="High Tower Text" panose="02040502050506030303" pitchFamily="18" charset="0"/>
              </a:rPr>
              <a:t> DMA, Analog Watchdog &amp; Bit-Banding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D31041-41FD-4DBF-89E8-121404109449}"/>
              </a:ext>
            </a:extLst>
          </p:cNvPr>
          <p:cNvSpPr txBox="1">
            <a:spLocks/>
          </p:cNvSpPr>
          <p:nvPr/>
        </p:nvSpPr>
        <p:spPr>
          <a:xfrm>
            <a:off x="2172754" y="3208602"/>
            <a:ext cx="7373164" cy="1504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583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965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441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82304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629966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256032" algn="l" defTabSz="685800" rtl="0" eaLnBrk="1" latinLnBrk="0" hangingPunct="1">
              <a:lnSpc>
                <a:spcPct val="120000"/>
              </a:lnSpc>
              <a:spcBef>
                <a:spcPts val="375"/>
              </a:spcBef>
              <a:spcAft>
                <a:spcPts val="45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334" indent="0">
              <a:buNone/>
            </a:pPr>
            <a:r>
              <a:rPr lang="en-US" sz="2400" b="1" dirty="0">
                <a:latin typeface="High Tower Text" panose="02040502050506030303" pitchFamily="18" charset="0"/>
              </a:rPr>
              <a:t>Advanced Autonomous Monitoring System</a:t>
            </a:r>
            <a:br>
              <a:rPr lang="en-US" sz="2400" dirty="0">
                <a:latin typeface="High Tower Text" panose="02040502050506030303" pitchFamily="18" charset="0"/>
              </a:rPr>
            </a:br>
            <a:endParaRPr lang="en-US" sz="2400" dirty="0">
              <a:latin typeface="High Tower Text" panose="02040502050506030303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252F6C0-23E3-4725-B5ED-289C8187B234}"/>
              </a:ext>
            </a:extLst>
          </p:cNvPr>
          <p:cNvSpPr/>
          <p:nvPr/>
        </p:nvSpPr>
        <p:spPr>
          <a:xfrm>
            <a:off x="1961317" y="3759200"/>
            <a:ext cx="211437" cy="93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33D435-F72B-4616-8E76-9BD0175E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10" y="0"/>
            <a:ext cx="620658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Traditional CPU-Based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Software Polling Method: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while(1) { </a:t>
            </a:r>
          </a:p>
          <a:p>
            <a:pPr marL="2334" indent="0"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ADC_Start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 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while(!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ADC_Complete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()); // CPU Stuck Here 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ADC_Read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 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if(value &gt; THRESHOLD) 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Alarm(); 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2334" indent="0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Problems: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High CPU usage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Latency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Non-deterministic timing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Hardware-Assisted Architecture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Sensor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(Continuous)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(Circular)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SRAM Buffer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Parallel: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Analog Watchdog → Interrupt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9D4F-8A77-4FFF-B7BF-8F44D3221C5F}"/>
              </a:ext>
            </a:extLst>
          </p:cNvPr>
          <p:cNvSpPr txBox="1">
            <a:spLocks/>
          </p:cNvSpPr>
          <p:nvPr/>
        </p:nvSpPr>
        <p:spPr>
          <a:xfrm>
            <a:off x="1698851" y="2814657"/>
            <a:ext cx="5878011" cy="181661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12-bit SAR ADC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Up to 1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Msps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16 channels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Scan Mode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Continuous Mode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External trigger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EA770-B13B-4C7C-9467-4E3AC73549D1}"/>
              </a:ext>
            </a:extLst>
          </p:cNvPr>
          <p:cNvSpPr txBox="1"/>
          <p:nvPr/>
        </p:nvSpPr>
        <p:spPr>
          <a:xfrm>
            <a:off x="5655733" y="862800"/>
            <a:ext cx="2015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Engine</a:t>
            </a:r>
          </a:p>
        </p:txBody>
      </p:sp>
    </p:spTree>
    <p:extLst>
      <p:ext uri="{BB962C8B-B14F-4D97-AF65-F5344CB8AC3E}">
        <p14:creationId xmlns:p14="http://schemas.microsoft.com/office/powerpoint/2010/main" val="1997860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Sample Time vs Conversion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Tconv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Tsample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+ 12.5 ADC cycles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clock = 12 MHz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Sample time = 55.5 cycles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time ≈ (55.5 + 12.5) / 12MHz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CR1: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SCAN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AWDEN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AWDIE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CR2: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CONT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DMA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ADON</a:t>
            </a:r>
          </a:p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SQRx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Channel sequence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4790AB-6C2F-4971-A355-AB39A514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Registers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Overview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DMA1 Channel 1 → ADC1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Peripheral-to-Memory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AHB Bus Master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Interrupt capable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Circular Mode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DMA_CCR1: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CIRC = 1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MINC = 1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DIR = 0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EN = 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Continuous Buffer Update</a:t>
            </a:r>
          </a:p>
          <a:p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+ ADC Interaction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Conversion Complete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Sets EOC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DMA Request Generated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Data moved to SRAM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 CPU Interrupt Needed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ANALOG WATCHDOG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Integrated Window Comparator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Registers: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ADC_HTR (High Threshold)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ADC_LTR (Low Threshold)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AWD Interrupt Mechanism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Condition:</a:t>
            </a:r>
          </a:p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ADC_Value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&gt; HTR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ADC_Value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 LTR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AWD Flag Set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Interrupt to NVIC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AWD vs IWDG vs WWDG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Analog Watchdog: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Monitors analog signal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IWDG: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Independent watchdog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Resets system if CPU hangs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WWDG: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Window watchdog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Checks refresh timing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BIT-BANDING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Each Bit → Unique Alias Address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Atomic Operation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 Read-Modify-Write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4AB60-77F2-4A61-A555-ED79EB48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17" y="2509863"/>
            <a:ext cx="5878011" cy="34814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Why Bit-Banding Matters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Used For: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Enabling ADC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Enabling DMA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Enabling Interrupt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Prevents Race Conditions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Autonomous Flow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Sensor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(Continuous + Scan)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(Circular)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Memory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Parallel: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Analog Watchdog → CPU Interrupt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CPU Load Reduction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Without DMA: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CPU handles every sample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With DMA: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CPU handles only exceptions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Efficiency ↑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Power Consumption ↓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Real-Time Determinism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Hardware-based detection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Fixed conversion time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 software delay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Suitable for: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Industrial control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Motor systems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• Power electronics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Industrial Applications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Battery Management System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Over-temperature protection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Voltage monitoring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Pressure sensing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Conclusion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ADC → Converts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DMA → Transfers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AWD → Protects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Bit-Banding → Controls Safely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Together → Intelligent Embedded Monitoring System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218</TotalTime>
  <Words>536</Words>
  <Application>Microsoft Office PowerPoint</Application>
  <PresentationFormat>On-screen Show (4:3)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AniMe Matrix - MB_EN</vt:lpstr>
      <vt:lpstr>Arial</vt:lpstr>
      <vt:lpstr>Cascadia Code</vt:lpstr>
      <vt:lpstr>High Tower Text</vt:lpstr>
      <vt:lpstr>MS Shell Dlg 2</vt:lpstr>
      <vt:lpstr>Wingdings</vt:lpstr>
      <vt:lpstr>Wingdings 3</vt:lpstr>
      <vt:lpstr>Madison</vt:lpstr>
      <vt:lpstr>PowerPoint Presentation</vt:lpstr>
      <vt:lpstr>Topic</vt:lpstr>
      <vt:lpstr>PowerPoint Presentation</vt:lpstr>
      <vt:lpstr>Traditional CPU-Based Monitoring</vt:lpstr>
      <vt:lpstr>Hardware-Assisted Architecture</vt:lpstr>
      <vt:lpstr>PowerPoint Presentation</vt:lpstr>
      <vt:lpstr>Sample Time vs Conversion Time</vt:lpstr>
      <vt:lpstr>ADC Registers</vt:lpstr>
      <vt:lpstr>DMA Overview</vt:lpstr>
      <vt:lpstr>DMA Circular Mode</vt:lpstr>
      <vt:lpstr>DMA + ADC Interaction</vt:lpstr>
      <vt:lpstr>ANALOG WATCHDOG</vt:lpstr>
      <vt:lpstr>AWD Interrupt Mechanism</vt:lpstr>
      <vt:lpstr>AWD vs IWDG vs WWDG</vt:lpstr>
      <vt:lpstr>BIT-BANDING</vt:lpstr>
      <vt:lpstr>Why Bit-Banding Matters</vt:lpstr>
      <vt:lpstr>Autonomous Flow</vt:lpstr>
      <vt:lpstr>CPU Load Reduction</vt:lpstr>
      <vt:lpstr>Real-Time Determinism</vt:lpstr>
      <vt:lpstr>Industrial 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Autonomous Sensing Architecture</dc:title>
  <dc:subject/>
  <dc:creator>google computer</dc:creator>
  <cp:keywords/>
  <dc:description>generated using python-pptx</dc:description>
  <cp:lastModifiedBy>Shamiur Rahman</cp:lastModifiedBy>
  <cp:revision>18</cp:revision>
  <dcterms:created xsi:type="dcterms:W3CDTF">2013-01-27T09:14:16Z</dcterms:created>
  <dcterms:modified xsi:type="dcterms:W3CDTF">2026-03-06T13:53:15Z</dcterms:modified>
  <cp:category/>
</cp:coreProperties>
</file>