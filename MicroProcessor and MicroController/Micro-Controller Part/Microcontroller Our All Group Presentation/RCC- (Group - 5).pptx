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6" r:id="rId3"/>
  </p:sldMasterIdLst>
  <p:sldIdLst>
    <p:sldId id="256" r:id="rId4"/>
    <p:sldId id="26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D533273-4ECC-47B5-BBFA-41C1B47DC48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A0672DB-2D30-42DC-9C8B-D95FA0C5B9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34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35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36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37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3403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52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dt" idx="4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5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6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2A3F75-E72D-4F4F-855C-FAF245DFB329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50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1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2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53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76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101240" y="3632040"/>
            <a:ext cx="5419440" cy="38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09480" y="4470480"/>
            <a:ext cx="6347520" cy="157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dt" idx="7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8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5" name="PlaceHolder 6"/>
          <p:cNvSpPr>
            <a:spLocks noGrp="1"/>
          </p:cNvSpPr>
          <p:nvPr>
            <p:ph type="sldNum" idx="9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58041A-7CDA-4CDD-8B8C-8B8EF0ADE2F4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TextBox 23"/>
          <p:cNvSpPr/>
          <p:nvPr/>
        </p:nvSpPr>
        <p:spPr>
          <a:xfrm>
            <a:off x="482760" y="7902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4"/>
          <p:cNvSpPr/>
          <p:nvPr/>
        </p:nvSpPr>
        <p:spPr>
          <a:xfrm>
            <a:off x="6747840" y="288648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69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0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71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72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1932120"/>
            <a:ext cx="6347520" cy="25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52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dt" idx="10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11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sldNum" idx="12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68A085-91DB-42B3-BD80-7D4F52AE8D0F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Name 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85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86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87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88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74720" y="609480"/>
            <a:ext cx="607176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52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52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13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14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0" name="PlaceHolder 6"/>
          <p:cNvSpPr>
            <a:spLocks noGrp="1"/>
          </p:cNvSpPr>
          <p:nvPr>
            <p:ph type="sldNum" idx="15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72CE68-FF68-493E-B273-AE087AD0E83F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Box 23"/>
          <p:cNvSpPr/>
          <p:nvPr/>
        </p:nvSpPr>
        <p:spPr>
          <a:xfrm>
            <a:off x="482760" y="79020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4"/>
          <p:cNvSpPr/>
          <p:nvPr/>
        </p:nvSpPr>
        <p:spPr>
          <a:xfrm>
            <a:off x="6747840" y="2886480"/>
            <a:ext cx="4568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ue or Fal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04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05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06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07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15960" y="609480"/>
            <a:ext cx="6341040" cy="302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4013280"/>
            <a:ext cx="6347520" cy="51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520" cy="151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16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17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 idx="18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B537F8-477F-4021-9C8A-F4E147829DC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21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2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23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24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dt" idx="19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ftr" idx="20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5" name="PlaceHolder 5"/>
          <p:cNvSpPr>
            <a:spLocks noGrp="1"/>
          </p:cNvSpPr>
          <p:nvPr>
            <p:ph type="sldNum" idx="21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6CC869-3375-4AA0-A459-E6ABAEDA2D67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37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38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39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40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977440" y="609480"/>
            <a:ext cx="97848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5194800" cy="52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49" name="PlaceHolder 3"/>
          <p:cNvSpPr>
            <a:spLocks noGrp="1"/>
          </p:cNvSpPr>
          <p:nvPr>
            <p:ph type="dt" idx="22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23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1" name="PlaceHolder 5"/>
          <p:cNvSpPr>
            <a:spLocks noGrp="1"/>
          </p:cNvSpPr>
          <p:nvPr>
            <p:ph type="sldNum" idx="24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E14DBB-5B5A-45E3-BC48-180FC995D1D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75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76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77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78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00720"/>
            <a:ext cx="6347520" cy="182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9480" y="4527360"/>
            <a:ext cx="6347520" cy="86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28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29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5"/>
          <p:cNvSpPr>
            <a:spLocks noGrp="1"/>
          </p:cNvSpPr>
          <p:nvPr>
            <p:ph type="sldNum" idx="30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4CE317-E8A2-41C9-B1FF-51AD1383718B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91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92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93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94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30877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3869280" y="2160720"/>
            <a:ext cx="30877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04" name="PlaceHolder 4"/>
          <p:cNvSpPr>
            <a:spLocks noGrp="1"/>
          </p:cNvSpPr>
          <p:nvPr>
            <p:ph type="dt" idx="31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ftr" idx="32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6" name="PlaceHolder 6"/>
          <p:cNvSpPr>
            <a:spLocks noGrp="1"/>
          </p:cNvSpPr>
          <p:nvPr>
            <p:ph type="sldNum" idx="33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F18B7A-17C0-4B97-81DD-A853607F4E06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208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09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10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11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09480" y="2161080"/>
            <a:ext cx="3090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09480" y="2737080"/>
            <a:ext cx="309024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3866760" y="2161080"/>
            <a:ext cx="3090240" cy="57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3866760" y="2737080"/>
            <a:ext cx="3090240" cy="330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23" name="PlaceHolder 6"/>
          <p:cNvSpPr>
            <a:spLocks noGrp="1"/>
          </p:cNvSpPr>
          <p:nvPr>
            <p:ph type="dt" idx="34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ftr" idx="35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5" name="PlaceHolder 8"/>
          <p:cNvSpPr>
            <a:spLocks noGrp="1"/>
          </p:cNvSpPr>
          <p:nvPr>
            <p:ph type="sldNum" idx="36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DD7B09-FFB2-4D38-85A3-A7EF2B4AFE85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227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28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29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30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37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38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40" name="PlaceHolder 4"/>
          <p:cNvSpPr>
            <a:spLocks noGrp="1"/>
          </p:cNvSpPr>
          <p:nvPr>
            <p:ph type="sldNum" idx="39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D8741B-8507-4A53-ABAF-FEE041052E79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242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43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44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45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2" name="PlaceHolder 1"/>
          <p:cNvSpPr>
            <a:spLocks noGrp="1"/>
          </p:cNvSpPr>
          <p:nvPr>
            <p:ph type="dt" idx="40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ftr" idx="41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4" name="PlaceHolder 3"/>
          <p:cNvSpPr>
            <a:spLocks noGrp="1"/>
          </p:cNvSpPr>
          <p:nvPr>
            <p:ph type="sldNum" idx="42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B015A5-71D4-46BD-AA41-20DEAE14CBEC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256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57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58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59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09480" y="1498680"/>
            <a:ext cx="2790000" cy="127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3571200" y="514800"/>
            <a:ext cx="3385800" cy="5526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609480" y="2777040"/>
            <a:ext cx="2790000" cy="258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69" name="PlaceHolder 4"/>
          <p:cNvSpPr>
            <a:spLocks noGrp="1"/>
          </p:cNvSpPr>
          <p:nvPr>
            <p:ph type="dt" idx="43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ftr" idx="44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1" name="PlaceHolder 6"/>
          <p:cNvSpPr>
            <a:spLocks noGrp="1"/>
          </p:cNvSpPr>
          <p:nvPr>
            <p:ph type="sldNum" idx="45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6AFE37-2AB9-4FD0-B2C9-8B008B304AE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273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274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275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276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4800600"/>
            <a:ext cx="634752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609480"/>
            <a:ext cx="6347520" cy="384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Click icon to add picture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09480" y="5367240"/>
            <a:ext cx="6347520" cy="67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</p:txBody>
      </p:sp>
      <p:sp>
        <p:nvSpPr>
          <p:cNvPr id="286" name="PlaceHolder 4"/>
          <p:cNvSpPr>
            <a:spLocks noGrp="1"/>
          </p:cNvSpPr>
          <p:nvPr>
            <p:ph type="dt" idx="46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ftr" idx="47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8" name="PlaceHolder 6"/>
          <p:cNvSpPr>
            <a:spLocks noGrp="1"/>
          </p:cNvSpPr>
          <p:nvPr>
            <p:ph type="sldNum" idx="48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0D5230-9804-40FC-8775-E3979C774A39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ubTitle"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7416CE70-14B4-488A-A6D9-D38ADED2C87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DD0625D-24CC-44FE-ABF3-A581516FA3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3490589-2099-4BA8-81A2-7682EFE6650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3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5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6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cxnSp>
          <p:nvCxnSpPr>
            <p:cNvPr id="14" name="Straight Connector 2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" name="Straight Connector 2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6" name="Freeform 2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3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3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3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3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3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3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17"/>
            <p:cNvSpPr/>
            <p:nvPr/>
          </p:nvSpPr>
          <p:spPr>
            <a:xfrm>
              <a:off x="-8640" y="-864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cxn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30760" y="2404440"/>
            <a:ext cx="58262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2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3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1B734A-E469-4FCF-AACC-8E113D500A6E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6"/>
          <p:cNvGrpSpPr/>
          <p:nvPr/>
        </p:nvGrpSpPr>
        <p:grpSpPr>
          <a:xfrm>
            <a:off x="-8640" y="-8640"/>
            <a:ext cx="9171000" cy="6874920"/>
            <a:chOff x="-8640" y="-8640"/>
            <a:chExt cx="9171000" cy="6874920"/>
          </a:xfrm>
        </p:grpSpPr>
        <p:sp>
          <p:nvSpPr>
            <p:cNvPr id="153" name="Freeform 6"/>
            <p:cNvSpPr/>
            <p:nvPr/>
          </p:nvSpPr>
          <p:spPr>
            <a:xfrm>
              <a:off x="-8640" y="4013280"/>
              <a:ext cx="456840" cy="285300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2853000"/>
                <a:gd name="textAreaBottom" fmla="*/ 2853360 h 2853000"/>
              </a:gdLst>
              <a:ahLst/>
              <a:cxnLst/>
              <a:rect l="textAreaLeft" t="textAreaTop" r="textAreaRight" b="textAreaBottom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4" name="Straight Connector 7"/>
            <p:cNvCxnSpPr/>
            <p:nvPr/>
          </p:nvCxnSpPr>
          <p:spPr>
            <a:xfrm flipV="1">
              <a:off x="5130720" y="4175280"/>
              <a:ext cx="4022640" cy="268308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cxnSp>
          <p:nvCxnSpPr>
            <p:cNvPr id="155" name="Straight Connector 8"/>
            <p:cNvCxnSpPr/>
            <p:nvPr/>
          </p:nvCxnSpPr>
          <p:spPr>
            <a:xfrm>
              <a:off x="7042680" y="0"/>
              <a:ext cx="1219320" cy="6858360"/>
            </a:xfrm>
            <a:prstGeom prst="straightConnector1">
              <a:avLst/>
            </a:prstGeom>
            <a:ln w="9525" cap="rnd">
              <a:solidFill>
                <a:schemeClr val="accent1">
                  <a:alpha val="70000"/>
                </a:schemeClr>
              </a:solidFill>
              <a:round/>
            </a:ln>
          </p:spPr>
        </p:cxnSp>
        <p:sp>
          <p:nvSpPr>
            <p:cNvPr id="156" name="Freeform 9"/>
            <p:cNvSpPr/>
            <p:nvPr/>
          </p:nvSpPr>
          <p:spPr>
            <a:xfrm>
              <a:off x="6891840" y="0"/>
              <a:ext cx="2269080" cy="6866280"/>
            </a:xfrm>
            <a:custGeom>
              <a:avLst/>
              <a:gdLst>
                <a:gd name="textAreaLeft" fmla="*/ 0 w 2269080"/>
                <a:gd name="textAreaRight" fmla="*/ 2269440 w 226908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10"/>
            <p:cNvSpPr/>
            <p:nvPr/>
          </p:nvSpPr>
          <p:spPr>
            <a:xfrm>
              <a:off x="7205040" y="-8640"/>
              <a:ext cx="1947960" cy="6866280"/>
            </a:xfrm>
            <a:custGeom>
              <a:avLst/>
              <a:gdLst>
                <a:gd name="textAreaLeft" fmla="*/ 0 w 1947960"/>
                <a:gd name="textAreaRight" fmla="*/ 1948320 w 19479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eform 11"/>
            <p:cNvSpPr/>
            <p:nvPr/>
          </p:nvSpPr>
          <p:spPr>
            <a:xfrm>
              <a:off x="6638040" y="3920040"/>
              <a:ext cx="2513160" cy="2937600"/>
            </a:xfrm>
            <a:custGeom>
              <a:avLst/>
              <a:gdLst>
                <a:gd name="textAreaLeft" fmla="*/ 0 w 2513160"/>
                <a:gd name="textAreaRight" fmla="*/ 2513520 w 2513160"/>
                <a:gd name="textAreaTop" fmla="*/ 0 h 2937600"/>
                <a:gd name="textAreaBottom" fmla="*/ 2937960 h 2937600"/>
              </a:gdLst>
              <a:ahLst/>
              <a:cxnLst/>
              <a:rect l="textAreaLeft" t="textAreaTop" r="textAreaRight" b="textAreaBottom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 12"/>
            <p:cNvSpPr/>
            <p:nvPr/>
          </p:nvSpPr>
          <p:spPr>
            <a:xfrm>
              <a:off x="7010280" y="-8640"/>
              <a:ext cx="2142360" cy="6866280"/>
            </a:xfrm>
            <a:custGeom>
              <a:avLst/>
              <a:gdLst>
                <a:gd name="textAreaLeft" fmla="*/ 0 w 2142360"/>
                <a:gd name="textAreaRight" fmla="*/ 2142720 w 21423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eform 13"/>
            <p:cNvSpPr/>
            <p:nvPr/>
          </p:nvSpPr>
          <p:spPr>
            <a:xfrm>
              <a:off x="8295840" y="-8640"/>
              <a:ext cx="857160" cy="6866280"/>
            </a:xfrm>
            <a:custGeom>
              <a:avLst/>
              <a:gdLst>
                <a:gd name="textAreaLeft" fmla="*/ 0 w 857160"/>
                <a:gd name="textAreaRight" fmla="*/ 857520 w 85716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14"/>
            <p:cNvSpPr/>
            <p:nvPr/>
          </p:nvSpPr>
          <p:spPr>
            <a:xfrm>
              <a:off x="8094240" y="-8640"/>
              <a:ext cx="1066320" cy="6866280"/>
            </a:xfrm>
            <a:custGeom>
              <a:avLst/>
              <a:gdLst>
                <a:gd name="textAreaLeft" fmla="*/ 0 w 1066320"/>
                <a:gd name="textAreaRight" fmla="*/ 1066680 w 1066320"/>
                <a:gd name="textAreaTop" fmla="*/ 0 h 6866280"/>
                <a:gd name="textAreaBottom" fmla="*/ 6866640 h 6866280"/>
              </a:gdLst>
              <a:ahLst/>
              <a:cxnLst/>
              <a:rect l="textAreaLeft" t="textAreaTop" r="textAreaRight" b="textAreaBottom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15"/>
            <p:cNvSpPr/>
            <p:nvPr/>
          </p:nvSpPr>
          <p:spPr>
            <a:xfrm>
              <a:off x="8068680" y="4893840"/>
              <a:ext cx="1093680" cy="1963800"/>
            </a:xfrm>
            <a:custGeom>
              <a:avLst/>
              <a:gdLst>
                <a:gd name="textAreaLeft" fmla="*/ 0 w 1093680"/>
                <a:gd name="textAreaRight" fmla="*/ 1094040 w 1093680"/>
                <a:gd name="textAreaTop" fmla="*/ 0 h 1963800"/>
                <a:gd name="textAreaBottom" fmla="*/ 1964160 h 1963800"/>
              </a:gdLst>
              <a:ahLst/>
              <a:cxnLst/>
              <a:rect l="textAreaLeft" t="textAreaTop" r="textAreaRight" b="textAreaBottom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st="2556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Fifth level</a:t>
            </a:r>
          </a:p>
        </p:txBody>
      </p:sp>
      <p:sp>
        <p:nvSpPr>
          <p:cNvPr id="165" name="PlaceHolder 3"/>
          <p:cNvSpPr>
            <a:spLocks noGrp="1"/>
          </p:cNvSpPr>
          <p:nvPr>
            <p:ph type="dt" idx="25"/>
          </p:nvPr>
        </p:nvSpPr>
        <p:spPr>
          <a:xfrm>
            <a:off x="5405400" y="6041520"/>
            <a:ext cx="6836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ebuchet MS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ftr" idx="26"/>
          </p:nvPr>
        </p:nvSpPr>
        <p:spPr>
          <a:xfrm>
            <a:off x="609480" y="6041520"/>
            <a:ext cx="46227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67" name="PlaceHolder 5"/>
          <p:cNvSpPr>
            <a:spLocks noGrp="1"/>
          </p:cNvSpPr>
          <p:nvPr>
            <p:ph type="sldNum" idx="27"/>
          </p:nvPr>
        </p:nvSpPr>
        <p:spPr>
          <a:xfrm>
            <a:off x="6444720" y="6041520"/>
            <a:ext cx="512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586BDD-CDF3-4857-8F06-F412E9108292}" type="slidenum">
              <a:rPr lang="en-US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130760" y="2404440"/>
            <a:ext cx="5826240" cy="164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STM32F103C8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  <a:p>
            <a:pPr indent="0" algn="r" defTabSz="4572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Reset and Clock Control (RCC)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subTitle"/>
          </p:nvPr>
        </p:nvSpPr>
        <p:spPr>
          <a:xfrm>
            <a:off x="1130760" y="4050720"/>
            <a:ext cx="5826240" cy="109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Trebuchet MS"/>
              </a:rPr>
              <a:t>Presentation on RCC Module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BC2D-41AD-2073-C3EE-F2118DA7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965021"/>
            <a:ext cx="6347520" cy="609398"/>
          </a:xfrm>
        </p:spPr>
        <p:txBody>
          <a:bodyPr/>
          <a:lstStyle/>
          <a:p>
            <a:r>
              <a:rPr lang="en-US" dirty="0"/>
              <a:t>Group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25E86-E6B3-58CB-E02B-58605915577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968050"/>
            <a:ext cx="7610288" cy="4265783"/>
          </a:xfrm>
        </p:spPr>
        <p:txBody>
          <a:bodyPr/>
          <a:lstStyle/>
          <a:p>
            <a:r>
              <a:rPr lang="en-US" dirty="0"/>
              <a:t>Saim Ahmed </a:t>
            </a:r>
            <a:r>
              <a:rPr lang="en-US" dirty="0" err="1"/>
              <a:t>Emon</a:t>
            </a:r>
            <a:r>
              <a:rPr lang="en-US" dirty="0"/>
              <a:t> – 2211076105</a:t>
            </a:r>
          </a:p>
          <a:p>
            <a:r>
              <a:rPr lang="en-US" dirty="0"/>
              <a:t>Md Mehedy Abu </a:t>
            </a:r>
            <a:r>
              <a:rPr lang="en-US" dirty="0" err="1"/>
              <a:t>hasan</a:t>
            </a:r>
            <a:r>
              <a:rPr lang="en-US" dirty="0"/>
              <a:t> </a:t>
            </a:r>
            <a:r>
              <a:rPr lang="en-US" dirty="0" err="1"/>
              <a:t>Alvi</a:t>
            </a:r>
            <a:r>
              <a:rPr lang="en-US" dirty="0"/>
              <a:t> – 2210476110</a:t>
            </a:r>
          </a:p>
          <a:p>
            <a:r>
              <a:rPr lang="en-US" dirty="0"/>
              <a:t>Md </a:t>
            </a:r>
            <a:r>
              <a:rPr lang="en-US" dirty="0" err="1"/>
              <a:t>Mosabbir</a:t>
            </a:r>
            <a:r>
              <a:rPr lang="en-US" dirty="0"/>
              <a:t> Hossain </a:t>
            </a:r>
            <a:r>
              <a:rPr lang="en-US"/>
              <a:t>– 2210576129</a:t>
            </a:r>
            <a:endParaRPr lang="en-US" dirty="0"/>
          </a:p>
          <a:p>
            <a:r>
              <a:rPr lang="en-US" dirty="0"/>
              <a:t>Md </a:t>
            </a:r>
            <a:r>
              <a:rPr lang="en-US" dirty="0" err="1"/>
              <a:t>Ifran</a:t>
            </a:r>
            <a:r>
              <a:rPr lang="en-US" dirty="0"/>
              <a:t> khan - 2210776103</a:t>
            </a:r>
          </a:p>
        </p:txBody>
      </p:sp>
    </p:spTree>
    <p:extLst>
      <p:ext uri="{BB962C8B-B14F-4D97-AF65-F5344CB8AC3E}">
        <p14:creationId xmlns:p14="http://schemas.microsoft.com/office/powerpoint/2010/main" val="6580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What is RCC?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 = Reset and Clock Control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Controls clock generation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Distributes clock to CPU and peripherals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Controls peripheral reset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Required for enabling GPIO, USART, ADC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How RCC Works - Clock Sources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STM32F103C8 has three main clock sources: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HSI – Internal 8 MHz clock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HSE – External crystal clock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PLL – Multiplies frequency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System clock (SYSCLK) is selected from these.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/>
          </p:nvPr>
        </p:nvSpPr>
        <p:spPr>
          <a:xfrm>
            <a:off x="457200" y="1604520"/>
            <a:ext cx="5715000" cy="68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How RCC Works</a:t>
            </a:r>
            <a:endParaRPr lang="en-US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914400" y="2514600"/>
            <a:ext cx="6858000" cy="367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//1. Enable HSE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RCC→CR |= (1 &lt;&lt; 17);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while(!(RCC→CR &amp;(1&lt;&lt;17)));</a:t>
            </a: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//2. Configure PLL: HSE as source,9x</a:t>
            </a:r>
            <a:br>
              <a:rPr sz="1800"/>
            </a:b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RCC→CFGR |= (1 &lt;&lt; 16); // PLLSRC = HSE</a:t>
            </a: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RCC→ CFGR |= (7 &lt;&lt; 18); // PLLMUL = 9</a:t>
            </a: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//3. Enable PLL</a:t>
            </a: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 → CR |= (1 &lt;&lt; 24);</a:t>
            </a: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While(!(RCC→ CR &amp; (1 &lt;&lt; 25)));</a:t>
            </a: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//4. Select PLL as SYSCLK</a:t>
            </a: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RCC → CFGR |= (2 &lt;&lt; 0);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An Example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Before using any GPIO port: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• Clock must be enabled using RCC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Example: Enable GPIOA clock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RCC-&gt;APB2ENR |= (1 &lt;&lt; 2);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Without enabling clock, port will not work.</a:t>
            </a:r>
          </a:p>
        </p:txBody>
      </p:sp>
      <p:pic>
        <p:nvPicPr>
          <p:cNvPr id="299" name="Picture 4"/>
          <p:cNvPicPr/>
          <p:nvPr/>
        </p:nvPicPr>
        <p:blipFill>
          <a:blip r:embed="rId2"/>
          <a:stretch/>
        </p:blipFill>
        <p:spPr>
          <a:xfrm>
            <a:off x="100440" y="4265640"/>
            <a:ext cx="7196040" cy="1323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RCC Registers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RCC_CR → Clock control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RCC_CFGR → Clock configuration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RCC_APB2ENR → APB2 peripheral enable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RCC_APB1ENR → APB1 peripheral enable</a:t>
            </a: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RCC_AHBENR → AHB peripheral enable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Reset Control Using RCC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 can reset any peripheral.</a:t>
            </a:r>
          </a:p>
          <a:p>
            <a:pPr marL="4572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Example: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RCC-&gt;APB2RSTR |= (1 &lt;&lt; 2);   // Reset GPIOA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RCC-&gt;APB2RSTR &amp;= ~(1 &lt;&lt; 2);  // Release reset</a:t>
            </a: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  <p:pic>
        <p:nvPicPr>
          <p:cNvPr id="304" name="Picture 4"/>
          <p:cNvPicPr/>
          <p:nvPr/>
        </p:nvPicPr>
        <p:blipFill>
          <a:blip r:embed="rId2"/>
          <a:stretch/>
        </p:blipFill>
        <p:spPr>
          <a:xfrm>
            <a:off x="685800" y="3916080"/>
            <a:ext cx="5952240" cy="1250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Power Saving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RCC helps in power management: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Disable unused ports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Reduce system clock frequency</a:t>
            </a: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4572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This reduces power consumption.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09480" y="609480"/>
            <a:ext cx="6347520" cy="132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ebuchet MS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09480" y="2160720"/>
            <a:ext cx="6347520" cy="388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 RCC controls clock and reset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RCC controls clock generation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Selects clock source (HSI, HSE, PLL)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</a:rPr>
              <a:t>Enables and resets GPIO and other modules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Helps in power optimization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</a:majorFont>
      <a:minorFont>
        <a:latin typeface="Trebuchet MS" panose="020B0603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</TotalTime>
  <Words>384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Symbol</vt:lpstr>
      <vt:lpstr>Times New Roman</vt:lpstr>
      <vt:lpstr>Trebuchet MS</vt:lpstr>
      <vt:lpstr>Wingdings</vt:lpstr>
      <vt:lpstr>Wingdings 3</vt:lpstr>
      <vt:lpstr>Facet</vt:lpstr>
      <vt:lpstr>Facet</vt:lpstr>
      <vt:lpstr>Facet</vt:lpstr>
      <vt:lpstr>STM32F103C8 Reset and Clock Control (RCC)</vt:lpstr>
      <vt:lpstr>Group 5</vt:lpstr>
      <vt:lpstr>What is RCC?</vt:lpstr>
      <vt:lpstr>How RCC Works - Clock Sources</vt:lpstr>
      <vt:lpstr>PowerPoint Presentation</vt:lpstr>
      <vt:lpstr>An Example</vt:lpstr>
      <vt:lpstr>RCC Registers</vt:lpstr>
      <vt:lpstr>Reset Control Using RCC</vt:lpstr>
      <vt:lpstr>Power Saving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Mehedy Hasan Alvee</cp:lastModifiedBy>
  <cp:revision>11</cp:revision>
  <dcterms:created xsi:type="dcterms:W3CDTF">2013-01-27T09:14:16Z</dcterms:created>
  <dcterms:modified xsi:type="dcterms:W3CDTF">2026-03-08T22:58:16Z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8</vt:i4>
  </property>
</Properties>
</file>